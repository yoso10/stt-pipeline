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פתיחה. המסר: מערכת אוטומטית שמקבלת הקלטות עם תמלול ומוציאה מודל תמלול משופר או מחליטה שהמקורי נשאר. הכול רץ מקומית, על CPU, בלי אינטרנט.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שקופית המסגור. ארבעת האילוצים משפיעים על כל החלטה בהמשך: הז׳רגון הוא הסיבה לכוונון, מיעוט הנתונים הוא האתגר, הסביבה הסגורה קובעת עמידות ותיעוד, והחומרה קובעת אילו מודלים אפשריים.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הרעיון: סביבה חיצונית עם נתונים רבים משמשת לבנות ולאמת את המערכת וללמוד איך היא מתנהגת כשמקטינים נתונים. הממצאים הם מתכון. אחר כך מעבירים לסביבה הסגורה. חשוב לא להבטיח שהמספרים יעברו אחד לאחד: מה שעובר הוא הצינור, השיטה והדפוסים.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השורות מסודרות לפי סדר ניסוי מומלץ. שימו לב לשורה החמישית: המקור היחיד שבדקתי (Pashto, מודל קטן) מראה ש-LoRA והקפאת שכבות פגעו בתוצאה, ולכן אין להניח שהן עוזרות. שורות 3, 4 ו-6 דורשות פיתוח חדש ואישור לפני כל שינוי בקוד. מקור שורה 4 (WiSE-FT) עסק בעיקר במודלי תמונה, ולא נבדק על 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האנלוגיה שמלווה את כל המצגת: תלמיד (המודל), שיעורי בית (Train), מבחן תרגול (Val) ומבחן סיום (Test). ההחלטה האחרונה היא החשובה: אם אין שיפור ברור, לא מחליפים את המודל המקורי.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 הוא אחוז המילים השגויות מתוך המילים בטקסט הנכון. הדוגמה מומצאת להמחשה בלבד. המטרה בפרויקט היא ירידה יחסית של לפחות 10% ב-WER מול הבייסליין.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השקופית המרכזית. בצד ימין נכנסים הקלטות, תמלול נכון וקבוצה. במרכז המפעל האוטומטי בארבעה שלבים. בצד שמאל יוצא מודל מנצח או החלטה שהמקורי נשאר, יחד עם דוח. הכול בפקודה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 עמודות חובה: קובץ אודיו, תמלול וקבוצה. הקבוצה היא שיעור או דובר, והיא מה שמונע דליפה בין אימון למבחן. המספרים הם של נתוני הבדיקה הציבוריים, Daf Yomi. בעבודה צפויה כמות של כעשירית.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חמישה רכיבים, כל אחד עושה דבר אחד. הרכיב השני, הפיצול לפי קבוצה, הוא החשוב ביותר לאמינות התוצאה. הרכיב השלישי מייצר שני טקסטים כדי שהמדידה לא תיפגע מפיסוק ושינויים קוסמטיים.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הפיצול הוא לפי קבוצה (שיעור או דובר) ולא לפי קטע. אם קטעים מאותו שיעור יהיו גם באימון וגם במבחן, המודל יראה תוצאה טובה שלא משקפת מציאות. המספרים הם של נתוני Daf Yomi. בריצת ההדמיה הופעל תת-סט בשם work_like.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הבעיה: כשיש מעט נתונים, Val ו-Test מכילים מעט קבוצות (בריצת ההדמיה 7 ו-8), והטווח סביב הפער רחב. בנוסף חלק גדול מהנתונים לא משמש לאימון. ב-K-fold מחלקים את הקבוצות (לא הקטעים) ל-K חלקים, ובכל סבב חלק אחד הוא Val והשאר Train. כך כל קבוצה נבחנת פעם אחת, ומחברים את הטעויות לפי קבוצות לבדיקה סטטיסטית אחת. המחיר הוא K אימונים. זו הצעה, ואין לה מימוש בקוד. כמו בפיצול הרגיל, קבוצה אחת אף פעם לא מופיעה בשני הצדדים באותו סבב.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עמודת "עבודה" היא אומדן בלבד, לפי ההערכה שנתוני העבודה הם כעשירית מנתוני הבית. מספר השעות והקבוצות בעבודה עדיין לא ידועים. מספר הצעדים ל-epoch הוא חישוב: קטעי Train חלקי 4. זמן ה-epoch בריצת ההדמיה הוא חישוב: עם tiny מ-5.4 שניות לצעד, ועם turbo מ-84 שניות לצעד (אומדן מתוקן מהבנצ'מרק). ריצת ההדמיה עצמה אימנה רק 20 צעדים, כלומר 80 קטעים. 702 + 101 + 97 = 900 קטעים.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צעד הוא הרגע שבו המודל לומד. grad_accum_steps הוא טריק זיכרון: מסכמים את השיפועים של כמה מעברים קטנים ורק אז מעדכנים, כך שמקבלים אפקטיבית batch גדול בלי זיכרון נוסף. פונקציית ה-loss עצמה אינה בקוד של הפרויקט אלא בספריית Hugging Face (לפי ידע כללי, cross-entropy על הטוקן הבא). הקבצים: train.max_steps, train.batch_size, train.grad_accum_steps.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שקופית ההסבר של החישובים. הכלל: קודם מחשבים כמה קטעים נכנסים לצעד, אחר כך כמה צעדים צריך, ואז איזה חלק זה מ-epoch, ובסוף כמה זמן. את הזמן לצעד מודדים ולא מניחים. המספרים בטבלה הם של whisper-tiny: 5.4 שניות לצעד נמדד ב-2 ליבות. ב-turbo עם אנקודר מוקפא הלוג הדפיס 106 שניות לצעד של 4 קטעים (אומדן מתוקן 84, בגלל באג התזמון O121), כלומר epoch של 702 קטעים (176 צעדים) הוא כ-4 שעות. ריצת ההדמיה עצמה אימנה רק 20 צעדים, כלומר 80 קטעים.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הבנצ'מרק לא איטי בכוונה. הוא מבצע ארבע פעולות אמיתיות על מודל של 0.8 מיליארד פרמטרים: טוען אותו, מאמן שלושה צעדים אמיתיים (172 מיליון פרמטרים מתאמנים, האנקודר מוקפא), מודד Val loss ותמלול של מדגם קטן, ושומר תיקיית מודל מלאה. אחר כך הוא מחשב זמן מתוכנן לריצה. המספרים הם ל-turbo עם 4 ליבות. הצעד המודפס מנופח בכ-1.33 פעמים בגלל באג התזמון O121, והאומדן המתוקן הוא של הסוכן. ההשערה על האנקודר טרם נמדדה: תיבדק בפרופיילינג של קטע אחד. הזמן המתוכנן של 14:49 הוא לשש ניסויים ולפיינליסטים לפי הגדרות ברירת המחדל.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ניסוי למידה ולא אימון של המודל הסופי. הוא עונה מה לצפות בנתוני העבודה. תת-הקבוצות מקוננות (הקטנה נמצאת בתוך הגדולה). הנקודה החשובה: בקוד הנוכחי מספר הצעדים קבוע לכל הגדלים, ולכן בלי שינוי הניסוי לא יראה הבדל בין גדלים. התיקון שאושר: מספר הצעדים גדל עם הנתונים (מספר epochs קבוע). הוא עדיין לא מומש בקוד.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המודל מורכב משני חלקים: Encoder ששומע ו-Decoder שכותב. ברירת המחדל מאמנת את שניהם. האימון על CPU בלבד, באלגוריתם AdamW, ללא דיוק מעורב. צעד הוא ארבע דוגמאות, כך ש-100 צעדים הם רק כ-6% מ-epoch. המספרים בשורה התחתונה הם של whisper-tiny. ב-turbo עם אנקודר מוקפא מתאמנים 172 מיליון פרמטרים, כ-84 שניות לצעד (אומדן מתוקן מהבנצ'מרק) עם 4 קטעים בצעד.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החיפוש חוסך זמן: לא מאמנים כל מועמד על כל הנתונים. ניסוי קצר על תת-קבוצה קטנה מסנן, ורק שניים עוברים לאימון מלא. הציון בניסוי הקצר הוא Val loss, והציון בגמר הוא WER אמיתי.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הזמנים מריצת ההדמיה עם whisper-tiny: ניסוי חיפוש כ-193 עד 202 שניות, פיינליסט כ-195 שניות אימון ועוד כ-195 שניות מדידת WER. במודל גדול על CPU מדידת ה-WER תהיה הרכיב היקר ביותר. הגמר אינו ממשיך מהטיוטה אלא מתחיל שוב מהמקורי, עם ההגדרות שנבחרו.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הטווח וההגדרות בחיפוש מקורם בקובץ ההגדרות: search.parameters, עם kind (log_float או categorical) ו-points לטווח רציף. אסטרטגיית ברירת המחדל היא grid, כלומר כל הצירופים. אפשר להחליף ל-optuna_tpe. אין בקוד חלוקה אוטומטית אחרת. הערכים של שאר הפרמטרים (batch_size וכו') אפשר לחפש רק אם מוסיפים אותם לטווח בהגדרות.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הנתונים מריצת ההדמיה (exp_0002). ניסוי 3 (5e-5) הגיע בקובץ המדדים ל-Val loss של 1.2865, הנמוך מכולם, אבל סומן ככשל בגלל תקלת Windows בשינוי שם תיקייה, ולכן לא דורג ולא הפך לפיינליסט. התקלה ידועה ומתוכננת לתיקון. לכן ההשוואה בין קצבי הלמידה כאן חלקית. הכלל: אם התוצאה הטובה בקצה הטווח, מרחיבים את הטווח. ההמלצה למודל גדול היא פרקטיקה כללית ולא ממצא של הפרויקט.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הבדיקה שעונה על השאלה האם השיפור אמיתי. בכוונה מדגמים שיעורים שלמים: קטעים מאותו שיעור דומים זה לזה, והדגימה לפי קטעים הייתה נותנת ביטחון מופרז. אם הטווח כולו מעל אפס, אומרים שהמועמד השתפר.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מרכז ההחלטה. אם אין שיפור מובהק, התוצאה היא "הבייסליין נשאר", וזו תשובה לגיטימית ולא כישלון. רק מנצח עובר למבחן הסיום, ורק אחריו הוא נרשם ומיוצא.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סדר ההחלטה בבורר (Selector). רמות פסק הדין: הורע, אין הבדל ברור, השתפר. ברירת המחדל דורשת השתפר. אם יש פחות מ-5 קבוצות, אי אפשר לטעון שיפור מוכח, והדוח אומר זאת. כדי לשפר מעבר למנצח משנים הגדרות לפי הדוח ומריצים שוב, ולא ממשיכים אוטומטית מהמנצח.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הדוח הוא הנקודה שבה מסתכלים על התוצאה. הרישום מכיל את המנצח בלבד. תיקיות הניסויים תופסות הכי הרבה מקום, והפקודה cleanup רק מציעה מה אפשר לפנות ואף פעם לא מוחקת בעצמה.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הנקודה החשובה: כל תוצאה נמדדת ביחס למשהו. כאן היחס הוא למודל המקורי שלא עבר אימון, על אותם קטעי Val בדיוק. הנוסחה: הבייסליין פחות המנצח, חלקי הבייסליין. את אותו חישוב אפשר לעשות על Test, שם התקבלו 1.1728 לפני ו-1.0599 אחרי. ריצת ההדמיה אימנה רק 20 צעדים (80 קטעים), ולכן השיפור קטן. בנוסף נמדד בסיס של turbo ללא אימון על אותם 101 קטעי Val: WER 0.8335 ו-CER 0.3889, לעומת 1.1318 של 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רק whisper-tiny נבדק בפועל. הגדלים האחרים הם אומדן חשבוני ולא מדידה. הכלל הוא לבדוק עם benchmark לפני שמחליטים. מודל גדול יותר אינו מבטיח שיפור במערכת הזו, והשוואה תמיד נעשית מול הבייסליין של אותו מודל.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ארבעת הגורמים העליונים (בצבע ירוק) קשורים לנתונים ולמודל. ארבעת התחתונים (בכתום) קשורים לאופן המדידה והאימון. אם השיפור קטן, הסיבה הסבירה ביותר היא נתונים: עדיף יותר נתונים נקיים על פני מודל גדול יותר.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הדוח כולל שמונה כללי אבחון אוטומטיים: overfitting, no_learning, unstable_training, gain_concentrated, short_clip_weakness, length_cap_or_empty, edge_of_range ו-failed_or_pruned. הם נותנים רמזים, לא החלטות. את ההחלטה מקבל האדם. כדי לחזור על הניסוי מהמקורי עם הגדרה טובה יותר, ולא להמשיך מהמנצח, כל סבב נשאר השוואה נקייה מול המודל המקורי.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השקופית שעונה על השאלה איך משתמשים. קודם פותחים PowerShell בתיקיית הפרויקט ומפעילים את הסביבה. אחר כך חמש פקודות לפי הסדר. הפקודה האחרונה היא היחידה שבאמת מאמנת. את שתי הראשונות מריצים בכל פעם שמשהו נראה לא תקין.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החמישה הם השלבים האמיתיים של run: prepare, evaluate, search, finalists ו-select_and_register. כל שלב שומר "טביעת אצבע" של ההגדרות שלו. בהמשך אחרי הפסקה מדלגים רק אם היא זהה. בנוסף, הנתונים המוכנים נשמרים רק בזיכרון ונבנים מחדש בכל פתיחה, ולכן המשך ריצה קורא שוב את הנתונים. שלוש התוצאות בתחתית הן כל מה שיכול לצאת מהבחירה. תוצאה של "הבייסליין נשאר" אינה כישלון של המערכת.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כל מספר במערכת הוא מפתח בקובץ ההגדרות ולא קבוע בקוד, ולכן זה המקום היחיד לשנות. מעתיקים את work.yaml, ממלאים נתיבים ושמות עמודות, ומכוונים את המפתחות בטבלה לפי הצורך. מפתח עם שגיאת כתיב נעצר מיד עם הודעה.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החלק הראשון נעשה בבית, שם יש אינטרנט: מורידים מודל, בונים חבילות התקנה ומפיקים רשימת בדיקה לכל קובץ. אחר כך מעתיקים הכול למחשב בעבודה ומריצים את אותם צעדים. לא נדרשות הרשאות מנהל. הסיכון העיקרי: התקנה בתיקייה מסונכרנת או נתיב ארוך. עדיין לא נוסה על מחשב סגור.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הסטטוס נכון ל-25 באוקטובר 2026. 813 הבדיקות כוללות את תיקון O122 (ניסיון חוזר בשינוי שם תיקייה), שנבדק בסימולציה בלבד ועדיין לא בריצה אמיתית ב-Windows. ריצה מלאה על כל הנתונים עם tiny (כ-3.2 עד 4 שעות) עדיין ממתינה לאישור. אימון turbo על המחשב הביתי הוא כ-8 שעות ל-epoch אחד (אומדן), ופקודת run אינה יכולה לדלג על החיפוש, ולכן לניסוי כזה משתמשים ב-train ואחריו evaluate. דרושים גם מפרט מחשב העבודה (VRAM, RAM, דיסק) ופרטים על התמלולים שם.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מקור: docs/DECK_CARDS.md ו-docs/COMPONENT_GUIDE.md. הסימונים: נמדד = נלקח מדוח או יומן של המחשב הביתי, אומדן = חישוב ממספרים שנמדדו, לא הורץ = לא בוצע אף פעם. המחשב הביתי: 8 ליבות, 15.77 GB זיכרון, ללא GPU. ריצת ההדמיה = whisper-tiny על כעשירית מנתוני Daf Yomi. turbo = ivrit-ai/whisper-large-v3-turbo. פקודה שמוצגת בכמה שורות נכתבת בפועל בשורה אחת.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873770"/>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0F223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625595"/>
            <a:ext cx="10566418" cy="4419605"/>
          </a:xfrm>
          <a:prstGeom prst="rect">
            <a:avLst/>
          </a:prstGeom>
          <a:noFill/>
          <a:ln/>
        </p:spPr>
        <p:txBody>
          <a:bodyPr wrap="square" lIns="0" tIns="0" rIns="0" bIns="0" rtlCol="0" anchor="t"/>
          <a:lstStyle>
            <a:lvl1pPr algn="l" indent="0" marL="0">
              <a:lnSpc>
                <a:spcPct val="140000"/>
              </a:lnSpc>
              <a:buNone/>
              <a:defRPr lang="en-US" sz="1600" dirty="0">
                <a:solidFill>
                  <a:srgbClr val="0F22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873770"/>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0F223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625595"/>
            <a:ext cx="10566418" cy="4419605"/>
          </a:xfrm>
          <a:prstGeom prst="rect">
            <a:avLst/>
          </a:prstGeom>
          <a:noFill/>
          <a:ln/>
        </p:spPr>
        <p:txBody>
          <a:bodyPr wrap="square" lIns="0" tIns="0" rIns="0" bIns="0" rtlCol="0" anchor="t"/>
          <a:lstStyle>
            <a:lvl1pPr algn="l" indent="0" marL="0">
              <a:lnSpc>
                <a:spcPct val="140000"/>
              </a:lnSpc>
              <a:buNone/>
              <a:defRPr lang="en-US" sz="1600" dirty="0">
                <a:solidFill>
                  <a:srgbClr val="0F22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slideLayout" Target="../slideLayouts/slideLayout2.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p:bgPr>
    </p:bg>
    <p:spTree>
      <p:nvGrpSpPr>
        <p:cNvPr id="1" name=""/>
        <p:cNvGrpSpPr/>
        <p:nvPr/>
      </p:nvGrpSpPr>
      <p:grpSpPr>
        <a:xfrm>
          <a:off x="0" y="0"/>
          <a:ext cx="0" cy="0"/>
          <a:chOff x="0" y="0"/>
          <a:chExt cx="0" cy="0"/>
        </a:xfrm>
      </p:grpSpPr>
      <p:sp>
        <p:nvSpPr>
          <p:cNvPr id="2" name="Text 0"/>
          <p:cNvSpPr/>
          <p:nvPr/>
        </p:nvSpPr>
        <p:spPr>
          <a:xfrm>
            <a:off x="495792" y="711128"/>
            <a:ext cx="10883336" cy="274259"/>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6FD0C4"/>
                </a:solidFill>
                <a:latin typeface="Arial" pitchFamily="34" charset="0"/>
                <a:ea typeface="Arial" pitchFamily="34" charset="-122"/>
                <a:cs typeface="Arial" pitchFamily="34" charset="-120"/>
              </a:rPr>
              <a:t>‫כוונון עדין של Whisper · על CPU בלבד · בלי רשת · בלי התערבות‬</a:t>
            </a:r>
            <a:endParaRPr lang="en-US" sz="1400" dirty="0"/>
          </a:p>
        </p:txBody>
      </p:sp>
      <p:sp>
        <p:nvSpPr>
          <p:cNvPr id="3" name="Text 1"/>
          <p:cNvSpPr/>
          <p:nvPr>
            <p:ph type="title"/>
          </p:nvPr>
        </p:nvSpPr>
        <p:spPr>
          <a:xfrm>
            <a:off x="495792" y="2508250"/>
            <a:ext cx="10883336" cy="557393"/>
          </a:xfrm>
          <a:prstGeom prst="rect">
            <a:avLst/>
          </a:prstGeom>
          <a:noFill/>
          <a:ln/>
        </p:spPr>
        <p:txBody>
          <a:bodyPr wrap="square" lIns="0" tIns="0" rIns="0" bIns="0" rtlCol="0" anchor="t">
            <a:normAutofit/>
          </a:bodyPr>
          <a:lstStyle/>
          <a:p>
            <a:pPr algn="r" indent="0" marL="0">
              <a:lnSpc>
                <a:spcPts val="4224"/>
              </a:lnSpc>
              <a:buNone/>
            </a:pPr>
            <a:r>
              <a:rPr lang="en-US" sz="3840" b="1" i="0" dirty="0">
                <a:solidFill>
                  <a:srgbClr val="F6F4EE"/>
                </a:solidFill>
                <a:latin typeface="Arial" pitchFamily="34" charset="0"/>
                <a:ea typeface="Arial" pitchFamily="34" charset="-122"/>
                <a:cs typeface="Arial" pitchFamily="34" charset="-120"/>
              </a:rPr>
              <a:t>‫מסעו של נתון בתהליך FINE TUNE‬</a:t>
            </a:r>
            <a:endParaRPr lang="en-US" sz="3840" dirty="0"/>
          </a:p>
        </p:txBody>
      </p:sp>
      <p:sp>
        <p:nvSpPr>
          <p:cNvPr id="4" name="Text 2"/>
          <p:cNvSpPr/>
          <p:nvPr/>
        </p:nvSpPr>
        <p:spPr>
          <a:xfrm>
            <a:off x="0" y="3218025"/>
            <a:ext cx="11379128" cy="569480"/>
          </a:xfrm>
          <a:prstGeom prst="rect">
            <a:avLst/>
          </a:prstGeom>
          <a:noFill/>
          <a:ln/>
        </p:spPr>
        <p:txBody>
          <a:bodyPr wrap="square" lIns="0" tIns="0" rIns="0" bIns="0" rtlCol="0" anchor="t">
            <a:normAutofit/>
          </a:bodyPr>
          <a:lstStyle/>
          <a:p>
            <a:pPr algn="r" indent="0" marL="0">
              <a:lnSpc>
                <a:spcPts val="2692"/>
              </a:lnSpc>
              <a:buNone/>
            </a:pPr>
            <a:r>
              <a:rPr lang="en-US" sz="1994" dirty="0">
                <a:solidFill>
                  <a:srgbClr val="C5D3DB"/>
                </a:solidFill>
                <a:latin typeface="Arial" pitchFamily="34" charset="0"/>
                <a:ea typeface="Arial" pitchFamily="34" charset="-122"/>
                <a:cs typeface="Arial" pitchFamily="34" charset="-120"/>
              </a:rPr>
              <a:t>‫הקלטה תמימה נכנסת למפעל, מודל שמבין עברית יוצא. בדרך: פיצול, ניקוי, שיעורי בית ומבחן סיום אחד בלבד‬</a:t>
            </a:r>
            <a:endParaRPr lang="en-US" sz="1994" dirty="0"/>
          </a:p>
        </p:txBody>
      </p:sp>
      <p:sp>
        <p:nvSpPr>
          <p:cNvPr id="5" name="Text 3"/>
          <p:cNvSpPr/>
          <p:nvPr/>
        </p:nvSpPr>
        <p:spPr>
          <a:xfrm>
            <a:off x="495792" y="3939886"/>
            <a:ext cx="10883336" cy="251078"/>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F2A36B"/>
                </a:solidFill>
                <a:latin typeface="Arial" pitchFamily="34" charset="0"/>
                <a:ea typeface="Arial" pitchFamily="34" charset="-122"/>
                <a:cs typeface="Arial" pitchFamily="34" charset="-120"/>
              </a:rPr>
              <a:t>‫בהפקה זו לא נפגעה אף הקלטה‬</a:t>
            </a:r>
            <a:endParaRPr lang="en-US" sz="1300" dirty="0"/>
          </a:p>
        </p:txBody>
      </p:sp>
      <p:sp>
        <p:nvSpPr>
          <p:cNvPr id="6" name="Text 4"/>
          <p:cNvSpPr/>
          <p:nvPr/>
        </p:nvSpPr>
        <p:spPr>
          <a:xfrm>
            <a:off x="819132" y="5717381"/>
            <a:ext cx="712499" cy="426839"/>
          </a:xfrm>
          <a:prstGeom prst="roundRect">
            <a:avLst>
              <a:gd name="adj" fmla="val 50000"/>
            </a:avLst>
          </a:prstGeom>
          <a:solidFill>
            <a:srgbClr val="F2A36B"/>
          </a:solidFill>
          <a:ln w="12700">
            <a:solidFill>
              <a:srgbClr val="F2A36B"/>
            </a:solidFill>
            <a:prstDash val="solid"/>
          </a:ln>
        </p:spPr>
        <p:txBody>
          <a:bodyPr wrap="none" lIns="0" tIns="0" rIns="0" bIns="0" rtlCol="0" anchor="ctr">
            <a:normAutofit/>
          </a:bodyPr>
          <a:lstStyle/>
          <a:p>
            <a:pPr algn="ctr" indent="0" marL="0">
              <a:lnSpc>
                <a:spcPts val="1680"/>
              </a:lnSpc>
              <a:buNone/>
            </a:pPr>
            <a:r>
              <a:rPr lang="en-US" sz="1400" b="1" dirty="0">
                <a:solidFill>
                  <a:srgbClr val="0F2233"/>
                </a:solidFill>
                <a:latin typeface="Arial" pitchFamily="34" charset="0"/>
                <a:ea typeface="Arial" pitchFamily="34" charset="-122"/>
                <a:cs typeface="Arial" pitchFamily="34" charset="-120"/>
              </a:rPr>
              <a:t>‫מודל‬</a:t>
            </a:r>
            <a:endParaRPr lang="en-US" sz="1400" dirty="0"/>
          </a:p>
        </p:txBody>
      </p:sp>
      <p:pic>
        <p:nvPicPr>
          <p:cNvPr id="7" name="Image 0" descr="arrow-left">    </p:cNvPr>
          <p:cNvPicPr>
            <a:picLocks noChangeAspect="1"/>
          </p:cNvPicPr>
          <p:nvPr/>
        </p:nvPicPr>
        <p:blipFill>
          <a:blip r:embed="rId1"/>
          <a:srcRect l="-1" r="-1" t="0" b="0"/>
          <a:stretch/>
        </p:blipFill>
        <p:spPr>
          <a:xfrm>
            <a:off x="1639545" y="5848314"/>
            <a:ext cx="279346" cy="165064"/>
          </a:xfrm>
          <a:prstGeom prst="rect">
            <a:avLst/>
          </a:prstGeom>
        </p:spPr>
      </p:pic>
      <p:sp>
        <p:nvSpPr>
          <p:cNvPr id="8" name="Text 5"/>
          <p:cNvSpPr/>
          <p:nvPr/>
        </p:nvSpPr>
        <p:spPr>
          <a:xfrm>
            <a:off x="2026804" y="5717381"/>
            <a:ext cx="738386" cy="426839"/>
          </a:xfrm>
          <a:prstGeom prst="roundRect">
            <a:avLst>
              <a:gd name="adj" fmla="val 50000"/>
            </a:avLst>
          </a:prstGeom>
          <a:solidFill>
            <a:srgbClr val="6FD0C4">
              <a:alpha val="16000"/>
            </a:srgbClr>
          </a:solidFill>
          <a:ln w="12700">
            <a:solidFill>
              <a:srgbClr val="6FD0C4"/>
            </a:solidFill>
            <a:prstDash val="solid"/>
          </a:ln>
        </p:spPr>
        <p:txBody>
          <a:bodyPr wrap="none" lIns="0" tIns="0" rIns="0" bIns="0" rtlCol="0" anchor="ctr">
            <a:normAutofit/>
          </a:bodyPr>
          <a:lstStyle/>
          <a:p>
            <a:pPr algn="ctr" indent="0" marL="0">
              <a:lnSpc>
                <a:spcPts val="1680"/>
              </a:lnSpc>
              <a:buNone/>
            </a:pPr>
            <a:r>
              <a:rPr lang="en-US" sz="1400" b="1" dirty="0">
                <a:solidFill>
                  <a:srgbClr val="F6F4EE"/>
                </a:solidFill>
                <a:latin typeface="Arial" pitchFamily="34" charset="0"/>
                <a:ea typeface="Arial" pitchFamily="34" charset="-122"/>
                <a:cs typeface="Arial" pitchFamily="34" charset="-120"/>
              </a:rPr>
              <a:t>‫מבחן‬</a:t>
            </a:r>
            <a:endParaRPr lang="en-US" sz="1400" dirty="0"/>
          </a:p>
        </p:txBody>
      </p:sp>
      <p:pic>
        <p:nvPicPr>
          <p:cNvPr id="9" name="Image 1" descr="arrow-left">    </p:cNvPr>
          <p:cNvPicPr>
            <a:picLocks noChangeAspect="1"/>
          </p:cNvPicPr>
          <p:nvPr/>
        </p:nvPicPr>
        <p:blipFill>
          <a:blip r:embed="rId2"/>
          <a:srcRect l="-1" r="-1" t="0" b="0"/>
          <a:stretch/>
        </p:blipFill>
        <p:spPr>
          <a:xfrm>
            <a:off x="2873104" y="5848314"/>
            <a:ext cx="279346" cy="165064"/>
          </a:xfrm>
          <a:prstGeom prst="rect">
            <a:avLst/>
          </a:prstGeom>
        </p:spPr>
      </p:pic>
      <p:sp>
        <p:nvSpPr>
          <p:cNvPr id="10" name="Text 6"/>
          <p:cNvSpPr/>
          <p:nvPr/>
        </p:nvSpPr>
        <p:spPr>
          <a:xfrm>
            <a:off x="3260364" y="5717381"/>
            <a:ext cx="727111" cy="426839"/>
          </a:xfrm>
          <a:prstGeom prst="roundRect">
            <a:avLst>
              <a:gd name="adj" fmla="val 50000"/>
            </a:avLst>
          </a:prstGeom>
          <a:solidFill>
            <a:srgbClr val="6FD0C4">
              <a:alpha val="16000"/>
            </a:srgbClr>
          </a:solidFill>
          <a:ln w="12700">
            <a:solidFill>
              <a:srgbClr val="6FD0C4"/>
            </a:solidFill>
            <a:prstDash val="solid"/>
          </a:ln>
        </p:spPr>
        <p:txBody>
          <a:bodyPr wrap="none" lIns="0" tIns="0" rIns="0" bIns="0" rtlCol="0" anchor="ctr">
            <a:normAutofit/>
          </a:bodyPr>
          <a:lstStyle/>
          <a:p>
            <a:pPr algn="ctr" indent="0" marL="0">
              <a:lnSpc>
                <a:spcPts val="1680"/>
              </a:lnSpc>
              <a:buNone/>
            </a:pPr>
            <a:r>
              <a:rPr lang="en-US" sz="1400" b="1" dirty="0">
                <a:solidFill>
                  <a:srgbClr val="F6F4EE"/>
                </a:solidFill>
                <a:latin typeface="Arial" pitchFamily="34" charset="0"/>
                <a:ea typeface="Arial" pitchFamily="34" charset="-122"/>
                <a:cs typeface="Arial" pitchFamily="34" charset="-120"/>
              </a:rPr>
              <a:t>‫אימון‬</a:t>
            </a:r>
            <a:endParaRPr lang="en-US" sz="1400" dirty="0"/>
          </a:p>
        </p:txBody>
      </p:sp>
      <p:pic>
        <p:nvPicPr>
          <p:cNvPr id="11" name="Image 2" descr="arrow-left">    </p:cNvPr>
          <p:cNvPicPr>
            <a:picLocks noChangeAspect="1"/>
          </p:cNvPicPr>
          <p:nvPr/>
        </p:nvPicPr>
        <p:blipFill>
          <a:blip r:embed="rId3"/>
          <a:srcRect l="-1" r="-1" t="0" b="0"/>
          <a:stretch/>
        </p:blipFill>
        <p:spPr>
          <a:xfrm>
            <a:off x="4095389" y="5848314"/>
            <a:ext cx="279346" cy="165064"/>
          </a:xfrm>
          <a:prstGeom prst="rect">
            <a:avLst/>
          </a:prstGeom>
        </p:spPr>
      </p:pic>
      <p:sp>
        <p:nvSpPr>
          <p:cNvPr id="12" name="Text 7"/>
          <p:cNvSpPr/>
          <p:nvPr/>
        </p:nvSpPr>
        <p:spPr>
          <a:xfrm>
            <a:off x="4482649" y="5717381"/>
            <a:ext cx="746594" cy="426839"/>
          </a:xfrm>
          <a:prstGeom prst="roundRect">
            <a:avLst>
              <a:gd name="adj" fmla="val 50000"/>
            </a:avLst>
          </a:prstGeom>
          <a:solidFill>
            <a:srgbClr val="6FD0C4">
              <a:alpha val="16000"/>
            </a:srgbClr>
          </a:solidFill>
          <a:ln w="12700">
            <a:solidFill>
              <a:srgbClr val="6FD0C4"/>
            </a:solidFill>
            <a:prstDash val="solid"/>
          </a:ln>
        </p:spPr>
        <p:txBody>
          <a:bodyPr wrap="none" lIns="0" tIns="0" rIns="0" bIns="0" rtlCol="0" anchor="ctr">
            <a:normAutofit/>
          </a:bodyPr>
          <a:lstStyle/>
          <a:p>
            <a:pPr algn="ctr" indent="0" marL="0">
              <a:lnSpc>
                <a:spcPts val="1680"/>
              </a:lnSpc>
              <a:buNone/>
            </a:pPr>
            <a:r>
              <a:rPr lang="en-US" sz="1400" b="1" dirty="0">
                <a:solidFill>
                  <a:srgbClr val="F6F4EE"/>
                </a:solidFill>
                <a:latin typeface="Arial" pitchFamily="34" charset="0"/>
                <a:ea typeface="Arial" pitchFamily="34" charset="-122"/>
                <a:cs typeface="Arial" pitchFamily="34" charset="-120"/>
              </a:rPr>
              <a:t>‫פיצול‬</a:t>
            </a:r>
            <a:endParaRPr lang="en-US" sz="1400" dirty="0"/>
          </a:p>
        </p:txBody>
      </p:sp>
      <p:pic>
        <p:nvPicPr>
          <p:cNvPr id="13" name="Image 3" descr="arrow-left">    </p:cNvPr>
          <p:cNvPicPr>
            <a:picLocks noChangeAspect="1"/>
          </p:cNvPicPr>
          <p:nvPr/>
        </p:nvPicPr>
        <p:blipFill>
          <a:blip r:embed="rId4"/>
          <a:srcRect l="-1" r="-1" t="0" b="0"/>
          <a:stretch/>
        </p:blipFill>
        <p:spPr>
          <a:xfrm>
            <a:off x="5337157" y="5848314"/>
            <a:ext cx="279346" cy="165064"/>
          </a:xfrm>
          <a:prstGeom prst="rect">
            <a:avLst/>
          </a:prstGeom>
        </p:spPr>
      </p:pic>
      <p:sp>
        <p:nvSpPr>
          <p:cNvPr id="14" name="Text 8"/>
          <p:cNvSpPr/>
          <p:nvPr/>
        </p:nvSpPr>
        <p:spPr>
          <a:xfrm>
            <a:off x="5724416" y="5717381"/>
            <a:ext cx="712950" cy="426839"/>
          </a:xfrm>
          <a:prstGeom prst="roundRect">
            <a:avLst>
              <a:gd name="adj" fmla="val 50000"/>
            </a:avLst>
          </a:prstGeom>
          <a:solidFill>
            <a:srgbClr val="6FD0C4">
              <a:alpha val="16000"/>
            </a:srgbClr>
          </a:solidFill>
          <a:ln w="12700">
            <a:solidFill>
              <a:srgbClr val="6FD0C4"/>
            </a:solidFill>
            <a:prstDash val="solid"/>
          </a:ln>
        </p:spPr>
        <p:txBody>
          <a:bodyPr wrap="none" lIns="0" tIns="0" rIns="0" bIns="0" rtlCol="0" anchor="ctr">
            <a:normAutofit/>
          </a:bodyPr>
          <a:lstStyle/>
          <a:p>
            <a:pPr algn="ctr" indent="0" marL="0">
              <a:lnSpc>
                <a:spcPts val="1680"/>
              </a:lnSpc>
              <a:buNone/>
            </a:pPr>
            <a:r>
              <a:rPr lang="en-US" sz="1400" b="1" dirty="0">
                <a:solidFill>
                  <a:srgbClr val="F6F4EE"/>
                </a:solidFill>
                <a:latin typeface="Arial" pitchFamily="34" charset="0"/>
                <a:ea typeface="Arial" pitchFamily="34" charset="-122"/>
                <a:cs typeface="Arial" pitchFamily="34" charset="-120"/>
              </a:rPr>
              <a:t>‫אודיו‬</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‫בלוק 0 · מסגור‬</a:t>
            </a:r>
            <a:endParaRPr lang="en-US" sz="1200" dirty="0"/>
          </a:p>
        </p:txBody>
      </p:sp>
      <p:sp>
        <p:nvSpPr>
          <p:cNvPr id="3" name="Text 1"/>
          <p:cNvSpPr/>
          <p:nvPr>
            <p:ph type="title"/>
          </p:nvPr>
        </p:nvSpPr>
        <p:spPr>
          <a:xfrm>
            <a:off x="495789" y="949974"/>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‫הבעיה והדרישה‬</a:t>
            </a:r>
            <a:endParaRPr lang="en-US" sz="3200" dirty="0"/>
          </a:p>
        </p:txBody>
      </p:sp>
      <p:sp>
        <p:nvSpPr>
          <p:cNvPr id="4" name="Text 2"/>
          <p:cNvSpPr/>
          <p:nvPr/>
        </p:nvSpPr>
        <p:spPr>
          <a:xfrm>
            <a:off x="495789" y="1574781"/>
            <a:ext cx="10883429" cy="594374"/>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46525C"/>
                </a:solidFill>
                <a:latin typeface="Arial" pitchFamily="34" charset="0"/>
                <a:ea typeface="Arial" pitchFamily="34" charset="-122"/>
                <a:cs typeface="Arial" pitchFamily="34" charset="-120"/>
              </a:rPr>
              <a:t>‫למערכת יש הקלטות בעברית עם ז׳רגון וסלנג ייחודיים למסגרת שבה נאמרו. מודל תמלול עברי קיים מתקשה בהם. רוצים לשפר אותו בכוונון עדין (fine-tuning), ולהוכיח שהשיפור אמיתי.‬</a:t>
            </a:r>
            <a:endParaRPr lang="en-US" sz="1600" dirty="0"/>
          </a:p>
        </p:txBody>
      </p:sp>
      <p:sp>
        <p:nvSpPr>
          <p:cNvPr id="5" name="Shape 3"/>
          <p:cNvSpPr/>
          <p:nvPr/>
        </p:nvSpPr>
        <p:spPr>
          <a:xfrm>
            <a:off x="815957" y="2324713"/>
            <a:ext cx="2539964" cy="1727362"/>
          </a:xfrm>
          <a:prstGeom prst="roundRect">
            <a:avLst>
              <a:gd name="adj" fmla="val 7168"/>
            </a:avLst>
          </a:prstGeom>
          <a:solidFill>
            <a:srgbClr val="FFFDF8"/>
          </a:solidFill>
          <a:ln w="6350">
            <a:solidFill>
              <a:srgbClr val="E2DDD0"/>
            </a:solidFill>
            <a:prstDash val="solid"/>
          </a:ln>
        </p:spPr>
      </p:sp>
      <p:sp>
        <p:nvSpPr>
          <p:cNvPr id="6" name="Text 4"/>
          <p:cNvSpPr/>
          <p:nvPr/>
        </p:nvSpPr>
        <p:spPr>
          <a:xfrm>
            <a:off x="903998" y="2505093"/>
            <a:ext cx="2296979"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B8481A"/>
                </a:solidFill>
                <a:latin typeface="Arial" pitchFamily="34" charset="0"/>
                <a:ea typeface="Arial" pitchFamily="34" charset="-122"/>
                <a:cs typeface="Arial" pitchFamily="34" charset="-120"/>
              </a:rPr>
              <a:t>4</a:t>
            </a:r>
            <a:endParaRPr lang="en-US" sz="2800" dirty="0"/>
          </a:p>
        </p:txBody>
      </p:sp>
      <p:sp>
        <p:nvSpPr>
          <p:cNvPr id="7" name="Text 5"/>
          <p:cNvSpPr/>
          <p:nvPr/>
        </p:nvSpPr>
        <p:spPr>
          <a:xfrm>
            <a:off x="903998" y="2924156"/>
            <a:ext cx="22969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‫חומרה משתנה‬</a:t>
            </a:r>
            <a:endParaRPr lang="en-US" sz="1600" dirty="0"/>
          </a:p>
        </p:txBody>
      </p:sp>
      <p:sp>
        <p:nvSpPr>
          <p:cNvPr id="8" name="Text 6"/>
          <p:cNvSpPr/>
          <p:nvPr/>
        </p:nvSpPr>
        <p:spPr>
          <a:xfrm>
            <a:off x="903998" y="3231464"/>
            <a:ext cx="2296979"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‫CPU וגם GPU, בסביבה החיצונית ובסגורה. הקוד צריך לתמוך בשניהם‬</a:t>
            </a:r>
            <a:endParaRPr lang="en-US" sz="1200" dirty="0"/>
          </a:p>
        </p:txBody>
      </p:sp>
      <p:sp>
        <p:nvSpPr>
          <p:cNvPr id="9" name="Shape 7"/>
          <p:cNvSpPr/>
          <p:nvPr/>
        </p:nvSpPr>
        <p:spPr>
          <a:xfrm>
            <a:off x="3489271" y="2324713"/>
            <a:ext cx="2540054" cy="1727362"/>
          </a:xfrm>
          <a:prstGeom prst="roundRect">
            <a:avLst>
              <a:gd name="adj" fmla="val 7168"/>
            </a:avLst>
          </a:prstGeom>
          <a:solidFill>
            <a:srgbClr val="FFFDF8"/>
          </a:solidFill>
          <a:ln w="6350">
            <a:solidFill>
              <a:srgbClr val="E2DDD0"/>
            </a:solidFill>
            <a:prstDash val="solid"/>
          </a:ln>
        </p:spPr>
      </p:sp>
      <p:sp>
        <p:nvSpPr>
          <p:cNvPr id="10" name="Text 8"/>
          <p:cNvSpPr/>
          <p:nvPr/>
        </p:nvSpPr>
        <p:spPr>
          <a:xfrm>
            <a:off x="3577309" y="2505093"/>
            <a:ext cx="2297072"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3</a:t>
            </a:r>
            <a:endParaRPr lang="en-US" sz="2800" dirty="0"/>
          </a:p>
        </p:txBody>
      </p:sp>
      <p:sp>
        <p:nvSpPr>
          <p:cNvPr id="11" name="Text 9"/>
          <p:cNvSpPr/>
          <p:nvPr/>
        </p:nvSpPr>
        <p:spPr>
          <a:xfrm>
            <a:off x="3577309" y="2924156"/>
            <a:ext cx="229707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‫סביבה סגורה‬</a:t>
            </a:r>
            <a:endParaRPr lang="en-US" sz="1600" dirty="0"/>
          </a:p>
        </p:txBody>
      </p:sp>
      <p:sp>
        <p:nvSpPr>
          <p:cNvPr id="12" name="Text 10"/>
          <p:cNvSpPr/>
          <p:nvPr/>
        </p:nvSpPr>
        <p:spPr>
          <a:xfrm>
            <a:off x="3577309" y="3231464"/>
            <a:ext cx="2297072"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‫בלי רשת. סוכן אחר (לא Claude) מפעיל את המערכת, ולכן היא חייבת להיות עמידה וברורה‬</a:t>
            </a:r>
            <a:endParaRPr lang="en-US" sz="1200" dirty="0"/>
          </a:p>
        </p:txBody>
      </p:sp>
      <p:sp>
        <p:nvSpPr>
          <p:cNvPr id="13" name="Shape 11"/>
          <p:cNvSpPr/>
          <p:nvPr/>
        </p:nvSpPr>
        <p:spPr>
          <a:xfrm>
            <a:off x="6162675" y="2324713"/>
            <a:ext cx="2539964" cy="1727362"/>
          </a:xfrm>
          <a:prstGeom prst="roundRect">
            <a:avLst>
              <a:gd name="adj" fmla="val 7168"/>
            </a:avLst>
          </a:prstGeom>
          <a:solidFill>
            <a:srgbClr val="FFFDF8"/>
          </a:solidFill>
          <a:ln w="6350">
            <a:solidFill>
              <a:srgbClr val="E2DDD0"/>
            </a:solidFill>
            <a:prstDash val="solid"/>
          </a:ln>
        </p:spPr>
      </p:sp>
      <p:sp>
        <p:nvSpPr>
          <p:cNvPr id="14" name="Text 12"/>
          <p:cNvSpPr/>
          <p:nvPr/>
        </p:nvSpPr>
        <p:spPr>
          <a:xfrm>
            <a:off x="6250716" y="2505093"/>
            <a:ext cx="2296979"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B8481A"/>
                </a:solidFill>
                <a:latin typeface="Arial" pitchFamily="34" charset="0"/>
                <a:ea typeface="Arial" pitchFamily="34" charset="-122"/>
                <a:cs typeface="Arial" pitchFamily="34" charset="-120"/>
              </a:rPr>
              <a:t>2</a:t>
            </a:r>
            <a:endParaRPr lang="en-US" sz="2800" dirty="0"/>
          </a:p>
        </p:txBody>
      </p:sp>
      <p:sp>
        <p:nvSpPr>
          <p:cNvPr id="15" name="Text 13"/>
          <p:cNvSpPr/>
          <p:nvPr/>
        </p:nvSpPr>
        <p:spPr>
          <a:xfrm>
            <a:off x="6250716" y="2924156"/>
            <a:ext cx="22969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‫מעט מאוד נתונים‬</a:t>
            </a:r>
            <a:endParaRPr lang="en-US" sz="1600" dirty="0"/>
          </a:p>
        </p:txBody>
      </p:sp>
      <p:sp>
        <p:nvSpPr>
          <p:cNvPr id="16" name="Text 14"/>
          <p:cNvSpPr/>
          <p:nvPr/>
        </p:nvSpPr>
        <p:spPr>
          <a:xfrm>
            <a:off x="6250716" y="3231464"/>
            <a:ext cx="2296979"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‫מעט קטעים לאימון ועוד פחות לבחינה, כך שכל החלטה נשענת על מספר קטן‬</a:t>
            </a:r>
            <a:endParaRPr lang="en-US" sz="1200" dirty="0"/>
          </a:p>
        </p:txBody>
      </p:sp>
      <p:sp>
        <p:nvSpPr>
          <p:cNvPr id="17" name="Shape 15"/>
          <p:cNvSpPr/>
          <p:nvPr/>
        </p:nvSpPr>
        <p:spPr>
          <a:xfrm>
            <a:off x="8835989" y="2324713"/>
            <a:ext cx="2540054" cy="1727362"/>
          </a:xfrm>
          <a:prstGeom prst="roundRect">
            <a:avLst>
              <a:gd name="adj" fmla="val 7168"/>
            </a:avLst>
          </a:prstGeom>
          <a:solidFill>
            <a:srgbClr val="FFFDF8"/>
          </a:solidFill>
          <a:ln w="6350">
            <a:solidFill>
              <a:srgbClr val="E2DDD0"/>
            </a:solidFill>
            <a:prstDash val="solid"/>
          </a:ln>
        </p:spPr>
      </p:sp>
      <p:sp>
        <p:nvSpPr>
          <p:cNvPr id="18" name="Text 16"/>
          <p:cNvSpPr/>
          <p:nvPr/>
        </p:nvSpPr>
        <p:spPr>
          <a:xfrm>
            <a:off x="8924027" y="2505093"/>
            <a:ext cx="2297072"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1</a:t>
            </a:r>
            <a:endParaRPr lang="en-US" sz="2800" dirty="0"/>
          </a:p>
        </p:txBody>
      </p:sp>
      <p:sp>
        <p:nvSpPr>
          <p:cNvPr id="19" name="Text 17"/>
          <p:cNvSpPr/>
          <p:nvPr/>
        </p:nvSpPr>
        <p:spPr>
          <a:xfrm>
            <a:off x="8924027" y="2924156"/>
            <a:ext cx="229707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‫ז׳רגון וסלנג‬</a:t>
            </a:r>
            <a:endParaRPr lang="en-US" sz="1600" dirty="0"/>
          </a:p>
        </p:txBody>
      </p:sp>
      <p:sp>
        <p:nvSpPr>
          <p:cNvPr id="20" name="Text 18"/>
          <p:cNvSpPr/>
          <p:nvPr/>
        </p:nvSpPr>
        <p:spPr>
          <a:xfrm>
            <a:off x="8924027" y="3231464"/>
            <a:ext cx="2297072"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‫מילים ומונחים שהמודל הכללי לא מכיר, ולכן הוא טועה בהם‬</a:t>
            </a:r>
            <a:endParaRPr lang="en-US" sz="1200" dirty="0"/>
          </a:p>
        </p:txBody>
      </p:sp>
      <p:sp>
        <p:nvSpPr>
          <p:cNvPr id="21" name="Text 19"/>
          <p:cNvSpPr/>
          <p:nvPr/>
        </p:nvSpPr>
        <p:spPr>
          <a:xfrm>
            <a:off x="812782" y="4233032"/>
            <a:ext cx="10566436" cy="589179"/>
          </a:xfrm>
          <a:prstGeom prst="roundRect">
            <a:avLst>
              <a:gd name="adj" fmla="val 21555"/>
            </a:avLst>
          </a:prstGeom>
          <a:solidFill>
            <a:srgbClr val="1F6F6F"/>
          </a:solidFill>
          <a:ln/>
        </p:spPr>
        <p:txBody>
          <a:bodyPr wrap="square" lIns="0" tIns="115203" rIns="191403" bIns="89803" rtlCol="0" anchor="t">
            <a:normAutofit/>
          </a:bodyPr>
          <a:lstStyle/>
          <a:p>
            <a:pPr algn="r" indent="0" marL="0">
              <a:lnSpc>
                <a:spcPts val="2240"/>
              </a:lnSpc>
              <a:buNone/>
            </a:pPr>
            <a:r>
              <a:rPr lang="en-US" sz="1600" b="1" dirty="0">
                <a:solidFill>
                  <a:srgbClr val="FFFDF8"/>
                </a:solidFill>
                <a:latin typeface="Arial" pitchFamily="34" charset="0"/>
                <a:ea typeface="Arial" pitchFamily="34" charset="-122"/>
                <a:cs typeface="Arial" pitchFamily="34" charset="-120"/>
              </a:rPr>
              <a:t>‫המטרה: מערכת אוטומטית ועמידה שמכווננת מודל על מעט נתונים, ומוכיחה סטטיסטית שהשיפור אמיתי‬</a:t>
            </a:r>
            <a:endParaRPr lang="en-US" sz="1600" dirty="0"/>
          </a:p>
        </p:txBody>
      </p:sp>
      <p:sp>
        <p:nvSpPr>
          <p:cNvPr id="22" name="Text 20"/>
          <p:cNvSpPr/>
          <p:nvPr/>
        </p:nvSpPr>
        <p:spPr>
          <a:xfrm>
            <a:off x="815957" y="5003168"/>
            <a:ext cx="10560086" cy="472606"/>
          </a:xfrm>
          <a:prstGeom prst="roundRect">
            <a:avLst>
              <a:gd name="adj" fmla="val 20826"/>
            </a:avLst>
          </a:prstGeom>
          <a:solidFill>
            <a:srgbClr val="FFFDF8"/>
          </a:solidFill>
          <a:ln w="6350">
            <a:solidFill>
              <a:srgbClr val="E2DDD0"/>
            </a:solidFill>
            <a:prstDash val="solid"/>
          </a:ln>
        </p:spPr>
        <p:txBody>
          <a:bodyPr wrap="square" lIns="0" tIns="100770" rIns="1515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‫מה כבר קיים: צינור מלא ל-CPU, שנבדק על נתונים ציבוריים. מה חדש בדרישה: תמיכה ב-GPU, והתאמה לעבודה עם מעט נתונים‬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‫הגישה‬</a:t>
            </a:r>
            <a:endParaRPr lang="en-US" sz="1200" dirty="0"/>
          </a:p>
        </p:txBody>
      </p:sp>
      <p:sp>
        <p:nvSpPr>
          <p:cNvPr id="3" name="Text 1"/>
          <p:cNvSpPr/>
          <p:nvPr>
            <p:ph type="title"/>
          </p:nvPr>
        </p:nvSpPr>
        <p:spPr>
          <a:xfrm>
            <a:off x="495789" y="924537"/>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‫קודם לומדים בסביבה פתוחה, ואז מיישמים בסגורה‬</a:t>
            </a:r>
            <a:endParaRPr lang="en-US" sz="3200" dirty="0"/>
          </a:p>
        </p:txBody>
      </p:sp>
      <p:sp>
        <p:nvSpPr>
          <p:cNvPr id="4" name="Shape 2"/>
          <p:cNvSpPr/>
          <p:nvPr/>
        </p:nvSpPr>
        <p:spPr>
          <a:xfrm>
            <a:off x="812782" y="1523909"/>
            <a:ext cx="10566436" cy="1431095"/>
          </a:xfrm>
          <a:prstGeom prst="roundRect">
            <a:avLst>
              <a:gd name="adj" fmla="val 8874"/>
            </a:avLst>
          </a:prstGeom>
          <a:solidFill>
            <a:srgbClr val="E9E5D8"/>
          </a:solidFill>
          <a:ln/>
        </p:spPr>
      </p:sp>
      <p:sp>
        <p:nvSpPr>
          <p:cNvPr id="5" name="Text 3"/>
          <p:cNvSpPr/>
          <p:nvPr/>
        </p:nvSpPr>
        <p:spPr>
          <a:xfrm>
            <a:off x="684238" y="1650909"/>
            <a:ext cx="10517198"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‫סביבה חיצונית: עם רשת ועם נתונים רבים מ-Hugging Face‬</a:t>
            </a:r>
            <a:endParaRPr lang="en-US" sz="1400" dirty="0"/>
          </a:p>
        </p:txBody>
      </p:sp>
      <p:sp>
        <p:nvSpPr>
          <p:cNvPr id="6" name="Shape 4"/>
          <p:cNvSpPr/>
          <p:nvPr/>
        </p:nvSpPr>
        <p:spPr>
          <a:xfrm>
            <a:off x="990564" y="1958127"/>
            <a:ext cx="2220245" cy="869878"/>
          </a:xfrm>
          <a:prstGeom prst="roundRect">
            <a:avLst>
              <a:gd name="adj" fmla="val 10220"/>
            </a:avLst>
          </a:prstGeom>
          <a:solidFill>
            <a:srgbClr val="0F2233"/>
          </a:solidFill>
          <a:ln/>
        </p:spPr>
      </p:sp>
      <p:sp>
        <p:nvSpPr>
          <p:cNvPr id="7" name="Text 5"/>
          <p:cNvSpPr/>
          <p:nvPr/>
        </p:nvSpPr>
        <p:spPr>
          <a:xfrm>
            <a:off x="1045095" y="2046973"/>
            <a:ext cx="2051431"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6FD0C4"/>
                </a:solidFill>
                <a:latin typeface="Arial" pitchFamily="34" charset="0"/>
                <a:ea typeface="Arial" pitchFamily="34" charset="-122"/>
                <a:cs typeface="Arial" pitchFamily="34" charset="-120"/>
              </a:rPr>
              <a:t>‫4 · מתכון‬</a:t>
            </a:r>
            <a:endParaRPr lang="en-US" sz="1400" dirty="0"/>
          </a:p>
        </p:txBody>
      </p:sp>
      <p:sp>
        <p:nvSpPr>
          <p:cNvPr id="8" name="Text 6"/>
          <p:cNvSpPr/>
          <p:nvPr/>
        </p:nvSpPr>
        <p:spPr>
          <a:xfrm>
            <a:off x="1045095" y="2316125"/>
            <a:ext cx="2051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‫כללים מדודים לעבודה עם נתונים קטנים‬</a:t>
            </a:r>
            <a:endParaRPr lang="en-US" sz="1200" dirty="0"/>
          </a:p>
        </p:txBody>
      </p:sp>
      <p:pic>
        <p:nvPicPr>
          <p:cNvPr id="9" name="Image 0" descr="arrow-left">    </p:cNvPr>
          <p:cNvPicPr>
            <a:picLocks noChangeAspect="1"/>
          </p:cNvPicPr>
          <p:nvPr/>
        </p:nvPicPr>
        <p:blipFill>
          <a:blip r:embed="rId1"/>
          <a:srcRect l="-10" r="-10" t="0" b="0"/>
          <a:stretch/>
        </p:blipFill>
        <p:spPr>
          <a:xfrm>
            <a:off x="3312373" y="2316848"/>
            <a:ext cx="228564" cy="152346"/>
          </a:xfrm>
          <a:prstGeom prst="rect">
            <a:avLst/>
          </a:prstGeom>
        </p:spPr>
      </p:pic>
      <p:sp>
        <p:nvSpPr>
          <p:cNvPr id="10" name="Shape 7"/>
          <p:cNvSpPr/>
          <p:nvPr/>
        </p:nvSpPr>
        <p:spPr>
          <a:xfrm>
            <a:off x="3645676" y="1961302"/>
            <a:ext cx="2225531" cy="863528"/>
          </a:xfrm>
          <a:prstGeom prst="roundRect">
            <a:avLst>
              <a:gd name="adj" fmla="val 9927"/>
            </a:avLst>
          </a:prstGeom>
          <a:solidFill>
            <a:srgbClr val="FFFDF8"/>
          </a:solidFill>
          <a:ln w="6350">
            <a:solidFill>
              <a:srgbClr val="D9D3C2"/>
            </a:solidFill>
            <a:prstDash val="solid"/>
          </a:ln>
        </p:spPr>
      </p:sp>
      <p:sp>
        <p:nvSpPr>
          <p:cNvPr id="11" name="Text 8"/>
          <p:cNvSpPr/>
          <p:nvPr/>
        </p:nvSpPr>
        <p:spPr>
          <a:xfrm>
            <a:off x="3702802" y="2052744"/>
            <a:ext cx="2051524"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‫3 · לשאול מה מחזיק‬</a:t>
            </a:r>
            <a:endParaRPr lang="en-US" sz="1400" dirty="0"/>
          </a:p>
        </p:txBody>
      </p:sp>
      <p:sp>
        <p:nvSpPr>
          <p:cNvPr id="12" name="Text 9"/>
          <p:cNvSpPr/>
          <p:nvPr/>
        </p:nvSpPr>
        <p:spPr>
          <a:xfrm>
            <a:off x="3702802" y="2321899"/>
            <a:ext cx="2051524"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‫אילו הגדרות ואיזה היקף אימון שומרים על התוצאה‬</a:t>
            </a:r>
            <a:endParaRPr lang="en-US" sz="1200" dirty="0"/>
          </a:p>
        </p:txBody>
      </p:sp>
      <p:pic>
        <p:nvPicPr>
          <p:cNvPr id="13" name="Image 1" descr="arrow-left">    </p:cNvPr>
          <p:cNvPicPr>
            <a:picLocks noChangeAspect="1"/>
          </p:cNvPicPr>
          <p:nvPr/>
        </p:nvPicPr>
        <p:blipFill>
          <a:blip r:embed="rId2"/>
          <a:srcRect l="-10" r="-10" t="0" b="0"/>
          <a:stretch/>
        </p:blipFill>
        <p:spPr>
          <a:xfrm>
            <a:off x="5975945" y="2316848"/>
            <a:ext cx="228564" cy="152346"/>
          </a:xfrm>
          <a:prstGeom prst="rect">
            <a:avLst/>
          </a:prstGeom>
        </p:spPr>
      </p:pic>
      <p:sp>
        <p:nvSpPr>
          <p:cNvPr id="14" name="Shape 10"/>
          <p:cNvSpPr/>
          <p:nvPr/>
        </p:nvSpPr>
        <p:spPr>
          <a:xfrm>
            <a:off x="6309248" y="1961302"/>
            <a:ext cx="2225440" cy="863528"/>
          </a:xfrm>
          <a:prstGeom prst="roundRect">
            <a:avLst>
              <a:gd name="adj" fmla="val 9927"/>
            </a:avLst>
          </a:prstGeom>
          <a:solidFill>
            <a:srgbClr val="FFFDF8"/>
          </a:solidFill>
          <a:ln w="6350">
            <a:solidFill>
              <a:srgbClr val="D9D3C2"/>
            </a:solidFill>
            <a:prstDash val="solid"/>
          </a:ln>
        </p:spPr>
      </p:sp>
      <p:sp>
        <p:nvSpPr>
          <p:cNvPr id="15" name="Text 11"/>
          <p:cNvSpPr/>
          <p:nvPr/>
        </p:nvSpPr>
        <p:spPr>
          <a:xfrm>
            <a:off x="6366377" y="2052744"/>
            <a:ext cx="2051431"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‫2 · להקטין בהדרגה‬</a:t>
            </a:r>
            <a:endParaRPr lang="en-US" sz="1400" dirty="0"/>
          </a:p>
        </p:txBody>
      </p:sp>
      <p:sp>
        <p:nvSpPr>
          <p:cNvPr id="16" name="Text 12"/>
          <p:cNvSpPr/>
          <p:nvPr/>
        </p:nvSpPr>
        <p:spPr>
          <a:xfrm>
            <a:off x="6366377" y="2321899"/>
            <a:ext cx="2051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‫מאמנים על 100%, 50%, 25% ומודדים על אותו Val‬</a:t>
            </a:r>
            <a:endParaRPr lang="en-US" sz="1200" dirty="0"/>
          </a:p>
        </p:txBody>
      </p:sp>
      <p:pic>
        <p:nvPicPr>
          <p:cNvPr id="17" name="Image 2" descr="arrow-left">    </p:cNvPr>
          <p:cNvPicPr>
            <a:picLocks noChangeAspect="1"/>
          </p:cNvPicPr>
          <p:nvPr/>
        </p:nvPicPr>
        <p:blipFill>
          <a:blip r:embed="rId3"/>
          <a:srcRect l="-10" r="-10" t="0" b="0"/>
          <a:stretch/>
        </p:blipFill>
        <p:spPr>
          <a:xfrm>
            <a:off x="8639427" y="2316848"/>
            <a:ext cx="228564" cy="152346"/>
          </a:xfrm>
          <a:prstGeom prst="rect">
            <a:avLst/>
          </a:prstGeom>
        </p:spPr>
      </p:pic>
      <p:sp>
        <p:nvSpPr>
          <p:cNvPr id="18" name="Shape 13"/>
          <p:cNvSpPr/>
          <p:nvPr/>
        </p:nvSpPr>
        <p:spPr>
          <a:xfrm>
            <a:off x="8972730" y="1961302"/>
            <a:ext cx="2225531" cy="863528"/>
          </a:xfrm>
          <a:prstGeom prst="roundRect">
            <a:avLst>
              <a:gd name="adj" fmla="val 9927"/>
            </a:avLst>
          </a:prstGeom>
          <a:solidFill>
            <a:srgbClr val="FFFDF8"/>
          </a:solidFill>
          <a:ln w="6350">
            <a:solidFill>
              <a:srgbClr val="D9D3C2"/>
            </a:solidFill>
            <a:prstDash val="solid"/>
          </a:ln>
        </p:spPr>
      </p:sp>
      <p:sp>
        <p:nvSpPr>
          <p:cNvPr id="19" name="Text 14"/>
          <p:cNvSpPr/>
          <p:nvPr/>
        </p:nvSpPr>
        <p:spPr>
          <a:xfrm>
            <a:off x="9029856" y="2052744"/>
            <a:ext cx="2051524"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‫1 · לבנות ולאמת‬</a:t>
            </a:r>
            <a:endParaRPr lang="en-US" sz="1400" dirty="0"/>
          </a:p>
        </p:txBody>
      </p:sp>
      <p:sp>
        <p:nvSpPr>
          <p:cNvPr id="20" name="Text 15"/>
          <p:cNvSpPr/>
          <p:nvPr/>
        </p:nvSpPr>
        <p:spPr>
          <a:xfrm>
            <a:off x="9029856" y="2321899"/>
            <a:ext cx="2051524"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‫מוכיחים שהמערכת עובדת מקצה לקצה‬</a:t>
            </a:r>
            <a:endParaRPr lang="en-US" sz="1200" dirty="0"/>
          </a:p>
        </p:txBody>
      </p:sp>
      <p:sp>
        <p:nvSpPr>
          <p:cNvPr id="21" name="Text 16"/>
          <p:cNvSpPr/>
          <p:nvPr/>
        </p:nvSpPr>
        <p:spPr>
          <a:xfrm>
            <a:off x="295203" y="3127645"/>
            <a:ext cx="3105475"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8481A"/>
                </a:solidFill>
                <a:latin typeface="Arial" pitchFamily="34" charset="0"/>
                <a:ea typeface="Arial" pitchFamily="34" charset="-122"/>
                <a:cs typeface="Arial" pitchFamily="34" charset="-120"/>
              </a:rPr>
              <a:t>‫העברת המערכת והמתכון לסביבה הסגורה‬</a:t>
            </a:r>
            <a:endParaRPr lang="en-US" sz="1200" dirty="0"/>
          </a:p>
        </p:txBody>
      </p:sp>
      <p:pic>
        <p:nvPicPr>
          <p:cNvPr id="22" name="Image 3" descr="arrow-down">    </p:cNvPr>
          <p:cNvPicPr>
            <a:picLocks noChangeAspect="1"/>
          </p:cNvPicPr>
          <p:nvPr/>
        </p:nvPicPr>
        <p:blipFill>
          <a:blip r:embed="rId4"/>
          <a:srcRect l="0" r="0" t="-18" b="-18"/>
          <a:stretch/>
        </p:blipFill>
        <p:spPr>
          <a:xfrm>
            <a:off x="3502241" y="3107350"/>
            <a:ext cx="203128" cy="254000"/>
          </a:xfrm>
          <a:prstGeom prst="rect">
            <a:avLst/>
          </a:prstGeom>
        </p:spPr>
      </p:pic>
      <p:sp>
        <p:nvSpPr>
          <p:cNvPr id="23" name="Shape 17"/>
          <p:cNvSpPr/>
          <p:nvPr/>
        </p:nvSpPr>
        <p:spPr>
          <a:xfrm>
            <a:off x="812782" y="3513696"/>
            <a:ext cx="10566436" cy="1225352"/>
          </a:xfrm>
          <a:prstGeom prst="roundRect">
            <a:avLst>
              <a:gd name="adj" fmla="val 10364"/>
            </a:avLst>
          </a:prstGeom>
          <a:solidFill>
            <a:srgbClr val="E1EEEB"/>
          </a:solidFill>
          <a:ln/>
        </p:spPr>
      </p:sp>
      <p:sp>
        <p:nvSpPr>
          <p:cNvPr id="24" name="Text 18"/>
          <p:cNvSpPr/>
          <p:nvPr/>
        </p:nvSpPr>
        <p:spPr>
          <a:xfrm>
            <a:off x="684238" y="3640696"/>
            <a:ext cx="10517198"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‫סביבה סגורה: הנתונים הקטנים של העבודה, וסוכן אחר שמפעיל‬</a:t>
            </a:r>
            <a:endParaRPr lang="en-US" sz="1400" dirty="0"/>
          </a:p>
        </p:txBody>
      </p:sp>
      <p:sp>
        <p:nvSpPr>
          <p:cNvPr id="25" name="Shape 19"/>
          <p:cNvSpPr/>
          <p:nvPr/>
        </p:nvSpPr>
        <p:spPr>
          <a:xfrm>
            <a:off x="990564" y="3947914"/>
            <a:ext cx="2220245" cy="664134"/>
          </a:xfrm>
          <a:prstGeom prst="roundRect">
            <a:avLst>
              <a:gd name="adj" fmla="val 13386"/>
            </a:avLst>
          </a:prstGeom>
          <a:solidFill>
            <a:srgbClr val="0F2233"/>
          </a:solidFill>
          <a:ln/>
        </p:spPr>
      </p:sp>
      <p:sp>
        <p:nvSpPr>
          <p:cNvPr id="26" name="Text 20"/>
          <p:cNvSpPr/>
          <p:nvPr/>
        </p:nvSpPr>
        <p:spPr>
          <a:xfrm>
            <a:off x="1045095" y="4036760"/>
            <a:ext cx="2051431"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6FD0C4"/>
                </a:solidFill>
                <a:latin typeface="Arial" pitchFamily="34" charset="0"/>
                <a:ea typeface="Arial" pitchFamily="34" charset="-122"/>
                <a:cs typeface="Arial" pitchFamily="34" charset="-120"/>
              </a:rPr>
              <a:t>‫מנצח או בייסליין‬</a:t>
            </a:r>
            <a:endParaRPr lang="en-US" sz="1400" dirty="0"/>
          </a:p>
        </p:txBody>
      </p:sp>
      <p:sp>
        <p:nvSpPr>
          <p:cNvPr id="27" name="Text 21"/>
          <p:cNvSpPr/>
          <p:nvPr/>
        </p:nvSpPr>
        <p:spPr>
          <a:xfrm>
            <a:off x="1045095" y="4305912"/>
            <a:ext cx="2051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‫ההחלטה נרשמת בדוח‬</a:t>
            </a:r>
            <a:endParaRPr lang="en-US" sz="1200" dirty="0"/>
          </a:p>
        </p:txBody>
      </p:sp>
      <p:pic>
        <p:nvPicPr>
          <p:cNvPr id="28" name="Image 4" descr="arrow-left">    </p:cNvPr>
          <p:cNvPicPr>
            <a:picLocks noChangeAspect="1"/>
          </p:cNvPicPr>
          <p:nvPr/>
        </p:nvPicPr>
        <p:blipFill>
          <a:blip r:embed="rId5"/>
          <a:srcRect l="-10" r="-10" t="0" b="0"/>
          <a:stretch/>
        </p:blipFill>
        <p:spPr>
          <a:xfrm>
            <a:off x="3312373" y="4203807"/>
            <a:ext cx="228564" cy="152346"/>
          </a:xfrm>
          <a:prstGeom prst="rect">
            <a:avLst/>
          </a:prstGeom>
        </p:spPr>
      </p:pic>
      <p:sp>
        <p:nvSpPr>
          <p:cNvPr id="29" name="Shape 22"/>
          <p:cNvSpPr/>
          <p:nvPr/>
        </p:nvSpPr>
        <p:spPr>
          <a:xfrm>
            <a:off x="3645676" y="3951089"/>
            <a:ext cx="2225531" cy="657784"/>
          </a:xfrm>
          <a:prstGeom prst="roundRect">
            <a:avLst>
              <a:gd name="adj" fmla="val 13032"/>
            </a:avLst>
          </a:prstGeom>
          <a:solidFill>
            <a:srgbClr val="FFFDF8"/>
          </a:solidFill>
          <a:ln w="6350">
            <a:solidFill>
              <a:srgbClr val="BFD6D0"/>
            </a:solidFill>
            <a:prstDash val="solid"/>
          </a:ln>
        </p:spPr>
      </p:sp>
      <p:sp>
        <p:nvSpPr>
          <p:cNvPr id="30" name="Text 23"/>
          <p:cNvSpPr/>
          <p:nvPr/>
        </p:nvSpPr>
        <p:spPr>
          <a:xfrm>
            <a:off x="3702802" y="4042532"/>
            <a:ext cx="2051524"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‫הוכחה סטטיסטית‬</a:t>
            </a:r>
            <a:endParaRPr lang="en-US" sz="1400" dirty="0"/>
          </a:p>
        </p:txBody>
      </p:sp>
      <p:sp>
        <p:nvSpPr>
          <p:cNvPr id="31" name="Text 24"/>
          <p:cNvSpPr/>
          <p:nvPr/>
        </p:nvSpPr>
        <p:spPr>
          <a:xfrm>
            <a:off x="3702802" y="4311686"/>
            <a:ext cx="205152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‫טווח ביטחון לפער ה-WER‬</a:t>
            </a:r>
            <a:endParaRPr lang="en-US" sz="1200" dirty="0"/>
          </a:p>
        </p:txBody>
      </p:sp>
      <p:pic>
        <p:nvPicPr>
          <p:cNvPr id="32" name="Image 5" descr="arrow-left">    </p:cNvPr>
          <p:cNvPicPr>
            <a:picLocks noChangeAspect="1"/>
          </p:cNvPicPr>
          <p:nvPr/>
        </p:nvPicPr>
        <p:blipFill>
          <a:blip r:embed="rId6"/>
          <a:srcRect l="-10" r="-10" t="0" b="0"/>
          <a:stretch/>
        </p:blipFill>
        <p:spPr>
          <a:xfrm>
            <a:off x="5975945" y="4203807"/>
            <a:ext cx="228564" cy="152346"/>
          </a:xfrm>
          <a:prstGeom prst="rect">
            <a:avLst/>
          </a:prstGeom>
        </p:spPr>
      </p:pic>
      <p:sp>
        <p:nvSpPr>
          <p:cNvPr id="33" name="Shape 25"/>
          <p:cNvSpPr/>
          <p:nvPr/>
        </p:nvSpPr>
        <p:spPr>
          <a:xfrm>
            <a:off x="6309248" y="3951089"/>
            <a:ext cx="2225440" cy="657784"/>
          </a:xfrm>
          <a:prstGeom prst="roundRect">
            <a:avLst>
              <a:gd name="adj" fmla="val 13032"/>
            </a:avLst>
          </a:prstGeom>
          <a:solidFill>
            <a:srgbClr val="FFFDF8"/>
          </a:solidFill>
          <a:ln w="6350">
            <a:solidFill>
              <a:srgbClr val="BFD6D0"/>
            </a:solidFill>
            <a:prstDash val="solid"/>
          </a:ln>
        </p:spPr>
      </p:sp>
      <p:sp>
        <p:nvSpPr>
          <p:cNvPr id="34" name="Text 26"/>
          <p:cNvSpPr/>
          <p:nvPr/>
        </p:nvSpPr>
        <p:spPr>
          <a:xfrm>
            <a:off x="6366377" y="4042532"/>
            <a:ext cx="2051431"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‫המתכון על הנתונים שלכם‬</a:t>
            </a:r>
            <a:endParaRPr lang="en-US" sz="1400" dirty="0"/>
          </a:p>
        </p:txBody>
      </p:sp>
      <p:sp>
        <p:nvSpPr>
          <p:cNvPr id="35" name="Text 27"/>
          <p:cNvSpPr/>
          <p:nvPr/>
        </p:nvSpPr>
        <p:spPr>
          <a:xfrm>
            <a:off x="6366377" y="4311686"/>
            <a:ext cx="2051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‫מתחילים מההגדרות שנמדדו‬</a:t>
            </a:r>
            <a:endParaRPr lang="en-US" sz="1200" dirty="0"/>
          </a:p>
        </p:txBody>
      </p:sp>
      <p:pic>
        <p:nvPicPr>
          <p:cNvPr id="36" name="Image 6" descr="arrow-left">    </p:cNvPr>
          <p:cNvPicPr>
            <a:picLocks noChangeAspect="1"/>
          </p:cNvPicPr>
          <p:nvPr/>
        </p:nvPicPr>
        <p:blipFill>
          <a:blip r:embed="rId7"/>
          <a:srcRect l="-10" r="-10" t="0" b="0"/>
          <a:stretch/>
        </p:blipFill>
        <p:spPr>
          <a:xfrm>
            <a:off x="8639427" y="4203807"/>
            <a:ext cx="228564" cy="152346"/>
          </a:xfrm>
          <a:prstGeom prst="rect">
            <a:avLst/>
          </a:prstGeom>
        </p:spPr>
      </p:pic>
      <p:sp>
        <p:nvSpPr>
          <p:cNvPr id="37" name="Shape 28"/>
          <p:cNvSpPr/>
          <p:nvPr/>
        </p:nvSpPr>
        <p:spPr>
          <a:xfrm>
            <a:off x="8972730" y="3951089"/>
            <a:ext cx="2225531" cy="657784"/>
          </a:xfrm>
          <a:prstGeom prst="roundRect">
            <a:avLst>
              <a:gd name="adj" fmla="val 13032"/>
            </a:avLst>
          </a:prstGeom>
          <a:solidFill>
            <a:srgbClr val="FFFDF8"/>
          </a:solidFill>
          <a:ln w="6350">
            <a:solidFill>
              <a:srgbClr val="BFD6D0"/>
            </a:solidFill>
            <a:prstDash val="solid"/>
          </a:ln>
        </p:spPr>
      </p:sp>
      <p:sp>
        <p:nvSpPr>
          <p:cNvPr id="38" name="Text 29"/>
          <p:cNvSpPr/>
          <p:nvPr/>
        </p:nvSpPr>
        <p:spPr>
          <a:xfrm>
            <a:off x="9029856" y="4042532"/>
            <a:ext cx="2051524"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‫אותה מערכת‬</a:t>
            </a:r>
            <a:endParaRPr lang="en-US" sz="1400" dirty="0"/>
          </a:p>
        </p:txBody>
      </p:sp>
      <p:sp>
        <p:nvSpPr>
          <p:cNvPr id="39" name="Text 30"/>
          <p:cNvSpPr/>
          <p:nvPr/>
        </p:nvSpPr>
        <p:spPr>
          <a:xfrm>
            <a:off x="9029856" y="4311686"/>
            <a:ext cx="205152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‫בלי שינוי קוד, רק קונפיג‬</a:t>
            </a:r>
            <a:endParaRPr lang="en-US" sz="1200" dirty="0"/>
          </a:p>
        </p:txBody>
      </p:sp>
      <p:sp>
        <p:nvSpPr>
          <p:cNvPr id="40" name="Text 31"/>
          <p:cNvSpPr/>
          <p:nvPr/>
        </p:nvSpPr>
        <p:spPr>
          <a:xfrm>
            <a:off x="815957" y="4894568"/>
            <a:ext cx="3431129" cy="848555"/>
          </a:xfrm>
          <a:prstGeom prst="roundRect">
            <a:avLst>
              <a:gd name="adj" fmla="val 11599"/>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‫עם פחות נתונים התוצאה בדרך כלל נמוכה יותר. השאלה היא כמה, ואילו הגדרות מאבדות הכי פחות‬</a:t>
            </a:r>
            <a:endParaRPr lang="en-US" sz="1200" dirty="0"/>
          </a:p>
        </p:txBody>
      </p:sp>
      <p:sp>
        <p:nvSpPr>
          <p:cNvPr id="41" name="Text 32"/>
          <p:cNvSpPr/>
          <p:nvPr/>
        </p:nvSpPr>
        <p:spPr>
          <a:xfrm>
            <a:off x="4380435" y="4894568"/>
            <a:ext cx="3431129" cy="848555"/>
          </a:xfrm>
          <a:prstGeom prst="roundRect">
            <a:avLst>
              <a:gd name="adj" fmla="val 11599"/>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‫לכן מדמים מקרוב: מודל מאותו סוג ותת-קבוצה עם ז׳רגון מובחן‬</a:t>
            </a:r>
            <a:endParaRPr lang="en-US" sz="1200" dirty="0"/>
          </a:p>
        </p:txBody>
      </p:sp>
      <p:sp>
        <p:nvSpPr>
          <p:cNvPr id="42" name="Text 33"/>
          <p:cNvSpPr/>
          <p:nvPr/>
        </p:nvSpPr>
        <p:spPr>
          <a:xfrm>
            <a:off x="7944914" y="4894568"/>
            <a:ext cx="3431129" cy="848555"/>
          </a:xfrm>
          <a:prstGeom prst="roundRect">
            <a:avLst>
              <a:gd name="adj" fmla="val 11599"/>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‫עובר בין הסביבות: נכונות הצינור והשיטה. לא בהכרח עוברים המספרים וההגדרות הטובות, כי המודל והתחום שונים‬</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92" y="558781"/>
            <a:ext cx="10883336"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‫הצעות לפתרון‬</a:t>
            </a:r>
            <a:endParaRPr lang="en-US" sz="1200" dirty="0"/>
          </a:p>
        </p:txBody>
      </p:sp>
      <p:sp>
        <p:nvSpPr>
          <p:cNvPr id="3" name="Text 1"/>
          <p:cNvSpPr/>
          <p:nvPr>
            <p:ph type="title"/>
          </p:nvPr>
        </p:nvSpPr>
        <p:spPr>
          <a:xfrm>
            <a:off x="495792" y="927063"/>
            <a:ext cx="10883336"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‫איך מצליחים עם מעט נתונים‬</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72" y="1385544"/>
          <a:ext cx="10554800" cy="3174639"/>
        </p:xfrm>
        <a:graphic>
          <a:graphicData uri="http://schemas.openxmlformats.org/drawingml/2006/table">
            <a:tbl>
              <a:tblPr/>
              <a:tblGrid>
                <a:gridCol w="1899864"/>
                <a:gridCol w="2955344"/>
                <a:gridCol w="2955344"/>
                <a:gridCol w="2744248"/>
              </a:tblGrid>
              <a:tr h="331571">
                <a:tc>
                  <a:txBody>
                    <a:bodyPr/>
                    <a:lstStyle/>
                    <a:p>
                      <a:pPr algn="r" indent="0" marL="0">
                        <a:lnSpc>
                          <a:spcPts val="1680"/>
                        </a:lnSpc>
                        <a:buNone/>
                      </a:pPr>
                      <a:r>
                        <a:rPr lang="en-US" sz="1200" b="1" dirty="0">
                          <a:solidFill>
                            <a:srgbClr val="F6F4EE"/>
                          </a:solidFill>
                          <a:latin typeface="Arial" pitchFamily="34" charset="0"/>
                          <a:ea typeface="Arial" pitchFamily="34" charset="-122"/>
                          <a:cs typeface="Arial" pitchFamily="34" charset="-120"/>
                        </a:rPr>
                        <a:t>‫בקוד היום‬</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680"/>
                        </a:lnSpc>
                        <a:buNone/>
                      </a:pPr>
                      <a:r>
                        <a:rPr lang="en-US" sz="1200" b="1" dirty="0">
                          <a:solidFill>
                            <a:srgbClr val="F6F4EE"/>
                          </a:solidFill>
                          <a:latin typeface="Arial" pitchFamily="34" charset="0"/>
                          <a:ea typeface="Arial" pitchFamily="34" charset="-122"/>
                          <a:cs typeface="Arial" pitchFamily="34" charset="-120"/>
                        </a:rPr>
                        <a:t>‫מה המקורות אומרים‬</a:t>
                      </a:r>
                      <a:endParaRPr lang="en-US" sz="1200" dirty="0">
                        <a:latin typeface="Arial" charset="0"/>
                        <a:ea typeface="Arial" charset="0"/>
                        <a:cs typeface="Arial" charset="0"/>
                      </a:endParaRPr>
                    </a:p>
                  </a:txBody>
                  <a:tcPr marL="53340" marR="53340" marT="53340" marB="5334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680"/>
                        </a:lnSpc>
                        <a:buNone/>
                      </a:pPr>
                      <a:r>
                        <a:rPr lang="en-US" sz="1200" b="1" dirty="0">
                          <a:solidFill>
                            <a:srgbClr val="F6F4EE"/>
                          </a:solidFill>
                          <a:latin typeface="Arial" pitchFamily="34" charset="0"/>
                          <a:ea typeface="Arial" pitchFamily="34" charset="-122"/>
                          <a:cs typeface="Arial" pitchFamily="34" charset="-120"/>
                        </a:rPr>
                        <a:t>‫למה זה עוזר‬</a:t>
                      </a:r>
                      <a:endParaRPr lang="en-US" sz="1200" dirty="0">
                        <a:latin typeface="Arial" charset="0"/>
                        <a:ea typeface="Arial" charset="0"/>
                        <a:cs typeface="Arial" charset="0"/>
                      </a:endParaRPr>
                    </a:p>
                  </a:txBody>
                  <a:tcPr marL="53340" marR="53340" marT="53340" marB="5334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680"/>
                        </a:lnSpc>
                        <a:buNone/>
                      </a:pPr>
                      <a:r>
                        <a:rPr lang="en-US" sz="1200" b="1" dirty="0">
                          <a:solidFill>
                            <a:srgbClr val="F6F4EE"/>
                          </a:solidFill>
                          <a:latin typeface="Arial" pitchFamily="34" charset="0"/>
                          <a:ea typeface="Arial" pitchFamily="34" charset="-122"/>
                          <a:cs typeface="Arial" pitchFamily="34" charset="-120"/>
                        </a:rPr>
                        <a:t>‫הצעה‬</a:t>
                      </a:r>
                      <a:endParaRPr lang="en-US" sz="1200" dirty="0">
                        <a:latin typeface="Arial" charset="0"/>
                        <a:ea typeface="Arial" charset="0"/>
                        <a:cs typeface="Arial" charset="0"/>
                      </a:endParaRPr>
                    </a:p>
                  </a:txBody>
                  <a:tcPr marL="53340" marR="53340" marT="53340" marB="5334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544982">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‫קיים. חסרה תמיכה ב-GPU‬</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‫מודלי ivrit-ai מבוססי large-v3, בין 0.8 ל-2 מיליארד פרמטרים‬</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‫קרוב ליעד, ולכן צריך פחות נתונים‬</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‫1. מודל עברי חזק ככל שהחומרה מאפשרת‬</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44982">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‫קיים‬</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‫שיטה מקובלת, בלי מקור ספציפי‬</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‫מונע שינון של מעט הנתונים‬</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‫2. אימון שמרני: קצב למידה קטן, מעט צעדים, עצירה מוקדמת‬</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544982">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‫חסר‬</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‫Pashto: שינוי מהירות ורעש שיפרו WER ב-7.25 נקודות‬</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‫מכפיל את מספר הדוגמאות האפקטיבי‬</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‫3. הגדלת נתונים: מהירות, רעש, SpecAugment‬</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1571">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‫חסר‬</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‫WiSE-FT: הוכח בעיקר על מודלי תמונה‬</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‫שומר ידע כללי ומוסיף את הז׳רגון‬</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‫4. ממוצע משקולות עם המודל המקורי‬</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544982">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‫הקפאה קיימת, LoRA חסר‬</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‫סותר: ב-Pashto, LoRA והקפאה היו גרועים מכוונון מלא‬</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‫פחות פרמטרים לאמן‬</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‫5. LoRA או הקפאת שכבות, רק אם הניסוי מראה יתרון‬</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1571">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‫חסר‬</a:t>
                      </a:r>
                      <a:endParaRPr lang="en-US" sz="1200" dirty="0">
                        <a:latin typeface="Arial" charset="0"/>
                        <a:ea typeface="Arial" charset="0"/>
                        <a:cs typeface="Arial"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‫שיטה סטטיסטית סטנדרטית‬</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‫כל הנתונים משמשים גם לאימון וגם לבחינה‬</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‫6. k-fold לפי קבוצות במקום Val יחיד‬</a:t>
                      </a:r>
                      <a:endParaRPr lang="en-US" sz="1200" dirty="0">
                        <a:latin typeface="Arial" charset="0"/>
                        <a:ea typeface="Arial" charset="0"/>
                        <a:cs typeface="Arial" charset="0"/>
                      </a:endParaRPr>
                    </a:p>
                  </a:txBody>
                  <a:tcPr marL="53340" marR="53340" marT="53340" marB="5334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5" name="Text 2"/>
          <p:cNvSpPr/>
          <p:nvPr/>
        </p:nvSpPr>
        <p:spPr>
          <a:xfrm>
            <a:off x="812782" y="4864063"/>
            <a:ext cx="1056634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‫ההמלצה: לא להניח מה עובד. כל אפשרות הופכת למפתח בקונפיג, וההקטנה ההדרגית על הנתונים מכריעה‬</a:t>
            </a:r>
            <a:endParaRPr lang="en-US" sz="1400" dirty="0"/>
          </a:p>
        </p:txBody>
      </p:sp>
      <p:sp>
        <p:nvSpPr>
          <p:cNvPr id="6" name="Text 3"/>
          <p:cNvSpPr/>
          <p:nvPr/>
        </p:nvSpPr>
        <p:spPr>
          <a:xfrm>
            <a:off x="495792" y="5518094"/>
            <a:ext cx="10883336"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670"/>
                </a:solidFill>
                <a:latin typeface="Arial" pitchFamily="34" charset="0"/>
                <a:ea typeface="Arial" pitchFamily="34" charset="-122"/>
                <a:cs typeface="Arial" pitchFamily="34" charset="-120"/>
              </a:rPr>
              <a:t>‫מקורות: arXiv 2604.06507 (Whisper לשפת Pashto, מודל קטן), arXiv 2109.01903 (WiSE-FT), huggingface.co/ivrit-ai‬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‫הרעיון בשפה פשוטה‬</a:t>
            </a:r>
            <a:endParaRPr lang="en-US" sz="1200" dirty="0"/>
          </a:p>
        </p:txBody>
      </p:sp>
      <p:sp>
        <p:nvSpPr>
          <p:cNvPr id="3" name="Text 1"/>
          <p:cNvSpPr/>
          <p:nvPr>
            <p:ph type="title"/>
          </p:nvPr>
        </p:nvSpPr>
        <p:spPr>
          <a:xfrm>
            <a:off x="495789" y="94997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‫התלמיד, התרגול והמבחן‬</a:t>
            </a:r>
            <a:endParaRPr lang="en-US" sz="3200" dirty="0"/>
          </a:p>
        </p:txBody>
      </p:sp>
      <p:sp>
        <p:nvSpPr>
          <p:cNvPr id="4" name="Text 2"/>
          <p:cNvSpPr/>
          <p:nvPr/>
        </p:nvSpPr>
        <p:spPr>
          <a:xfrm>
            <a:off x="495789" y="1574781"/>
            <a:ext cx="10883429" cy="594374"/>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46525C"/>
                </a:solidFill>
                <a:latin typeface="Arial" pitchFamily="34" charset="0"/>
                <a:ea typeface="Arial" pitchFamily="34" charset="-122"/>
                <a:cs typeface="Arial" pitchFamily="34" charset="-120"/>
              </a:rPr>
              <a:t>‫התלמיד הוא מודל Whisper: מכיר הרבה שפות, ומתקשה בעברית ובמונחים שלכם. המפעל מלמד אותו, בודק אותו, ומחליט אם הלימוד באמת עזר.‬</a:t>
            </a:r>
            <a:endParaRPr lang="en-US" sz="1600" dirty="0"/>
          </a:p>
        </p:txBody>
      </p:sp>
      <p:sp>
        <p:nvSpPr>
          <p:cNvPr id="5" name="Shape 3"/>
          <p:cNvSpPr/>
          <p:nvPr/>
        </p:nvSpPr>
        <p:spPr>
          <a:xfrm>
            <a:off x="812782" y="2321536"/>
            <a:ext cx="1778992" cy="1798295"/>
          </a:xfrm>
          <a:prstGeom prst="roundRect">
            <a:avLst>
              <a:gd name="adj" fmla="val 7139"/>
            </a:avLst>
          </a:prstGeom>
          <a:solidFill>
            <a:srgbClr val="0F2233"/>
          </a:solidFill>
          <a:ln/>
        </p:spPr>
      </p:sp>
      <p:sp>
        <p:nvSpPr>
          <p:cNvPr id="6" name="Text 4"/>
          <p:cNvSpPr/>
          <p:nvPr/>
        </p:nvSpPr>
        <p:spPr>
          <a:xfrm>
            <a:off x="914328" y="2499320"/>
            <a:ext cx="1525100" cy="431836"/>
          </a:xfrm>
          <a:prstGeom prst="rect">
            <a:avLst/>
          </a:prstGeom>
          <a:noFill/>
          <a:ln/>
        </p:spPr>
        <p:txBody>
          <a:bodyPr wrap="square" lIns="0" tIns="0" rIns="0" bIns="0" rtlCol="0" anchor="t">
            <a:normAutofit/>
          </a:bodyPr>
          <a:lstStyle/>
          <a:p>
            <a:pPr algn="r" indent="0" marL="0">
              <a:lnSpc>
                <a:spcPts val="3200"/>
              </a:lnSpc>
              <a:buNone/>
            </a:pPr>
            <a:r>
              <a:rPr lang="en-US" sz="3200" b="1" dirty="0">
                <a:solidFill>
                  <a:srgbClr val="6FD0C4"/>
                </a:solidFill>
                <a:latin typeface="Arial" pitchFamily="34" charset="0"/>
                <a:ea typeface="Arial" pitchFamily="34" charset="-122"/>
                <a:cs typeface="Arial" pitchFamily="34" charset="-120"/>
              </a:rPr>
              <a:t>5</a:t>
            </a:r>
            <a:endParaRPr lang="en-US" sz="3200" dirty="0"/>
          </a:p>
        </p:txBody>
      </p:sp>
      <p:sp>
        <p:nvSpPr>
          <p:cNvPr id="7" name="Text 5"/>
          <p:cNvSpPr/>
          <p:nvPr/>
        </p:nvSpPr>
        <p:spPr>
          <a:xfrm>
            <a:off x="914328" y="2981883"/>
            <a:ext cx="1525100"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F6F4EE"/>
                </a:solidFill>
                <a:latin typeface="Arial" pitchFamily="34" charset="0"/>
                <a:ea typeface="Arial" pitchFamily="34" charset="-122"/>
                <a:cs typeface="Arial" pitchFamily="34" charset="-120"/>
              </a:rPr>
              <a:t>‫החלטה‬</a:t>
            </a:r>
            <a:endParaRPr lang="en-US" sz="1600" dirty="0"/>
          </a:p>
        </p:txBody>
      </p:sp>
      <p:sp>
        <p:nvSpPr>
          <p:cNvPr id="8" name="Text 6"/>
          <p:cNvSpPr/>
          <p:nvPr/>
        </p:nvSpPr>
        <p:spPr>
          <a:xfrm>
            <a:off x="914328" y="3301817"/>
            <a:ext cx="1525100"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‫השתפר באמת? מאמצים. אחרת המודל המקורי נשאר‬</a:t>
            </a:r>
            <a:endParaRPr lang="en-US" sz="1200" dirty="0"/>
          </a:p>
        </p:txBody>
      </p:sp>
      <p:pic>
        <p:nvPicPr>
          <p:cNvPr id="9" name="Image 0" descr="arrow-left">    </p:cNvPr>
          <p:cNvPicPr>
            <a:picLocks noChangeAspect="1"/>
          </p:cNvPicPr>
          <p:nvPr/>
        </p:nvPicPr>
        <p:blipFill>
          <a:blip r:embed="rId1"/>
          <a:srcRect l="-11" r="-11" t="0" b="0"/>
          <a:stretch/>
        </p:blipFill>
        <p:spPr>
          <a:xfrm>
            <a:off x="2667902" y="3138106"/>
            <a:ext cx="254000" cy="165064"/>
          </a:xfrm>
          <a:prstGeom prst="rect">
            <a:avLst/>
          </a:prstGeom>
        </p:spPr>
      </p:pic>
      <p:sp>
        <p:nvSpPr>
          <p:cNvPr id="10" name="Shape 7"/>
          <p:cNvSpPr/>
          <p:nvPr/>
        </p:nvSpPr>
        <p:spPr>
          <a:xfrm>
            <a:off x="3001205" y="2324711"/>
            <a:ext cx="1784278" cy="1791945"/>
          </a:xfrm>
          <a:prstGeom prst="roundRect">
            <a:avLst>
              <a:gd name="adj" fmla="val 6940"/>
            </a:avLst>
          </a:prstGeom>
          <a:solidFill>
            <a:srgbClr val="FFFDF8"/>
          </a:solidFill>
          <a:ln w="6350">
            <a:solidFill>
              <a:srgbClr val="E2DDD0"/>
            </a:solidFill>
            <a:prstDash val="solid"/>
          </a:ln>
        </p:spPr>
      </p:sp>
      <p:sp>
        <p:nvSpPr>
          <p:cNvPr id="11" name="Text 8"/>
          <p:cNvSpPr/>
          <p:nvPr/>
        </p:nvSpPr>
        <p:spPr>
          <a:xfrm>
            <a:off x="3105348" y="2505091"/>
            <a:ext cx="1525191" cy="431836"/>
          </a:xfrm>
          <a:prstGeom prst="rect">
            <a:avLst/>
          </a:prstGeom>
          <a:noFill/>
          <a:ln/>
        </p:spPr>
        <p:txBody>
          <a:bodyPr wrap="square" lIns="0" tIns="0" rIns="0" bIns="0" rtlCol="0" anchor="t">
            <a:normAutofit/>
          </a:bodyPr>
          <a:lstStyle/>
          <a:p>
            <a:pPr algn="r" indent="0" marL="0">
              <a:lnSpc>
                <a:spcPts val="3200"/>
              </a:lnSpc>
              <a:buNone/>
            </a:pPr>
            <a:r>
              <a:rPr lang="en-US" sz="3200" b="1" dirty="0">
                <a:solidFill>
                  <a:srgbClr val="1F6F6F"/>
                </a:solidFill>
                <a:latin typeface="Arial" pitchFamily="34" charset="0"/>
                <a:ea typeface="Arial" pitchFamily="34" charset="-122"/>
                <a:cs typeface="Arial" pitchFamily="34" charset="-120"/>
              </a:rPr>
              <a:t>4</a:t>
            </a:r>
            <a:endParaRPr lang="en-US" sz="3200" dirty="0"/>
          </a:p>
        </p:txBody>
      </p:sp>
      <p:sp>
        <p:nvSpPr>
          <p:cNvPr id="12" name="Text 9"/>
          <p:cNvSpPr/>
          <p:nvPr/>
        </p:nvSpPr>
        <p:spPr>
          <a:xfrm>
            <a:off x="3105348" y="2987656"/>
            <a:ext cx="152519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‫מבחן סיום‬</a:t>
            </a:r>
            <a:endParaRPr lang="en-US" sz="1600" dirty="0"/>
          </a:p>
        </p:txBody>
      </p:sp>
      <p:sp>
        <p:nvSpPr>
          <p:cNvPr id="13" name="Text 10"/>
          <p:cNvSpPr/>
          <p:nvPr/>
        </p:nvSpPr>
        <p:spPr>
          <a:xfrm>
            <a:off x="3105348" y="3307590"/>
            <a:ext cx="152519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‫פעם אחת בלבד, למנצח בלבד. זו קבוצת Test‬</a:t>
            </a:r>
            <a:endParaRPr lang="en-US" sz="1200" dirty="0"/>
          </a:p>
        </p:txBody>
      </p:sp>
      <p:pic>
        <p:nvPicPr>
          <p:cNvPr id="14" name="Image 1" descr="arrow-left">    </p:cNvPr>
          <p:cNvPicPr>
            <a:picLocks noChangeAspect="1"/>
          </p:cNvPicPr>
          <p:nvPr/>
        </p:nvPicPr>
        <p:blipFill>
          <a:blip r:embed="rId2"/>
          <a:srcRect l="-11" r="-11" t="0" b="0"/>
          <a:stretch/>
        </p:blipFill>
        <p:spPr>
          <a:xfrm>
            <a:off x="4864785" y="3138106"/>
            <a:ext cx="254000" cy="165064"/>
          </a:xfrm>
          <a:prstGeom prst="rect">
            <a:avLst/>
          </a:prstGeom>
        </p:spPr>
      </p:pic>
      <p:sp>
        <p:nvSpPr>
          <p:cNvPr id="15" name="Shape 11"/>
          <p:cNvSpPr/>
          <p:nvPr/>
        </p:nvSpPr>
        <p:spPr>
          <a:xfrm>
            <a:off x="5198088" y="2324711"/>
            <a:ext cx="1784188" cy="1791945"/>
          </a:xfrm>
          <a:prstGeom prst="roundRect">
            <a:avLst>
              <a:gd name="adj" fmla="val 6940"/>
            </a:avLst>
          </a:prstGeom>
          <a:solidFill>
            <a:srgbClr val="FFFDF8"/>
          </a:solidFill>
          <a:ln w="6350">
            <a:solidFill>
              <a:srgbClr val="E2DDD0"/>
            </a:solidFill>
            <a:prstDash val="solid"/>
          </a:ln>
        </p:spPr>
      </p:sp>
      <p:sp>
        <p:nvSpPr>
          <p:cNvPr id="16" name="Text 12"/>
          <p:cNvSpPr/>
          <p:nvPr/>
        </p:nvSpPr>
        <p:spPr>
          <a:xfrm>
            <a:off x="5302232" y="2505091"/>
            <a:ext cx="1525100" cy="431836"/>
          </a:xfrm>
          <a:prstGeom prst="rect">
            <a:avLst/>
          </a:prstGeom>
          <a:noFill/>
          <a:ln/>
        </p:spPr>
        <p:txBody>
          <a:bodyPr wrap="square" lIns="0" tIns="0" rIns="0" bIns="0" rtlCol="0" anchor="t">
            <a:normAutofit/>
          </a:bodyPr>
          <a:lstStyle/>
          <a:p>
            <a:pPr algn="r" indent="0" marL="0">
              <a:lnSpc>
                <a:spcPts val="3200"/>
              </a:lnSpc>
              <a:buNone/>
            </a:pPr>
            <a:r>
              <a:rPr lang="en-US" sz="3200" b="1" dirty="0">
                <a:solidFill>
                  <a:srgbClr val="1F6F6F"/>
                </a:solidFill>
                <a:latin typeface="Arial" pitchFamily="34" charset="0"/>
                <a:ea typeface="Arial" pitchFamily="34" charset="-122"/>
                <a:cs typeface="Arial" pitchFamily="34" charset="-120"/>
              </a:rPr>
              <a:t>3</a:t>
            </a:r>
            <a:endParaRPr lang="en-US" sz="3200" dirty="0"/>
          </a:p>
        </p:txBody>
      </p:sp>
      <p:sp>
        <p:nvSpPr>
          <p:cNvPr id="17" name="Text 13"/>
          <p:cNvSpPr/>
          <p:nvPr/>
        </p:nvSpPr>
        <p:spPr>
          <a:xfrm>
            <a:off x="5302232" y="2987656"/>
            <a:ext cx="1525100"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‫ניסוי שיטות‬</a:t>
            </a:r>
            <a:endParaRPr lang="en-US" sz="1600" dirty="0"/>
          </a:p>
        </p:txBody>
      </p:sp>
      <p:sp>
        <p:nvSpPr>
          <p:cNvPr id="18" name="Text 14"/>
          <p:cNvSpPr/>
          <p:nvPr/>
        </p:nvSpPr>
        <p:spPr>
          <a:xfrm>
            <a:off x="5302232" y="3307590"/>
            <a:ext cx="1525100"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‫כמה קצבי למידה שונים. בוחרים את הטוב ביותר‬</a:t>
            </a:r>
            <a:endParaRPr lang="en-US" sz="1200" dirty="0"/>
          </a:p>
        </p:txBody>
      </p:sp>
      <p:pic>
        <p:nvPicPr>
          <p:cNvPr id="19" name="Image 2" descr="arrow-left">    </p:cNvPr>
          <p:cNvPicPr>
            <a:picLocks noChangeAspect="1"/>
          </p:cNvPicPr>
          <p:nvPr/>
        </p:nvPicPr>
        <p:blipFill>
          <a:blip r:embed="rId3"/>
          <a:srcRect l="-11" r="-11" t="0" b="0"/>
          <a:stretch/>
        </p:blipFill>
        <p:spPr>
          <a:xfrm>
            <a:off x="7061578" y="3138106"/>
            <a:ext cx="254000" cy="165064"/>
          </a:xfrm>
          <a:prstGeom prst="rect">
            <a:avLst/>
          </a:prstGeom>
        </p:spPr>
      </p:pic>
      <p:sp>
        <p:nvSpPr>
          <p:cNvPr id="20" name="Shape 15"/>
          <p:cNvSpPr/>
          <p:nvPr/>
        </p:nvSpPr>
        <p:spPr>
          <a:xfrm>
            <a:off x="7394881" y="2324711"/>
            <a:ext cx="1784278" cy="1791945"/>
          </a:xfrm>
          <a:prstGeom prst="roundRect">
            <a:avLst>
              <a:gd name="adj" fmla="val 6940"/>
            </a:avLst>
          </a:prstGeom>
          <a:solidFill>
            <a:srgbClr val="FFFDF8"/>
          </a:solidFill>
          <a:ln w="6350">
            <a:solidFill>
              <a:srgbClr val="E2DDD0"/>
            </a:solidFill>
            <a:prstDash val="solid"/>
          </a:ln>
        </p:spPr>
      </p:sp>
      <p:sp>
        <p:nvSpPr>
          <p:cNvPr id="21" name="Text 16"/>
          <p:cNvSpPr/>
          <p:nvPr/>
        </p:nvSpPr>
        <p:spPr>
          <a:xfrm>
            <a:off x="7499025" y="2505091"/>
            <a:ext cx="1525191" cy="431836"/>
          </a:xfrm>
          <a:prstGeom prst="rect">
            <a:avLst/>
          </a:prstGeom>
          <a:noFill/>
          <a:ln/>
        </p:spPr>
        <p:txBody>
          <a:bodyPr wrap="square" lIns="0" tIns="0" rIns="0" bIns="0" rtlCol="0" anchor="t">
            <a:normAutofit/>
          </a:bodyPr>
          <a:lstStyle/>
          <a:p>
            <a:pPr algn="r" indent="0" marL="0">
              <a:lnSpc>
                <a:spcPts val="3200"/>
              </a:lnSpc>
              <a:buNone/>
            </a:pPr>
            <a:r>
              <a:rPr lang="en-US" sz="3200" b="1" dirty="0">
                <a:solidFill>
                  <a:srgbClr val="1F6F6F"/>
                </a:solidFill>
                <a:latin typeface="Arial" pitchFamily="34" charset="0"/>
                <a:ea typeface="Arial" pitchFamily="34" charset="-122"/>
                <a:cs typeface="Arial" pitchFamily="34" charset="-120"/>
              </a:rPr>
              <a:t>2</a:t>
            </a:r>
            <a:endParaRPr lang="en-US" sz="3200" dirty="0"/>
          </a:p>
        </p:txBody>
      </p:sp>
      <p:sp>
        <p:nvSpPr>
          <p:cNvPr id="22" name="Text 17"/>
          <p:cNvSpPr/>
          <p:nvPr/>
        </p:nvSpPr>
        <p:spPr>
          <a:xfrm>
            <a:off x="7499025" y="2987656"/>
            <a:ext cx="152519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‫בדיקה‬</a:t>
            </a:r>
            <a:endParaRPr lang="en-US" sz="1600" dirty="0"/>
          </a:p>
        </p:txBody>
      </p:sp>
      <p:sp>
        <p:nvSpPr>
          <p:cNvPr id="23" name="Text 18"/>
          <p:cNvSpPr/>
          <p:nvPr/>
        </p:nvSpPr>
        <p:spPr>
          <a:xfrm>
            <a:off x="7499025" y="3307590"/>
            <a:ext cx="152519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‫מבחן תרגול על הקלטות שלא ראה. זו קבוצת Val‬</a:t>
            </a:r>
            <a:endParaRPr lang="en-US" sz="1200" dirty="0"/>
          </a:p>
        </p:txBody>
      </p:sp>
      <p:pic>
        <p:nvPicPr>
          <p:cNvPr id="24" name="Image 3" descr="arrow-left">    </p:cNvPr>
          <p:cNvPicPr>
            <a:picLocks noChangeAspect="1"/>
          </p:cNvPicPr>
          <p:nvPr/>
        </p:nvPicPr>
        <p:blipFill>
          <a:blip r:embed="rId4"/>
          <a:srcRect l="-11" r="-11" t="0" b="0"/>
          <a:stretch/>
        </p:blipFill>
        <p:spPr>
          <a:xfrm>
            <a:off x="9258462" y="3138106"/>
            <a:ext cx="254000" cy="165064"/>
          </a:xfrm>
          <a:prstGeom prst="rect">
            <a:avLst/>
          </a:prstGeom>
        </p:spPr>
      </p:pic>
      <p:sp>
        <p:nvSpPr>
          <p:cNvPr id="25" name="Shape 19"/>
          <p:cNvSpPr/>
          <p:nvPr/>
        </p:nvSpPr>
        <p:spPr>
          <a:xfrm>
            <a:off x="9591765" y="2324711"/>
            <a:ext cx="1784278" cy="1791945"/>
          </a:xfrm>
          <a:prstGeom prst="roundRect">
            <a:avLst>
              <a:gd name="adj" fmla="val 6940"/>
            </a:avLst>
          </a:prstGeom>
          <a:solidFill>
            <a:srgbClr val="FFFDF8"/>
          </a:solidFill>
          <a:ln w="6350">
            <a:solidFill>
              <a:srgbClr val="E2DDD0"/>
            </a:solidFill>
            <a:prstDash val="solid"/>
          </a:ln>
        </p:spPr>
      </p:sp>
      <p:sp>
        <p:nvSpPr>
          <p:cNvPr id="26" name="Text 20"/>
          <p:cNvSpPr/>
          <p:nvPr/>
        </p:nvSpPr>
        <p:spPr>
          <a:xfrm>
            <a:off x="9695908" y="2505091"/>
            <a:ext cx="1525191" cy="431836"/>
          </a:xfrm>
          <a:prstGeom prst="rect">
            <a:avLst/>
          </a:prstGeom>
          <a:noFill/>
          <a:ln/>
        </p:spPr>
        <p:txBody>
          <a:bodyPr wrap="square" lIns="0" tIns="0" rIns="0" bIns="0" rtlCol="0" anchor="t">
            <a:normAutofit/>
          </a:bodyPr>
          <a:lstStyle/>
          <a:p>
            <a:pPr algn="r" indent="0" marL="0">
              <a:lnSpc>
                <a:spcPts val="3200"/>
              </a:lnSpc>
              <a:buNone/>
            </a:pPr>
            <a:r>
              <a:rPr lang="en-US" sz="3200" b="1" dirty="0">
                <a:solidFill>
                  <a:srgbClr val="1F6F6F"/>
                </a:solidFill>
                <a:latin typeface="Arial" pitchFamily="34" charset="0"/>
                <a:ea typeface="Arial" pitchFamily="34" charset="-122"/>
                <a:cs typeface="Arial" pitchFamily="34" charset="-120"/>
              </a:rPr>
              <a:t>1</a:t>
            </a:r>
            <a:endParaRPr lang="en-US" sz="3200" dirty="0"/>
          </a:p>
        </p:txBody>
      </p:sp>
      <p:sp>
        <p:nvSpPr>
          <p:cNvPr id="27" name="Text 21"/>
          <p:cNvSpPr/>
          <p:nvPr/>
        </p:nvSpPr>
        <p:spPr>
          <a:xfrm>
            <a:off x="9695908" y="2987656"/>
            <a:ext cx="152519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‫תרגול‬</a:t>
            </a:r>
            <a:endParaRPr lang="en-US" sz="1600" dirty="0"/>
          </a:p>
        </p:txBody>
      </p:sp>
      <p:sp>
        <p:nvSpPr>
          <p:cNvPr id="28" name="Text 22"/>
          <p:cNvSpPr/>
          <p:nvPr/>
        </p:nvSpPr>
        <p:spPr>
          <a:xfrm>
            <a:off x="9695908" y="3307590"/>
            <a:ext cx="152519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‫הקלטות עם התמלול הנכון. זו קבוצת Train‬</a:t>
            </a:r>
            <a:endParaRPr lang="en-US" sz="1200" dirty="0"/>
          </a:p>
        </p:txBody>
      </p:sp>
      <p:sp>
        <p:nvSpPr>
          <p:cNvPr id="29" name="Text 23"/>
          <p:cNvSpPr/>
          <p:nvPr/>
        </p:nvSpPr>
        <p:spPr>
          <a:xfrm>
            <a:off x="812782" y="4297614"/>
            <a:ext cx="10566436" cy="640051"/>
          </a:xfrm>
          <a:prstGeom prst="roundRect">
            <a:avLst>
              <a:gd name="adj" fmla="val 19842"/>
            </a:avLst>
          </a:prstGeom>
          <a:solidFill>
            <a:srgbClr val="1F6F6F"/>
          </a:solidFill>
          <a:ln/>
        </p:spPr>
        <p:txBody>
          <a:bodyPr wrap="square" lIns="0" tIns="140603" rIns="191403" bIns="115203" rtlCol="0" anchor="t">
            <a:normAutofit/>
          </a:bodyPr>
          <a:lstStyle/>
          <a:p>
            <a:pPr algn="r" indent="0" marL="0">
              <a:lnSpc>
                <a:spcPts val="2240"/>
              </a:lnSpc>
              <a:buNone/>
            </a:pPr>
            <a:r>
              <a:rPr lang="en-US" sz="1600" b="1" dirty="0">
                <a:solidFill>
                  <a:srgbClr val="F6F4EE"/>
                </a:solidFill>
                <a:latin typeface="Arial" pitchFamily="34" charset="0"/>
                <a:ea typeface="Arial" pitchFamily="34" charset="-122"/>
                <a:cs typeface="Arial" pitchFamily="34" charset="-120"/>
              </a:rPr>
              <a:t>‫כל זה רץ אוטומטית: פקודה אחת, מחשב סגור, בלי אינטרנט ובלי שאלות באמצע‬</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‫המדד שמחליט‬</a:t>
            </a:r>
            <a:endParaRPr lang="en-US" sz="1200" dirty="0"/>
          </a:p>
        </p:txBody>
      </p:sp>
      <p:sp>
        <p:nvSpPr>
          <p:cNvPr id="3" name="Text 1"/>
          <p:cNvSpPr/>
          <p:nvPr>
            <p:ph type="title"/>
          </p:nvPr>
        </p:nvSpPr>
        <p:spPr>
          <a:xfrm>
            <a:off x="495789" y="94997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‫איך סופרים שגיאה: WER‬</a:t>
            </a:r>
            <a:endParaRPr lang="en-US" sz="3200" dirty="0"/>
          </a:p>
        </p:txBody>
      </p:sp>
      <p:sp>
        <p:nvSpPr>
          <p:cNvPr id="4" name="Text 2"/>
          <p:cNvSpPr/>
          <p:nvPr/>
        </p:nvSpPr>
        <p:spPr>
          <a:xfrm>
            <a:off x="495789" y="1574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C6670"/>
                </a:solidFill>
                <a:latin typeface="Arial" pitchFamily="34" charset="0"/>
                <a:ea typeface="Arial" pitchFamily="34" charset="-122"/>
                <a:cs typeface="Arial" pitchFamily="34" charset="-120"/>
              </a:rPr>
              <a:t>‫מה נאמר באמת, הטקסט הנכון (דוגמה להמחשה)‬</a:t>
            </a:r>
            <a:endParaRPr lang="en-US" sz="1200" dirty="0"/>
          </a:p>
        </p:txBody>
      </p:sp>
      <p:sp>
        <p:nvSpPr>
          <p:cNvPr id="5" name="Text 3"/>
          <p:cNvSpPr/>
          <p:nvPr/>
        </p:nvSpPr>
        <p:spPr>
          <a:xfrm>
            <a:off x="812782" y="1864320"/>
            <a:ext cx="1676436" cy="472371"/>
          </a:xfrm>
          <a:custGeom>
            <a:avLst/>
            <a:gdLst/>
            <a:ahLst/>
            <a:cxnLst/>
            <a:rect l="l" t="t" r="r" b="b"/>
            <a:pathLst>
              <a:path w="1676436" h="472371">
                <a:moveTo>
                  <a:pt x="88900" y="0"/>
                </a:moveTo>
                <a:lnTo>
                  <a:pt x="1587536" y="0"/>
                </a:lnTo>
                <a:arcTo hR="88900" wR="88900" stAng="16200000" swAng="5400000"/>
                <a:lnTo>
                  <a:pt x="1676436"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‫היום‬</a:t>
            </a:r>
            <a:endParaRPr lang="en-US" sz="1600" dirty="0"/>
          </a:p>
        </p:txBody>
      </p:sp>
      <p:sp>
        <p:nvSpPr>
          <p:cNvPr id="6" name="Text 4"/>
          <p:cNvSpPr/>
          <p:nvPr/>
        </p:nvSpPr>
        <p:spPr>
          <a:xfrm>
            <a:off x="2590782" y="1864320"/>
            <a:ext cx="1676436" cy="472371"/>
          </a:xfrm>
          <a:custGeom>
            <a:avLst/>
            <a:gdLst/>
            <a:ahLst/>
            <a:cxnLst/>
            <a:rect l="l" t="t" r="r" b="b"/>
            <a:pathLst>
              <a:path w="1676436" h="472371">
                <a:moveTo>
                  <a:pt x="88900" y="0"/>
                </a:moveTo>
                <a:lnTo>
                  <a:pt x="1587536" y="0"/>
                </a:lnTo>
                <a:arcTo hR="88900" wR="88900" stAng="16200000" swAng="5400000"/>
                <a:lnTo>
                  <a:pt x="1676436"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‫ממונות‬</a:t>
            </a:r>
            <a:endParaRPr lang="en-US" sz="1600" dirty="0"/>
          </a:p>
        </p:txBody>
      </p:sp>
      <p:sp>
        <p:nvSpPr>
          <p:cNvPr id="7" name="Text 5"/>
          <p:cNvSpPr/>
          <p:nvPr/>
        </p:nvSpPr>
        <p:spPr>
          <a:xfrm>
            <a:off x="4368782" y="1864320"/>
            <a:ext cx="1676436" cy="472371"/>
          </a:xfrm>
          <a:custGeom>
            <a:avLst/>
            <a:gdLst/>
            <a:ahLst/>
            <a:cxnLst/>
            <a:rect l="l" t="t" r="r" b="b"/>
            <a:pathLst>
              <a:path w="1676436" h="472371">
                <a:moveTo>
                  <a:pt x="88900" y="0"/>
                </a:moveTo>
                <a:lnTo>
                  <a:pt x="1587536" y="0"/>
                </a:lnTo>
                <a:arcTo hR="88900" wR="88900" stAng="16200000" swAng="5400000"/>
                <a:lnTo>
                  <a:pt x="1676436"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‫בדיני‬</a:t>
            </a:r>
            <a:endParaRPr lang="en-US" sz="1600" dirty="0"/>
          </a:p>
        </p:txBody>
      </p:sp>
      <p:sp>
        <p:nvSpPr>
          <p:cNvPr id="8" name="Text 6"/>
          <p:cNvSpPr/>
          <p:nvPr/>
        </p:nvSpPr>
        <p:spPr>
          <a:xfrm>
            <a:off x="6146782" y="1864320"/>
            <a:ext cx="1676436" cy="472371"/>
          </a:xfrm>
          <a:custGeom>
            <a:avLst/>
            <a:gdLst/>
            <a:ahLst/>
            <a:cxnLst/>
            <a:rect l="l" t="t" r="r" b="b"/>
            <a:pathLst>
              <a:path w="1676436" h="472371">
                <a:moveTo>
                  <a:pt x="88900" y="0"/>
                </a:moveTo>
                <a:lnTo>
                  <a:pt x="1587536" y="0"/>
                </a:lnTo>
                <a:arcTo hR="88900" wR="88900" stAng="16200000" swAng="5400000"/>
                <a:lnTo>
                  <a:pt x="1676436"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‫עוסק‬</a:t>
            </a:r>
            <a:endParaRPr lang="en-US" sz="1600" dirty="0"/>
          </a:p>
        </p:txBody>
      </p:sp>
      <p:sp>
        <p:nvSpPr>
          <p:cNvPr id="9" name="Text 7"/>
          <p:cNvSpPr/>
          <p:nvPr/>
        </p:nvSpPr>
        <p:spPr>
          <a:xfrm>
            <a:off x="7924781" y="1864320"/>
            <a:ext cx="1676436" cy="472371"/>
          </a:xfrm>
          <a:custGeom>
            <a:avLst/>
            <a:gdLst/>
            <a:ahLst/>
            <a:cxnLst/>
            <a:rect l="l" t="t" r="r" b="b"/>
            <a:pathLst>
              <a:path w="1676436" h="472371">
                <a:moveTo>
                  <a:pt x="88900" y="0"/>
                </a:moveTo>
                <a:lnTo>
                  <a:pt x="1587536" y="0"/>
                </a:lnTo>
                <a:arcTo hR="88900" wR="88900" stAng="16200000" swAng="5400000"/>
                <a:lnTo>
                  <a:pt x="1676436"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‫היומי‬</a:t>
            </a:r>
            <a:endParaRPr lang="en-US" sz="1600" dirty="0"/>
          </a:p>
        </p:txBody>
      </p:sp>
      <p:sp>
        <p:nvSpPr>
          <p:cNvPr id="10" name="Text 8"/>
          <p:cNvSpPr/>
          <p:nvPr/>
        </p:nvSpPr>
        <p:spPr>
          <a:xfrm>
            <a:off x="9702781" y="1864320"/>
            <a:ext cx="1676436" cy="472371"/>
          </a:xfrm>
          <a:custGeom>
            <a:avLst/>
            <a:gdLst/>
            <a:ahLst/>
            <a:cxnLst/>
            <a:rect l="l" t="t" r="r" b="b"/>
            <a:pathLst>
              <a:path w="1676436" h="472371">
                <a:moveTo>
                  <a:pt x="88900" y="0"/>
                </a:moveTo>
                <a:lnTo>
                  <a:pt x="1587536" y="0"/>
                </a:lnTo>
                <a:arcTo hR="88900" wR="88900" stAng="16200000" swAng="5400000"/>
                <a:lnTo>
                  <a:pt x="1676436"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‫הדף‬</a:t>
            </a:r>
            <a:endParaRPr lang="en-US" sz="1600" dirty="0"/>
          </a:p>
        </p:txBody>
      </p:sp>
      <p:sp>
        <p:nvSpPr>
          <p:cNvPr id="11" name="Text 9"/>
          <p:cNvSpPr/>
          <p:nvPr/>
        </p:nvSpPr>
        <p:spPr>
          <a:xfrm>
            <a:off x="495789" y="2412817"/>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C6670"/>
                </a:solidFill>
                <a:latin typeface="Arial" pitchFamily="34" charset="0"/>
                <a:ea typeface="Arial" pitchFamily="34" charset="-122"/>
                <a:cs typeface="Arial" pitchFamily="34" charset="-120"/>
              </a:rPr>
              <a:t>‫מה המודל כתב‬</a:t>
            </a:r>
            <a:endParaRPr lang="en-US" sz="1200" dirty="0"/>
          </a:p>
        </p:txBody>
      </p:sp>
      <p:sp>
        <p:nvSpPr>
          <p:cNvPr id="12" name="Text 10"/>
          <p:cNvSpPr/>
          <p:nvPr/>
        </p:nvSpPr>
        <p:spPr>
          <a:xfrm>
            <a:off x="819132" y="2708706"/>
            <a:ext cx="1662563" cy="459671"/>
          </a:xfrm>
          <a:custGeom>
            <a:avLst/>
            <a:gdLst/>
            <a:ahLst/>
            <a:cxnLst/>
            <a:rect l="l" t="t" r="r" b="b"/>
            <a:pathLst>
              <a:path w="1662563" h="459671">
                <a:moveTo>
                  <a:pt x="82550" y="0"/>
                </a:moveTo>
                <a:lnTo>
                  <a:pt x="1580013" y="0"/>
                </a:lnTo>
                <a:arcTo hR="82550" wR="82550" stAng="16200000" swAng="5400000"/>
                <a:lnTo>
                  <a:pt x="1662563" y="377121"/>
                </a:lnTo>
                <a:arcTo hR="82550" wR="82550" stAng="0" swAng="5400000"/>
                <a:lnTo>
                  <a:pt x="82550" y="459671"/>
                </a:lnTo>
                <a:arcTo hR="82550" wR="82550" stAng="5400000" swAng="5400000"/>
                <a:lnTo>
                  <a:pt x="0" y="82550"/>
                </a:lnTo>
                <a:arcTo hR="82550" wR="82550" stAng="10800000" swAng="5400000"/>
                <a:close/>
              </a:path>
            </a:pathLst>
          </a:custGeom>
          <a:solidFill>
            <a:srgbClr val="F6F4EE"/>
          </a:solidFill>
          <a:ln w="12700">
            <a:solidFill>
              <a:srgbClr val="B8481A"/>
            </a:solidFill>
            <a:prstDash val="dash"/>
          </a:ln>
        </p:spPr>
        <p:txBody>
          <a:bodyPr wrap="square" lIns="17895" tIns="106795" rIns="17895" bIns="81395" rtlCol="0" anchor="t">
            <a:normAutofit/>
          </a:bodyPr>
          <a:lstStyle/>
          <a:p>
            <a:pPr algn="ctr" indent="0" marL="0">
              <a:lnSpc>
                <a:spcPts val="1920"/>
              </a:lnSpc>
              <a:buNone/>
            </a:pPr>
            <a:r>
              <a:rPr lang="en-US" sz="1600" b="1" dirty="0">
                <a:solidFill>
                  <a:srgbClr val="B8481A"/>
                </a:solidFill>
                <a:latin typeface="Arial" pitchFamily="34" charset="0"/>
                <a:ea typeface="Arial" pitchFamily="34" charset="-122"/>
                <a:cs typeface="Arial" pitchFamily="34" charset="-120"/>
              </a:rPr>
              <a:t>‫חסר‬</a:t>
            </a:r>
            <a:endParaRPr lang="en-US" sz="1600" dirty="0"/>
          </a:p>
        </p:txBody>
      </p:sp>
      <p:sp>
        <p:nvSpPr>
          <p:cNvPr id="13" name="Text 11"/>
          <p:cNvSpPr/>
          <p:nvPr/>
        </p:nvSpPr>
        <p:spPr>
          <a:xfrm>
            <a:off x="2589609" y="2702356"/>
            <a:ext cx="1677609" cy="472371"/>
          </a:xfrm>
          <a:custGeom>
            <a:avLst/>
            <a:gdLst/>
            <a:ahLst/>
            <a:cxnLst/>
            <a:rect l="l" t="t" r="r" b="b"/>
            <a:pathLst>
              <a:path w="1677609" h="472371">
                <a:moveTo>
                  <a:pt x="88900" y="0"/>
                </a:moveTo>
                <a:lnTo>
                  <a:pt x="1588709" y="0"/>
                </a:lnTo>
                <a:arcTo hR="88900" wR="88900" stAng="16200000" swAng="5400000"/>
                <a:lnTo>
                  <a:pt x="1677609"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‫ממונות‬</a:t>
            </a:r>
            <a:endParaRPr lang="en-US" sz="1600" dirty="0"/>
          </a:p>
        </p:txBody>
      </p:sp>
      <p:sp>
        <p:nvSpPr>
          <p:cNvPr id="14" name="Text 12"/>
          <p:cNvSpPr/>
          <p:nvPr/>
        </p:nvSpPr>
        <p:spPr>
          <a:xfrm>
            <a:off x="4375132" y="2708706"/>
            <a:ext cx="1662563" cy="459671"/>
          </a:xfrm>
          <a:custGeom>
            <a:avLst/>
            <a:gdLst/>
            <a:ahLst/>
            <a:cxnLst/>
            <a:rect l="l" t="t" r="r" b="b"/>
            <a:pathLst>
              <a:path w="1662563" h="459671">
                <a:moveTo>
                  <a:pt x="82550" y="0"/>
                </a:moveTo>
                <a:lnTo>
                  <a:pt x="1580013" y="0"/>
                </a:lnTo>
                <a:arcTo hR="82550" wR="82550" stAng="16200000" swAng="5400000"/>
                <a:lnTo>
                  <a:pt x="1662563" y="377121"/>
                </a:lnTo>
                <a:arcTo hR="82550" wR="82550" stAng="0" swAng="5400000"/>
                <a:lnTo>
                  <a:pt x="82550" y="459671"/>
                </a:lnTo>
                <a:arcTo hR="82550" wR="82550" stAng="5400000" swAng="5400000"/>
                <a:lnTo>
                  <a:pt x="0" y="82550"/>
                </a:lnTo>
                <a:arcTo hR="82550" wR="82550" stAng="10800000" swAng="5400000"/>
                <a:close/>
              </a:path>
            </a:pathLst>
          </a:custGeom>
          <a:solidFill>
            <a:srgbClr val="F6E3D8"/>
          </a:solidFill>
          <a:ln w="12700">
            <a:solidFill>
              <a:srgbClr val="B8481A"/>
            </a:solidFill>
            <a:prstDash val="solid"/>
          </a:ln>
        </p:spPr>
        <p:txBody>
          <a:bodyPr wrap="square" lIns="17895" tIns="106795" rIns="17895" bIns="81395"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‫דיני‬</a:t>
            </a:r>
            <a:endParaRPr lang="en-US" sz="1600" dirty="0"/>
          </a:p>
        </p:txBody>
      </p:sp>
      <p:sp>
        <p:nvSpPr>
          <p:cNvPr id="15" name="Text 13"/>
          <p:cNvSpPr/>
          <p:nvPr/>
        </p:nvSpPr>
        <p:spPr>
          <a:xfrm>
            <a:off x="6145609" y="2702356"/>
            <a:ext cx="1677609" cy="472371"/>
          </a:xfrm>
          <a:custGeom>
            <a:avLst/>
            <a:gdLst/>
            <a:ahLst/>
            <a:cxnLst/>
            <a:rect l="l" t="t" r="r" b="b"/>
            <a:pathLst>
              <a:path w="1677609" h="472371">
                <a:moveTo>
                  <a:pt x="88900" y="0"/>
                </a:moveTo>
                <a:lnTo>
                  <a:pt x="1588709" y="0"/>
                </a:lnTo>
                <a:arcTo hR="88900" wR="88900" stAng="16200000" swAng="5400000"/>
                <a:lnTo>
                  <a:pt x="1677609"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‫עוסק‬</a:t>
            </a:r>
            <a:endParaRPr lang="en-US" sz="1600" dirty="0"/>
          </a:p>
        </p:txBody>
      </p:sp>
      <p:sp>
        <p:nvSpPr>
          <p:cNvPr id="16" name="Text 14"/>
          <p:cNvSpPr/>
          <p:nvPr/>
        </p:nvSpPr>
        <p:spPr>
          <a:xfrm>
            <a:off x="7931131" y="2708706"/>
            <a:ext cx="1662563" cy="459671"/>
          </a:xfrm>
          <a:custGeom>
            <a:avLst/>
            <a:gdLst/>
            <a:ahLst/>
            <a:cxnLst/>
            <a:rect l="l" t="t" r="r" b="b"/>
            <a:pathLst>
              <a:path w="1662563" h="459671">
                <a:moveTo>
                  <a:pt x="82550" y="0"/>
                </a:moveTo>
                <a:lnTo>
                  <a:pt x="1580013" y="0"/>
                </a:lnTo>
                <a:arcTo hR="82550" wR="82550" stAng="16200000" swAng="5400000"/>
                <a:lnTo>
                  <a:pt x="1662563" y="377121"/>
                </a:lnTo>
                <a:arcTo hR="82550" wR="82550" stAng="0" swAng="5400000"/>
                <a:lnTo>
                  <a:pt x="82550" y="459671"/>
                </a:lnTo>
                <a:arcTo hR="82550" wR="82550" stAng="5400000" swAng="5400000"/>
                <a:lnTo>
                  <a:pt x="0" y="82550"/>
                </a:lnTo>
                <a:arcTo hR="82550" wR="82550" stAng="10800000" swAng="5400000"/>
                <a:close/>
              </a:path>
            </a:pathLst>
          </a:custGeom>
          <a:solidFill>
            <a:srgbClr val="F6E3D8"/>
          </a:solidFill>
          <a:ln w="12700">
            <a:solidFill>
              <a:srgbClr val="B8481A"/>
            </a:solidFill>
            <a:prstDash val="solid"/>
          </a:ln>
        </p:spPr>
        <p:txBody>
          <a:bodyPr wrap="square" lIns="17895" tIns="106795" rIns="17895" bIns="81395"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‫היום‬</a:t>
            </a:r>
            <a:endParaRPr lang="en-US" sz="1600" dirty="0"/>
          </a:p>
        </p:txBody>
      </p:sp>
      <p:sp>
        <p:nvSpPr>
          <p:cNvPr id="17" name="Text 15"/>
          <p:cNvSpPr/>
          <p:nvPr/>
        </p:nvSpPr>
        <p:spPr>
          <a:xfrm>
            <a:off x="9701609" y="2702356"/>
            <a:ext cx="1677609" cy="472371"/>
          </a:xfrm>
          <a:custGeom>
            <a:avLst/>
            <a:gdLst/>
            <a:ahLst/>
            <a:cxnLst/>
            <a:rect l="l" t="t" r="r" b="b"/>
            <a:pathLst>
              <a:path w="1677609" h="472371">
                <a:moveTo>
                  <a:pt x="88900" y="0"/>
                </a:moveTo>
                <a:lnTo>
                  <a:pt x="1588709" y="0"/>
                </a:lnTo>
                <a:arcTo hR="88900" wR="88900" stAng="16200000" swAng="5400000"/>
                <a:lnTo>
                  <a:pt x="1677609" y="383471"/>
                </a:lnTo>
                <a:arcTo hR="88900" wR="88900" stAng="0" swAng="5400000"/>
                <a:lnTo>
                  <a:pt x="88900" y="472371"/>
                </a:lnTo>
                <a:arcTo hR="88900" wR="88900" stAng="5400000" swAng="5400000"/>
                <a:lnTo>
                  <a:pt x="0" y="88900"/>
                </a:lnTo>
                <a:arcTo hR="88900" wR="88900" stAng="10800000" swAng="5400000"/>
                <a:close/>
              </a:path>
            </a:pathLst>
          </a:custGeom>
          <a:solidFill>
            <a:srgbClr val="E9E5D8"/>
          </a:solidFill>
          <a:ln/>
        </p:spPr>
        <p:txBody>
          <a:bodyPr wrap="square" lIns="25400" tIns="114300" rIns="25400" bIns="88900" rtlCol="0" anchor="t">
            <a:normAutofit/>
          </a:bodyPr>
          <a:lstStyle/>
          <a:p>
            <a:pPr algn="ctr" indent="0" marL="0">
              <a:lnSpc>
                <a:spcPts val="1920"/>
              </a:lnSpc>
              <a:buNone/>
            </a:pPr>
            <a:r>
              <a:rPr lang="en-US" sz="1600" b="1" dirty="0">
                <a:solidFill>
                  <a:srgbClr val="0F2233"/>
                </a:solidFill>
                <a:latin typeface="Arial" pitchFamily="34" charset="0"/>
                <a:ea typeface="Arial" pitchFamily="34" charset="-122"/>
                <a:cs typeface="Arial" pitchFamily="34" charset="-120"/>
              </a:rPr>
              <a:t>‫הדף‬</a:t>
            </a:r>
            <a:endParaRPr lang="en-US" sz="1600" dirty="0"/>
          </a:p>
        </p:txBody>
      </p:sp>
      <p:sp>
        <p:nvSpPr>
          <p:cNvPr id="18" name="Shape 16"/>
          <p:cNvSpPr/>
          <p:nvPr/>
        </p:nvSpPr>
        <p:spPr>
          <a:xfrm>
            <a:off x="812782" y="3352509"/>
            <a:ext cx="10566436" cy="1429472"/>
          </a:xfrm>
          <a:prstGeom prst="roundRect">
            <a:avLst>
              <a:gd name="adj" fmla="val 8884"/>
            </a:avLst>
          </a:prstGeom>
          <a:solidFill>
            <a:srgbClr val="0F2233"/>
          </a:solidFill>
          <a:ln/>
        </p:spPr>
      </p:sp>
      <p:sp>
        <p:nvSpPr>
          <p:cNvPr id="19" name="Text 17"/>
          <p:cNvSpPr/>
          <p:nvPr/>
        </p:nvSpPr>
        <p:spPr>
          <a:xfrm>
            <a:off x="993249" y="3693914"/>
            <a:ext cx="5049284" cy="360669"/>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F6F4EE"/>
                </a:solidFill>
                <a:latin typeface="Arial" pitchFamily="34" charset="0"/>
                <a:ea typeface="Arial" pitchFamily="34" charset="-122"/>
                <a:cs typeface="Arial" pitchFamily="34" charset="-120"/>
              </a:rPr>
              <a:t>WER = (S + D + I) / N</a:t>
            </a:r>
            <a:endParaRPr lang="en-US" sz="2200" dirty="0"/>
          </a:p>
        </p:txBody>
      </p:sp>
      <p:sp>
        <p:nvSpPr>
          <p:cNvPr id="20" name="Text 18"/>
          <p:cNvSpPr/>
          <p:nvPr/>
        </p:nvSpPr>
        <p:spPr>
          <a:xfrm>
            <a:off x="993249" y="4105309"/>
            <a:ext cx="5049284" cy="360669"/>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F2A36B"/>
                </a:solidFill>
                <a:latin typeface="Arial" pitchFamily="34" charset="0"/>
                <a:ea typeface="Arial" pitchFamily="34" charset="-122"/>
                <a:cs typeface="Arial" pitchFamily="34" charset="-120"/>
              </a:rPr>
              <a:t>= (2 + 1 + 0) / 6 = 50%</a:t>
            </a:r>
            <a:endParaRPr lang="en-US" sz="2200" dirty="0"/>
          </a:p>
        </p:txBody>
      </p:sp>
      <p:sp>
        <p:nvSpPr>
          <p:cNvPr id="21" name="Text 19"/>
          <p:cNvSpPr/>
          <p:nvPr/>
        </p:nvSpPr>
        <p:spPr>
          <a:xfrm>
            <a:off x="6075933" y="3530293"/>
            <a:ext cx="5049284"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‫החלפות (S): 2‬</a:t>
            </a:r>
            <a:endParaRPr lang="en-US" sz="1400" dirty="0"/>
          </a:p>
        </p:txBody>
      </p:sp>
      <p:sp>
        <p:nvSpPr>
          <p:cNvPr id="22" name="Text 20"/>
          <p:cNvSpPr/>
          <p:nvPr/>
        </p:nvSpPr>
        <p:spPr>
          <a:xfrm>
            <a:off x="6075933" y="3808285"/>
            <a:ext cx="5049284"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‫מחיקות (D): 1‬</a:t>
            </a:r>
            <a:endParaRPr lang="en-US" sz="1400" dirty="0"/>
          </a:p>
        </p:txBody>
      </p:sp>
      <p:sp>
        <p:nvSpPr>
          <p:cNvPr id="23" name="Text 21"/>
          <p:cNvSpPr/>
          <p:nvPr/>
        </p:nvSpPr>
        <p:spPr>
          <a:xfrm>
            <a:off x="6075933" y="4086278"/>
            <a:ext cx="5049284"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‫הוספות (I): 0‬</a:t>
            </a:r>
            <a:endParaRPr lang="en-US" sz="1400" dirty="0"/>
          </a:p>
        </p:txBody>
      </p:sp>
      <p:sp>
        <p:nvSpPr>
          <p:cNvPr id="24" name="Text 22"/>
          <p:cNvSpPr/>
          <p:nvPr/>
        </p:nvSpPr>
        <p:spPr>
          <a:xfrm>
            <a:off x="6075933" y="4364270"/>
            <a:ext cx="5049284"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‫מילים בטקסט הנכון (N): 6‬</a:t>
            </a:r>
            <a:endParaRPr lang="en-US" sz="1400" dirty="0"/>
          </a:p>
        </p:txBody>
      </p:sp>
      <p:sp>
        <p:nvSpPr>
          <p:cNvPr id="25" name="Text 23"/>
          <p:cNvSpPr/>
          <p:nvPr/>
        </p:nvSpPr>
        <p:spPr>
          <a:xfrm>
            <a:off x="815957" y="4962937"/>
            <a:ext cx="3414171" cy="686016"/>
          </a:xfrm>
          <a:prstGeom prst="roundRect">
            <a:avLst>
              <a:gd name="adj" fmla="val 14347"/>
            </a:avLst>
          </a:prstGeom>
          <a:solidFill>
            <a:srgbClr val="FFFDF8"/>
          </a:solidFill>
          <a:ln w="6350">
            <a:solidFill>
              <a:srgbClr val="E2DDD0"/>
            </a:solidFill>
            <a:prstDash val="solid"/>
          </a:ln>
        </p:spPr>
        <p:txBody>
          <a:bodyPr wrap="square" lIns="33045"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‫המדידה על eval_text, הטקסט המנורמל, כדי שפיסוק לא ייחשב שגיאה‬</a:t>
            </a:r>
            <a:endParaRPr lang="en-US" sz="1200" dirty="0"/>
          </a:p>
        </p:txBody>
      </p:sp>
      <p:sp>
        <p:nvSpPr>
          <p:cNvPr id="26" name="Text 24"/>
          <p:cNvSpPr/>
          <p:nvPr/>
        </p:nvSpPr>
        <p:spPr>
          <a:xfrm>
            <a:off x="4388824" y="4962937"/>
            <a:ext cx="3414261" cy="686016"/>
          </a:xfrm>
          <a:prstGeom prst="roundRect">
            <a:avLst>
              <a:gd name="adj" fmla="val 14347"/>
            </a:avLst>
          </a:prstGeom>
          <a:solidFill>
            <a:srgbClr val="FFFDF8"/>
          </a:solidFill>
          <a:ln w="6350">
            <a:solidFill>
              <a:srgbClr val="E2DDD0"/>
            </a:solidFill>
            <a:prstDash val="solid"/>
          </a:ln>
        </p:spPr>
        <p:txBody>
          <a:bodyPr wrap="square" lIns="33042"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‫פחות = טוב יותר. WER מעל 1.0 אפשרי: יותר שגיאות ממילים בטקסט הנכון‬</a:t>
            </a:r>
            <a:endParaRPr lang="en-US" sz="1200" dirty="0"/>
          </a:p>
        </p:txBody>
      </p:sp>
      <p:sp>
        <p:nvSpPr>
          <p:cNvPr id="27" name="Text 25"/>
          <p:cNvSpPr/>
          <p:nvPr/>
        </p:nvSpPr>
        <p:spPr>
          <a:xfrm>
            <a:off x="7961781" y="4962937"/>
            <a:ext cx="3414261" cy="686016"/>
          </a:xfrm>
          <a:prstGeom prst="roundRect">
            <a:avLst>
              <a:gd name="adj" fmla="val 14347"/>
            </a:avLst>
          </a:prstGeom>
          <a:solidFill>
            <a:srgbClr val="FFFDF8"/>
          </a:solidFill>
          <a:ln w="6350">
            <a:solidFill>
              <a:srgbClr val="E2DDD0"/>
            </a:solidFill>
            <a:prstDash val="solid"/>
          </a:ln>
        </p:spPr>
        <p:txBody>
          <a:bodyPr wrap="square" lIns="33042"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a:t>
            </a:r>
            <a:r>
              <a:rPr lang="en-US" sz="1200" b="1" dirty="0">
                <a:solidFill>
                  <a:srgbClr val="46525C"/>
                </a:solidFill>
                <a:latin typeface="Arial" pitchFamily="34" charset="0"/>
                <a:ea typeface="Arial" pitchFamily="34" charset="-122"/>
                <a:cs typeface="Arial" pitchFamily="34" charset="-120"/>
              </a:rPr>
              <a:t>CER</a:t>
            </a:r>
            <a:r>
              <a:rPr lang="en-US" sz="1200" dirty="0">
                <a:solidFill>
                  <a:srgbClr val="46525C"/>
                </a:solidFill>
                <a:latin typeface="Arial" pitchFamily="34" charset="0"/>
                <a:ea typeface="Arial" pitchFamily="34" charset="-122"/>
                <a:cs typeface="Arial" pitchFamily="34" charset="-120"/>
              </a:rPr>
              <a:t> הוא אותו חישוב, על אותיות במקום מילים‬</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‫התמונה הגדולה‬</a:t>
            </a:r>
            <a:endParaRPr lang="en-US" sz="1200" dirty="0"/>
          </a:p>
        </p:txBody>
      </p:sp>
      <p:sp>
        <p:nvSpPr>
          <p:cNvPr id="3" name="Text 1"/>
          <p:cNvSpPr/>
          <p:nvPr>
            <p:ph type="title"/>
          </p:nvPr>
        </p:nvSpPr>
        <p:spPr>
          <a:xfrm>
            <a:off x="495789" y="94997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‫קלט, מפעל, פלט‬</a:t>
            </a:r>
            <a:endParaRPr lang="en-US" sz="3200" dirty="0"/>
          </a:p>
        </p:txBody>
      </p:sp>
      <p:sp>
        <p:nvSpPr>
          <p:cNvPr id="4" name="Shape 2"/>
          <p:cNvSpPr/>
          <p:nvPr/>
        </p:nvSpPr>
        <p:spPr>
          <a:xfrm>
            <a:off x="9601127" y="1701781"/>
            <a:ext cx="1778000" cy="3937000"/>
          </a:xfrm>
          <a:prstGeom prst="roundRect">
            <a:avLst>
              <a:gd name="adj" fmla="val 8571"/>
            </a:avLst>
          </a:prstGeom>
          <a:solidFill>
            <a:srgbClr val="0F2233"/>
          </a:solidFill>
          <a:ln/>
        </p:spPr>
      </p:sp>
      <p:sp>
        <p:nvSpPr>
          <p:cNvPr id="5" name="Text 3"/>
          <p:cNvSpPr/>
          <p:nvPr/>
        </p:nvSpPr>
        <p:spPr>
          <a:xfrm>
            <a:off x="9728109" y="1879563"/>
            <a:ext cx="1473236"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6FD0C4"/>
                </a:solidFill>
                <a:latin typeface="Arial" pitchFamily="34" charset="0"/>
                <a:ea typeface="Arial" pitchFamily="34" charset="-122"/>
                <a:cs typeface="Arial" pitchFamily="34" charset="-120"/>
              </a:rPr>
              <a:t>‫קלט‬</a:t>
            </a:r>
            <a:endParaRPr lang="en-US" sz="2000" dirty="0"/>
          </a:p>
        </p:txBody>
      </p:sp>
      <p:sp>
        <p:nvSpPr>
          <p:cNvPr id="6" name="Text 4"/>
          <p:cNvSpPr/>
          <p:nvPr/>
        </p:nvSpPr>
        <p:spPr>
          <a:xfrm>
            <a:off x="9778909" y="2273191"/>
            <a:ext cx="1422436" cy="383345"/>
          </a:xfrm>
          <a:prstGeom prst="roundRect">
            <a:avLst>
              <a:gd name="adj" fmla="val 19878"/>
            </a:avLst>
          </a:prstGeom>
          <a:solidFill>
            <a:srgbClr val="F6F4EE">
              <a:alpha val="10000"/>
            </a:srgbClr>
          </a:solidFill>
          <a:ln/>
        </p:spPr>
        <p:txBody>
          <a:bodyPr wrap="square" lIns="28482" tIns="53882" rIns="79282" bIns="28482" rtlCol="0" anchor="t">
            <a:normAutofit/>
          </a:bodyPr>
          <a:lstStyle/>
          <a:p>
            <a:pPr algn="r" indent="0" marL="0">
              <a:lnSpc>
                <a:spcPts val="1820"/>
              </a:lnSpc>
              <a:buNone/>
            </a:pPr>
            <a:r>
              <a:rPr lang="en-US" sz="1400" dirty="0">
                <a:solidFill>
                  <a:srgbClr val="F6F4EE"/>
                </a:solidFill>
                <a:latin typeface="Arial" pitchFamily="34" charset="0"/>
                <a:ea typeface="Arial" pitchFamily="34" charset="-122"/>
                <a:cs typeface="Arial" pitchFamily="34" charset="-120"/>
              </a:rPr>
              <a:t>‫הקלטות אודיו‬</a:t>
            </a:r>
            <a:endParaRPr lang="en-US" sz="1400" dirty="0"/>
          </a:p>
        </p:txBody>
      </p:sp>
      <p:sp>
        <p:nvSpPr>
          <p:cNvPr id="7" name="Text 5"/>
          <p:cNvSpPr/>
          <p:nvPr/>
        </p:nvSpPr>
        <p:spPr>
          <a:xfrm>
            <a:off x="9778909" y="2745380"/>
            <a:ext cx="1422436" cy="614435"/>
          </a:xfrm>
          <a:prstGeom prst="roundRect">
            <a:avLst>
              <a:gd name="adj" fmla="val 12402"/>
            </a:avLst>
          </a:prstGeom>
          <a:solidFill>
            <a:srgbClr val="F6F4EE">
              <a:alpha val="10000"/>
            </a:srgbClr>
          </a:solidFill>
          <a:ln/>
        </p:spPr>
        <p:txBody>
          <a:bodyPr wrap="square" lIns="28482" tIns="53882" rIns="79282" bIns="28482" rtlCol="0" anchor="t">
            <a:normAutofit/>
          </a:bodyPr>
          <a:lstStyle/>
          <a:p>
            <a:pPr algn="r" indent="0" marL="0">
              <a:lnSpc>
                <a:spcPts val="1820"/>
              </a:lnSpc>
              <a:buNone/>
            </a:pPr>
            <a:r>
              <a:rPr lang="en-US" sz="1400" dirty="0">
                <a:solidFill>
                  <a:srgbClr val="F6F4EE"/>
                </a:solidFill>
                <a:latin typeface="Arial" pitchFamily="34" charset="0"/>
                <a:ea typeface="Arial" pitchFamily="34" charset="-122"/>
                <a:cs typeface="Arial" pitchFamily="34" charset="-120"/>
              </a:rPr>
              <a:t>‫התמלול הנכון לכל קטע‬</a:t>
            </a:r>
            <a:endParaRPr lang="en-US" sz="1400" dirty="0"/>
          </a:p>
        </p:txBody>
      </p:sp>
      <p:sp>
        <p:nvSpPr>
          <p:cNvPr id="8" name="Text 6"/>
          <p:cNvSpPr/>
          <p:nvPr/>
        </p:nvSpPr>
        <p:spPr>
          <a:xfrm>
            <a:off x="9778909" y="3448661"/>
            <a:ext cx="1422436" cy="614435"/>
          </a:xfrm>
          <a:prstGeom prst="roundRect">
            <a:avLst>
              <a:gd name="adj" fmla="val 12402"/>
            </a:avLst>
          </a:prstGeom>
          <a:solidFill>
            <a:srgbClr val="F6F4EE">
              <a:alpha val="10000"/>
            </a:srgbClr>
          </a:solidFill>
          <a:ln/>
        </p:spPr>
        <p:txBody>
          <a:bodyPr wrap="square" lIns="28482" tIns="53882" rIns="79282" bIns="28482" rtlCol="0" anchor="t">
            <a:normAutofit/>
          </a:bodyPr>
          <a:lstStyle/>
          <a:p>
            <a:pPr algn="r" indent="0" marL="0">
              <a:lnSpc>
                <a:spcPts val="1820"/>
              </a:lnSpc>
              <a:buNone/>
            </a:pPr>
            <a:r>
              <a:rPr lang="en-US" sz="1400" dirty="0">
                <a:solidFill>
                  <a:srgbClr val="F6F4EE"/>
                </a:solidFill>
                <a:latin typeface="Arial" pitchFamily="34" charset="0"/>
                <a:ea typeface="Arial" pitchFamily="34" charset="-122"/>
                <a:cs typeface="Arial" pitchFamily="34" charset="-120"/>
              </a:rPr>
              <a:t>‫קבוצה: שיעור או דובר‬</a:t>
            </a:r>
            <a:endParaRPr lang="en-US" sz="1400" dirty="0"/>
          </a:p>
        </p:txBody>
      </p:sp>
      <p:sp>
        <p:nvSpPr>
          <p:cNvPr id="9" name="Text 7"/>
          <p:cNvSpPr/>
          <p:nvPr/>
        </p:nvSpPr>
        <p:spPr>
          <a:xfrm>
            <a:off x="9778909" y="4151942"/>
            <a:ext cx="1422436" cy="383345"/>
          </a:xfrm>
          <a:prstGeom prst="roundRect">
            <a:avLst>
              <a:gd name="adj" fmla="val 19878"/>
            </a:avLst>
          </a:prstGeom>
          <a:solidFill>
            <a:srgbClr val="F6F4EE">
              <a:alpha val="10000"/>
            </a:srgbClr>
          </a:solidFill>
          <a:ln/>
        </p:spPr>
        <p:txBody>
          <a:bodyPr wrap="square" lIns="28482" tIns="53882" rIns="79282" bIns="28482" rtlCol="0" anchor="t">
            <a:normAutofit/>
          </a:bodyPr>
          <a:lstStyle/>
          <a:p>
            <a:pPr algn="r" indent="0" marL="0">
              <a:lnSpc>
                <a:spcPts val="1820"/>
              </a:lnSpc>
              <a:buNone/>
            </a:pPr>
            <a:r>
              <a:rPr lang="en-US" sz="1400" dirty="0">
                <a:solidFill>
                  <a:srgbClr val="F6F4EE"/>
                </a:solidFill>
                <a:latin typeface="Arial" pitchFamily="34" charset="0"/>
                <a:ea typeface="Arial" pitchFamily="34" charset="-122"/>
                <a:cs typeface="Arial" pitchFamily="34" charset="-120"/>
              </a:rPr>
              <a:t>‫מודל בסיס מקומי‬</a:t>
            </a:r>
            <a:endParaRPr lang="en-US" sz="1400" dirty="0"/>
          </a:p>
        </p:txBody>
      </p:sp>
      <p:pic>
        <p:nvPicPr>
          <p:cNvPr id="10" name="Image 0" descr="arrow-left">    </p:cNvPr>
          <p:cNvPicPr>
            <a:picLocks noChangeAspect="1"/>
          </p:cNvPicPr>
          <p:nvPr/>
        </p:nvPicPr>
        <p:blipFill>
          <a:blip r:embed="rId1"/>
          <a:srcRect l="-13" r="-13" t="0" b="0"/>
          <a:stretch/>
        </p:blipFill>
        <p:spPr>
          <a:xfrm>
            <a:off x="9169346" y="3568626"/>
            <a:ext cx="355564" cy="203128"/>
          </a:xfrm>
          <a:prstGeom prst="rect">
            <a:avLst/>
          </a:prstGeom>
        </p:spPr>
      </p:pic>
      <p:sp>
        <p:nvSpPr>
          <p:cNvPr id="11" name="Shape 8"/>
          <p:cNvSpPr/>
          <p:nvPr/>
        </p:nvSpPr>
        <p:spPr>
          <a:xfrm>
            <a:off x="2978132" y="1708131"/>
            <a:ext cx="6108646" cy="3924300"/>
          </a:xfrm>
          <a:prstGeom prst="roundRect">
            <a:avLst>
              <a:gd name="adj" fmla="val 3722"/>
            </a:avLst>
          </a:prstGeom>
          <a:solidFill>
            <a:srgbClr val="E1EEEB"/>
          </a:solidFill>
          <a:ln w="12700">
            <a:solidFill>
              <a:srgbClr val="1F6F6F"/>
            </a:solidFill>
            <a:prstDash val="solid"/>
          </a:ln>
        </p:spPr>
      </p:sp>
      <p:sp>
        <p:nvSpPr>
          <p:cNvPr id="12" name="Text 9"/>
          <p:cNvSpPr/>
          <p:nvPr/>
        </p:nvSpPr>
        <p:spPr>
          <a:xfrm>
            <a:off x="2961866" y="1865672"/>
            <a:ext cx="5967370"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1F6F6F"/>
                </a:solidFill>
                <a:latin typeface="Arial" pitchFamily="34" charset="0"/>
                <a:ea typeface="Arial" pitchFamily="34" charset="-122"/>
                <a:cs typeface="Arial" pitchFamily="34" charset="-120"/>
              </a:rPr>
              <a:t>‫המפעל: הכול אוטומטי‬</a:t>
            </a:r>
            <a:endParaRPr lang="en-US" sz="2000" dirty="0"/>
          </a:p>
        </p:txBody>
      </p:sp>
      <p:sp>
        <p:nvSpPr>
          <p:cNvPr id="13" name="Shape 10"/>
          <p:cNvSpPr/>
          <p:nvPr/>
        </p:nvSpPr>
        <p:spPr>
          <a:xfrm>
            <a:off x="3138848" y="2300629"/>
            <a:ext cx="1174714" cy="1981453"/>
          </a:xfrm>
          <a:prstGeom prst="roundRect">
            <a:avLst>
              <a:gd name="adj" fmla="val 8379"/>
            </a:avLst>
          </a:prstGeom>
          <a:solidFill>
            <a:srgbClr val="FFFDF8"/>
          </a:solidFill>
          <a:ln w="6350">
            <a:solidFill>
              <a:srgbClr val="BFD6D0"/>
            </a:solidFill>
            <a:prstDash val="solid"/>
          </a:ln>
        </p:spPr>
      </p:sp>
      <p:sp>
        <p:nvSpPr>
          <p:cNvPr id="14" name="Text 11"/>
          <p:cNvSpPr/>
          <p:nvPr/>
        </p:nvSpPr>
        <p:spPr>
          <a:xfrm>
            <a:off x="3192210" y="2430227"/>
            <a:ext cx="101719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4</a:t>
            </a:r>
            <a:endParaRPr lang="en-US" sz="2000" dirty="0"/>
          </a:p>
        </p:txBody>
      </p:sp>
      <p:sp>
        <p:nvSpPr>
          <p:cNvPr id="15" name="Text 12"/>
          <p:cNvSpPr/>
          <p:nvPr/>
        </p:nvSpPr>
        <p:spPr>
          <a:xfrm>
            <a:off x="3192210" y="2747727"/>
            <a:ext cx="1017191" cy="513015"/>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‫בחירה ורישום‬</a:t>
            </a:r>
            <a:endParaRPr lang="en-US" sz="1600" dirty="0"/>
          </a:p>
        </p:txBody>
      </p:sp>
      <p:sp>
        <p:nvSpPr>
          <p:cNvPr id="16" name="Text 13"/>
          <p:cNvSpPr/>
          <p:nvPr/>
        </p:nvSpPr>
        <p:spPr>
          <a:xfrm>
            <a:off x="3192210" y="3298841"/>
            <a:ext cx="1017191" cy="8790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‫מנצח או בייסליין, Test פעם אחת, רישום וייצוא‬</a:t>
            </a:r>
            <a:endParaRPr lang="en-US" sz="1200" dirty="0"/>
          </a:p>
        </p:txBody>
      </p:sp>
      <p:pic>
        <p:nvPicPr>
          <p:cNvPr id="17" name="Image 1" descr="arrow-left">    </p:cNvPr>
          <p:cNvPicPr>
            <a:picLocks noChangeAspect="1"/>
          </p:cNvPicPr>
          <p:nvPr/>
        </p:nvPicPr>
        <p:blipFill>
          <a:blip r:embed="rId2"/>
          <a:srcRect l="-21" r="-21" t="0" b="0"/>
          <a:stretch/>
        </p:blipFill>
        <p:spPr>
          <a:xfrm>
            <a:off x="4392865" y="3221540"/>
            <a:ext cx="177782" cy="139628"/>
          </a:xfrm>
          <a:prstGeom prst="rect">
            <a:avLst/>
          </a:prstGeom>
        </p:spPr>
      </p:pic>
      <p:sp>
        <p:nvSpPr>
          <p:cNvPr id="18" name="Shape 14"/>
          <p:cNvSpPr/>
          <p:nvPr/>
        </p:nvSpPr>
        <p:spPr>
          <a:xfrm>
            <a:off x="4649950" y="2300629"/>
            <a:ext cx="1174714" cy="1981453"/>
          </a:xfrm>
          <a:prstGeom prst="roundRect">
            <a:avLst>
              <a:gd name="adj" fmla="val 8379"/>
            </a:avLst>
          </a:prstGeom>
          <a:solidFill>
            <a:srgbClr val="FFFDF8"/>
          </a:solidFill>
          <a:ln w="6350">
            <a:solidFill>
              <a:srgbClr val="BFD6D0"/>
            </a:solidFill>
            <a:prstDash val="solid"/>
          </a:ln>
        </p:spPr>
      </p:sp>
      <p:sp>
        <p:nvSpPr>
          <p:cNvPr id="19" name="Text 15"/>
          <p:cNvSpPr/>
          <p:nvPr/>
        </p:nvSpPr>
        <p:spPr>
          <a:xfrm>
            <a:off x="4703311" y="2430227"/>
            <a:ext cx="101719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3</a:t>
            </a:r>
            <a:endParaRPr lang="en-US" sz="2000" dirty="0"/>
          </a:p>
        </p:txBody>
      </p:sp>
      <p:sp>
        <p:nvSpPr>
          <p:cNvPr id="20" name="Text 16"/>
          <p:cNvSpPr/>
          <p:nvPr/>
        </p:nvSpPr>
        <p:spPr>
          <a:xfrm>
            <a:off x="4703311" y="2747727"/>
            <a:ext cx="1017191" cy="513015"/>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‫חיפוש ואימון‬</a:t>
            </a:r>
            <a:endParaRPr lang="en-US" sz="1600" dirty="0"/>
          </a:p>
        </p:txBody>
      </p:sp>
      <p:sp>
        <p:nvSpPr>
          <p:cNvPr id="21" name="Text 17"/>
          <p:cNvSpPr/>
          <p:nvPr/>
        </p:nvSpPr>
        <p:spPr>
          <a:xfrm>
            <a:off x="4703311" y="3298841"/>
            <a:ext cx="1017191"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‫ניסויים קצרים, ואז אימון מלא לטובים‬</a:t>
            </a:r>
            <a:endParaRPr lang="en-US" sz="1200" dirty="0"/>
          </a:p>
        </p:txBody>
      </p:sp>
      <p:pic>
        <p:nvPicPr>
          <p:cNvPr id="22" name="Image 2" descr="arrow-left">    </p:cNvPr>
          <p:cNvPicPr>
            <a:picLocks noChangeAspect="1"/>
          </p:cNvPicPr>
          <p:nvPr/>
        </p:nvPicPr>
        <p:blipFill>
          <a:blip r:embed="rId3"/>
          <a:srcRect l="-21" r="-21" t="0" b="0"/>
          <a:stretch/>
        </p:blipFill>
        <p:spPr>
          <a:xfrm>
            <a:off x="5903966" y="3221540"/>
            <a:ext cx="177782" cy="139628"/>
          </a:xfrm>
          <a:prstGeom prst="rect">
            <a:avLst/>
          </a:prstGeom>
        </p:spPr>
      </p:pic>
      <p:sp>
        <p:nvSpPr>
          <p:cNvPr id="23" name="Shape 18"/>
          <p:cNvSpPr/>
          <p:nvPr/>
        </p:nvSpPr>
        <p:spPr>
          <a:xfrm>
            <a:off x="6161051" y="2300629"/>
            <a:ext cx="1174714" cy="1981453"/>
          </a:xfrm>
          <a:prstGeom prst="roundRect">
            <a:avLst>
              <a:gd name="adj" fmla="val 8379"/>
            </a:avLst>
          </a:prstGeom>
          <a:solidFill>
            <a:srgbClr val="FFFDF8"/>
          </a:solidFill>
          <a:ln w="6350">
            <a:solidFill>
              <a:srgbClr val="BFD6D0"/>
            </a:solidFill>
            <a:prstDash val="solid"/>
          </a:ln>
        </p:spPr>
      </p:sp>
      <p:sp>
        <p:nvSpPr>
          <p:cNvPr id="24" name="Text 19"/>
          <p:cNvSpPr/>
          <p:nvPr/>
        </p:nvSpPr>
        <p:spPr>
          <a:xfrm>
            <a:off x="6214413" y="2430227"/>
            <a:ext cx="101719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2</a:t>
            </a:r>
            <a:endParaRPr lang="en-US" sz="2000" dirty="0"/>
          </a:p>
        </p:txBody>
      </p:sp>
      <p:sp>
        <p:nvSpPr>
          <p:cNvPr id="25" name="Text 20"/>
          <p:cNvSpPr/>
          <p:nvPr/>
        </p:nvSpPr>
        <p:spPr>
          <a:xfrm>
            <a:off x="6214413" y="2747727"/>
            <a:ext cx="1017191" cy="513015"/>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‫מדידת בייסליין‬</a:t>
            </a:r>
            <a:endParaRPr lang="en-US" sz="1600" dirty="0"/>
          </a:p>
        </p:txBody>
      </p:sp>
      <p:sp>
        <p:nvSpPr>
          <p:cNvPr id="26" name="Text 21"/>
          <p:cNvSpPr/>
          <p:nvPr/>
        </p:nvSpPr>
        <p:spPr>
          <a:xfrm>
            <a:off x="6214413" y="3298841"/>
            <a:ext cx="101719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‫ציון המודל המקורי על Val‬</a:t>
            </a:r>
            <a:endParaRPr lang="en-US" sz="1200" dirty="0"/>
          </a:p>
        </p:txBody>
      </p:sp>
      <p:pic>
        <p:nvPicPr>
          <p:cNvPr id="27" name="Image 3" descr="arrow-left">    </p:cNvPr>
          <p:cNvPicPr>
            <a:picLocks noChangeAspect="1"/>
          </p:cNvPicPr>
          <p:nvPr/>
        </p:nvPicPr>
        <p:blipFill>
          <a:blip r:embed="rId4"/>
          <a:srcRect l="-21" r="-21" t="0" b="0"/>
          <a:stretch/>
        </p:blipFill>
        <p:spPr>
          <a:xfrm>
            <a:off x="7415068" y="3221540"/>
            <a:ext cx="177782" cy="139628"/>
          </a:xfrm>
          <a:prstGeom prst="rect">
            <a:avLst/>
          </a:prstGeom>
        </p:spPr>
      </p:pic>
      <p:sp>
        <p:nvSpPr>
          <p:cNvPr id="28" name="Shape 22"/>
          <p:cNvSpPr/>
          <p:nvPr/>
        </p:nvSpPr>
        <p:spPr>
          <a:xfrm>
            <a:off x="7672153" y="2300629"/>
            <a:ext cx="1174714" cy="1981453"/>
          </a:xfrm>
          <a:prstGeom prst="roundRect">
            <a:avLst>
              <a:gd name="adj" fmla="val 8379"/>
            </a:avLst>
          </a:prstGeom>
          <a:solidFill>
            <a:srgbClr val="FFFDF8"/>
          </a:solidFill>
          <a:ln w="6350">
            <a:solidFill>
              <a:srgbClr val="BFD6D0"/>
            </a:solidFill>
            <a:prstDash val="solid"/>
          </a:ln>
        </p:spPr>
      </p:sp>
      <p:sp>
        <p:nvSpPr>
          <p:cNvPr id="29" name="Text 23"/>
          <p:cNvSpPr/>
          <p:nvPr/>
        </p:nvSpPr>
        <p:spPr>
          <a:xfrm>
            <a:off x="7725514" y="2430227"/>
            <a:ext cx="101719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1</a:t>
            </a:r>
            <a:endParaRPr lang="en-US" sz="2000" dirty="0"/>
          </a:p>
        </p:txBody>
      </p:sp>
      <p:sp>
        <p:nvSpPr>
          <p:cNvPr id="30" name="Text 24"/>
          <p:cNvSpPr/>
          <p:nvPr/>
        </p:nvSpPr>
        <p:spPr>
          <a:xfrm>
            <a:off x="7725514" y="2747727"/>
            <a:ext cx="1017191" cy="513015"/>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‫הכנת נתונים‬</a:t>
            </a:r>
            <a:endParaRPr lang="en-US" sz="1600" dirty="0"/>
          </a:p>
        </p:txBody>
      </p:sp>
      <p:sp>
        <p:nvSpPr>
          <p:cNvPr id="31" name="Text 25"/>
          <p:cNvSpPr/>
          <p:nvPr/>
        </p:nvSpPr>
        <p:spPr>
          <a:xfrm>
            <a:off x="7725514" y="3298841"/>
            <a:ext cx="101719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‫קריאה, פיצול, נרמול וסינון‬</a:t>
            </a:r>
            <a:endParaRPr lang="en-US" sz="1200" dirty="0"/>
          </a:p>
        </p:txBody>
      </p:sp>
      <p:sp>
        <p:nvSpPr>
          <p:cNvPr id="32" name="Text 26"/>
          <p:cNvSpPr/>
          <p:nvPr/>
        </p:nvSpPr>
        <p:spPr>
          <a:xfrm>
            <a:off x="3138848" y="4415430"/>
            <a:ext cx="5787213" cy="396298"/>
          </a:xfrm>
          <a:prstGeom prst="roundRect">
            <a:avLst>
              <a:gd name="adj" fmla="val 18427"/>
            </a:avLst>
          </a:prstGeom>
          <a:solidFill>
            <a:srgbClr val="FFFDF8"/>
          </a:solidFill>
          <a:ln w="6350">
            <a:solidFill>
              <a:srgbClr val="BFD6D0"/>
            </a:solidFill>
            <a:prstDash val="solid"/>
          </a:ln>
        </p:spPr>
        <p:txBody>
          <a:bodyPr wrap="square" lIns="0" tIns="70109" rIns="108209" bIns="44709" rtlCol="0" anchor="t">
            <a:normAutofit/>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‫כל ניסוי נשמר בתיקייה ממוספרת עם לוגים, ואפשר להמשיך אחרי הפסקה‬</a:t>
            </a:r>
            <a:endParaRPr lang="en-US" sz="1200" dirty="0"/>
          </a:p>
        </p:txBody>
      </p:sp>
      <p:sp>
        <p:nvSpPr>
          <p:cNvPr id="33" name="Text 27"/>
          <p:cNvSpPr/>
          <p:nvPr/>
        </p:nvSpPr>
        <p:spPr>
          <a:xfrm>
            <a:off x="2961866" y="4941903"/>
            <a:ext cx="5967370" cy="274259"/>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F2233"/>
                </a:solidFill>
                <a:latin typeface="Arial" pitchFamily="34" charset="0"/>
                <a:ea typeface="Arial" pitchFamily="34" charset="-122"/>
                <a:cs typeface="Arial" pitchFamily="34" charset="-120"/>
              </a:rPr>
              <a:t>‫הכול בפקודה אחת: python -m stt run‬</a:t>
            </a:r>
            <a:endParaRPr lang="en-US" sz="1400" dirty="0"/>
          </a:p>
        </p:txBody>
      </p:sp>
      <p:pic>
        <p:nvPicPr>
          <p:cNvPr id="34" name="Image 4" descr="arrow-left">    </p:cNvPr>
          <p:cNvPicPr>
            <a:picLocks noChangeAspect="1"/>
          </p:cNvPicPr>
          <p:nvPr/>
        </p:nvPicPr>
        <p:blipFill>
          <a:blip r:embed="rId5"/>
          <a:srcRect l="-15" r="-15" t="0" b="0"/>
          <a:stretch/>
        </p:blipFill>
        <p:spPr>
          <a:xfrm>
            <a:off x="2578064" y="3568626"/>
            <a:ext cx="304782" cy="203128"/>
          </a:xfrm>
          <a:prstGeom prst="rect">
            <a:avLst/>
          </a:prstGeom>
        </p:spPr>
      </p:pic>
      <p:sp>
        <p:nvSpPr>
          <p:cNvPr id="35" name="Shape 28"/>
          <p:cNvSpPr/>
          <p:nvPr/>
        </p:nvSpPr>
        <p:spPr>
          <a:xfrm>
            <a:off x="812782" y="1701781"/>
            <a:ext cx="1651000" cy="3937000"/>
          </a:xfrm>
          <a:prstGeom prst="roundRect">
            <a:avLst>
              <a:gd name="adj" fmla="val 9231"/>
            </a:avLst>
          </a:prstGeom>
          <a:solidFill>
            <a:srgbClr val="B8481A"/>
          </a:solidFill>
          <a:ln/>
        </p:spPr>
      </p:sp>
      <p:sp>
        <p:nvSpPr>
          <p:cNvPr id="36" name="Text 29"/>
          <p:cNvSpPr/>
          <p:nvPr/>
        </p:nvSpPr>
        <p:spPr>
          <a:xfrm>
            <a:off x="939764" y="1879563"/>
            <a:ext cx="1346236"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FFFDF8"/>
                </a:solidFill>
                <a:latin typeface="Arial" pitchFamily="34" charset="0"/>
                <a:ea typeface="Arial" pitchFamily="34" charset="-122"/>
                <a:cs typeface="Arial" pitchFamily="34" charset="-120"/>
              </a:rPr>
              <a:t>‫פלט‬</a:t>
            </a:r>
            <a:endParaRPr lang="en-US" sz="2000" dirty="0"/>
          </a:p>
        </p:txBody>
      </p:sp>
      <p:sp>
        <p:nvSpPr>
          <p:cNvPr id="37" name="Text 30"/>
          <p:cNvSpPr/>
          <p:nvPr/>
        </p:nvSpPr>
        <p:spPr>
          <a:xfrm>
            <a:off x="990564" y="2273191"/>
            <a:ext cx="1295436" cy="614435"/>
          </a:xfrm>
          <a:prstGeom prst="roundRect">
            <a:avLst>
              <a:gd name="adj" fmla="val 12402"/>
            </a:avLst>
          </a:prstGeom>
          <a:solidFill>
            <a:srgbClr val="FFFFFF">
              <a:alpha val="16000"/>
            </a:srgbClr>
          </a:solidFill>
          <a:ln/>
        </p:spPr>
        <p:txBody>
          <a:bodyPr wrap="square" lIns="28482" tIns="53882" rIns="79282" bIns="28482" rtlCol="0" anchor="t">
            <a:normAutofit/>
          </a:bodyPr>
          <a:lstStyle/>
          <a:p>
            <a:pPr algn="r" indent="0" marL="0">
              <a:lnSpc>
                <a:spcPts val="1820"/>
              </a:lnSpc>
              <a:buNone/>
            </a:pPr>
            <a:r>
              <a:rPr lang="en-US" sz="1400" dirty="0">
                <a:solidFill>
                  <a:srgbClr val="FFFDF8"/>
                </a:solidFill>
                <a:latin typeface="Arial" pitchFamily="34" charset="0"/>
                <a:ea typeface="Arial" pitchFamily="34" charset="-122"/>
                <a:cs typeface="Arial" pitchFamily="34" charset="-120"/>
              </a:rPr>
              <a:t>‫מודל מנצח, או המקורי נשאר‬</a:t>
            </a:r>
            <a:endParaRPr lang="en-US" sz="1400" dirty="0"/>
          </a:p>
        </p:txBody>
      </p:sp>
      <p:sp>
        <p:nvSpPr>
          <p:cNvPr id="38" name="Text 31"/>
          <p:cNvSpPr/>
          <p:nvPr/>
        </p:nvSpPr>
        <p:spPr>
          <a:xfrm>
            <a:off x="990564" y="2976469"/>
            <a:ext cx="1295436" cy="614435"/>
          </a:xfrm>
          <a:prstGeom prst="roundRect">
            <a:avLst>
              <a:gd name="adj" fmla="val 12402"/>
            </a:avLst>
          </a:prstGeom>
          <a:solidFill>
            <a:srgbClr val="FFFFFF">
              <a:alpha val="16000"/>
            </a:srgbClr>
          </a:solidFill>
          <a:ln/>
        </p:spPr>
        <p:txBody>
          <a:bodyPr wrap="square" lIns="28482" tIns="53882" rIns="79282" bIns="28482" rtlCol="0" anchor="t">
            <a:normAutofit/>
          </a:bodyPr>
          <a:lstStyle/>
          <a:p>
            <a:pPr algn="r" indent="0" marL="0">
              <a:lnSpc>
                <a:spcPts val="1820"/>
              </a:lnSpc>
              <a:buNone/>
            </a:pPr>
            <a:r>
              <a:rPr lang="en-US" sz="1400" dirty="0">
                <a:solidFill>
                  <a:srgbClr val="FFFDF8"/>
                </a:solidFill>
                <a:latin typeface="Arial" pitchFamily="34" charset="0"/>
                <a:ea typeface="Arial" pitchFamily="34" charset="-122"/>
                <a:cs typeface="Arial" pitchFamily="34" charset="-120"/>
              </a:rPr>
              <a:t>‫דוח HTML אחד‬</a:t>
            </a:r>
            <a:endParaRPr lang="en-US" sz="1400" dirty="0"/>
          </a:p>
        </p:txBody>
      </p:sp>
      <p:sp>
        <p:nvSpPr>
          <p:cNvPr id="39" name="Text 32"/>
          <p:cNvSpPr/>
          <p:nvPr/>
        </p:nvSpPr>
        <p:spPr>
          <a:xfrm>
            <a:off x="990564" y="3679751"/>
            <a:ext cx="1295436" cy="614435"/>
          </a:xfrm>
          <a:prstGeom prst="roundRect">
            <a:avLst>
              <a:gd name="adj" fmla="val 12402"/>
            </a:avLst>
          </a:prstGeom>
          <a:solidFill>
            <a:srgbClr val="FFFFFF">
              <a:alpha val="16000"/>
            </a:srgbClr>
          </a:solidFill>
          <a:ln/>
        </p:spPr>
        <p:txBody>
          <a:bodyPr wrap="square" lIns="28482" tIns="53882" rIns="79282" bIns="28482" rtlCol="0" anchor="t">
            <a:normAutofit/>
          </a:bodyPr>
          <a:lstStyle/>
          <a:p>
            <a:pPr algn="r" indent="0" marL="0">
              <a:lnSpc>
                <a:spcPts val="1820"/>
              </a:lnSpc>
              <a:buNone/>
            </a:pPr>
            <a:r>
              <a:rPr lang="en-US" sz="1400" dirty="0">
                <a:solidFill>
                  <a:srgbClr val="FFFDF8"/>
                </a:solidFill>
                <a:latin typeface="Arial" pitchFamily="34" charset="0"/>
                <a:ea typeface="Arial" pitchFamily="34" charset="-122"/>
                <a:cs typeface="Arial" pitchFamily="34" charset="-120"/>
              </a:rPr>
              <a:t>‫רישום ממוספר ובדיקת שלמות‬</a:t>
            </a:r>
            <a:endParaRPr lang="en-US" sz="1400" dirty="0"/>
          </a:p>
        </p:txBody>
      </p:sp>
      <p:sp>
        <p:nvSpPr>
          <p:cNvPr id="40" name="Text 33"/>
          <p:cNvSpPr/>
          <p:nvPr/>
        </p:nvSpPr>
        <p:spPr>
          <a:xfrm>
            <a:off x="990564" y="4383032"/>
            <a:ext cx="1295436" cy="383345"/>
          </a:xfrm>
          <a:prstGeom prst="roundRect">
            <a:avLst>
              <a:gd name="adj" fmla="val 19878"/>
            </a:avLst>
          </a:prstGeom>
          <a:solidFill>
            <a:srgbClr val="FFFFFF">
              <a:alpha val="16000"/>
            </a:srgbClr>
          </a:solidFill>
          <a:ln/>
        </p:spPr>
        <p:txBody>
          <a:bodyPr wrap="square" lIns="28482" tIns="53882" rIns="79282" bIns="28482" rtlCol="0" anchor="t">
            <a:normAutofit/>
          </a:bodyPr>
          <a:lstStyle/>
          <a:p>
            <a:pPr algn="r" indent="0" marL="0">
              <a:lnSpc>
                <a:spcPts val="1820"/>
              </a:lnSpc>
              <a:buNone/>
            </a:pPr>
            <a:r>
              <a:rPr lang="en-US" sz="1400" dirty="0">
                <a:solidFill>
                  <a:srgbClr val="FFFDF8"/>
                </a:solidFill>
                <a:latin typeface="Arial" pitchFamily="34" charset="0"/>
                <a:ea typeface="Arial" pitchFamily="34" charset="-122"/>
                <a:cs typeface="Arial" pitchFamily="34" charset="-120"/>
              </a:rPr>
              <a:t>‫לוגים ומדדים‬</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4"/>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‫מה נכנס‬</a:t>
            </a:r>
            <a:endParaRPr lang="en-US" sz="1200" dirty="0"/>
          </a:p>
        </p:txBody>
      </p:sp>
      <p:sp>
        <p:nvSpPr>
          <p:cNvPr id="3" name="Text 1"/>
          <p:cNvSpPr/>
          <p:nvPr>
            <p:ph type="title"/>
          </p:nvPr>
        </p:nvSpPr>
        <p:spPr>
          <a:xfrm>
            <a:off x="495789" y="949976"/>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‫הקלט: הקלטות, תמלול וקבוצה‬</a:t>
            </a:r>
            <a:endParaRPr lang="en-US" sz="3200" dirty="0"/>
          </a:p>
        </p:txBody>
      </p:sp>
      <p:sp>
        <p:nvSpPr>
          <p:cNvPr id="4" name="Text 2"/>
          <p:cNvSpPr/>
          <p:nvPr/>
        </p:nvSpPr>
        <p:spPr>
          <a:xfrm>
            <a:off x="495789" y="1574784"/>
            <a:ext cx="10883429"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670"/>
                </a:solidFill>
                <a:latin typeface="Arial" pitchFamily="34" charset="0"/>
                <a:ea typeface="Arial" pitchFamily="34" charset="-122"/>
                <a:cs typeface="Arial" pitchFamily="34" charset="-120"/>
              </a:rPr>
              <a:t>‫קובץ manifest.csv, שורה לכל קטע (דוגמה להמחשה). אפשר גם תיקיית parquet של Hugging Face‬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27" y="1977522"/>
          <a:ext cx="10554890" cy="1538793"/>
        </p:xfrm>
        <a:graphic>
          <a:graphicData uri="http://schemas.openxmlformats.org/drawingml/2006/table">
            <a:tbl>
              <a:tblPr/>
              <a:tblGrid>
                <a:gridCol w="1477685"/>
                <a:gridCol w="3588663"/>
                <a:gridCol w="3799760"/>
                <a:gridCol w="1688782"/>
              </a:tblGrid>
              <a:tr h="384698">
                <a:tc>
                  <a:txBody>
                    <a:bodyPr/>
                    <a:lstStyle/>
                    <a:p>
                      <a:pPr algn="ctr" indent="0" marL="0">
                        <a:lnSpc>
                          <a:spcPts val="1960"/>
                        </a:lnSpc>
                        <a:buNone/>
                      </a:pPr>
                      <a:r>
                        <a:rPr lang="en-US" sz="1400" b="1" dirty="0">
                          <a:solidFill>
                            <a:srgbClr val="F6F4EE"/>
                          </a:solidFill>
                          <a:latin typeface="Arial" pitchFamily="34" charset="0"/>
                          <a:ea typeface="Arial" pitchFamily="34" charset="-122"/>
                          <a:cs typeface="Arial" pitchFamily="34" charset="-120"/>
                        </a:rPr>
                        <a:t>‫קבוצה (group)‬</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‫תמלול‬</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960"/>
                        </a:lnSpc>
                        <a:buNone/>
                      </a:pPr>
                      <a:r>
                        <a:rPr lang="en-US" sz="1400" b="1" dirty="0">
                          <a:solidFill>
                            <a:srgbClr val="F6F4EE"/>
                          </a:solidFill>
                          <a:latin typeface="Arial" pitchFamily="34" charset="0"/>
                          <a:ea typeface="Arial" pitchFamily="34" charset="-122"/>
                          <a:cs typeface="Arial" pitchFamily="34" charset="-120"/>
                        </a:rPr>
                        <a:t>‫קובץ אודיו‬</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960"/>
                        </a:lnSpc>
                        <a:buNone/>
                      </a:pPr>
                      <a:r>
                        <a:rPr lang="en-US" sz="1400" b="1" dirty="0">
                          <a:solidFill>
                            <a:srgbClr val="F6F4EE"/>
                          </a:solidFill>
                          <a:latin typeface="Arial" pitchFamily="34" charset="0"/>
                          <a:ea typeface="Arial" pitchFamily="34" charset="-122"/>
                          <a:cs typeface="Arial" pitchFamily="34" charset="-120"/>
                        </a:rPr>
                        <a:t>‫מזהה‬</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84698">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0457</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‫טקסט הקטע הראשון‬</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audio/train/000123.mp3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000123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0457</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‫טקסט הקטע השני‬</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audio/train/000124.mp3</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000124</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0458</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‫טקסט הקטע השלישי‬</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audio/train/000125.mp3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000125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6" name="Shape 3"/>
          <p:cNvSpPr/>
          <p:nvPr/>
        </p:nvSpPr>
        <p:spPr>
          <a:xfrm>
            <a:off x="815957" y="3697272"/>
            <a:ext cx="2520932" cy="1330848"/>
          </a:xfrm>
          <a:prstGeom prst="roundRect">
            <a:avLst>
              <a:gd name="adj" fmla="val 9304"/>
            </a:avLst>
          </a:prstGeom>
          <a:solidFill>
            <a:srgbClr val="FFFDF8"/>
          </a:solidFill>
          <a:ln w="6350">
            <a:solidFill>
              <a:srgbClr val="E2DDD0"/>
            </a:solidFill>
            <a:prstDash val="solid"/>
          </a:ln>
        </p:spPr>
      </p:sp>
      <p:sp>
        <p:nvSpPr>
          <p:cNvPr id="7" name="Text 4"/>
          <p:cNvSpPr/>
          <p:nvPr/>
        </p:nvSpPr>
        <p:spPr>
          <a:xfrm>
            <a:off x="931531" y="3852214"/>
            <a:ext cx="2224978" cy="533400"/>
          </a:xfrm>
          <a:prstGeom prst="rect">
            <a:avLst/>
          </a:prstGeom>
          <a:noFill/>
          <a:ln/>
        </p:spPr>
        <p:txBody>
          <a:bodyPr wrap="square" lIns="0" tIns="0" rIns="0" bIns="0" rtlCol="0" anchor="t">
            <a:normAutofit/>
          </a:bodyPr>
          <a:lstStyle/>
          <a:p>
            <a:pPr algn="r" indent="0" marL="0">
              <a:lnSpc>
                <a:spcPts val="4000"/>
              </a:lnSpc>
              <a:buNone/>
            </a:pPr>
            <a:r>
              <a:rPr lang="en-US" sz="4000" b="1" dirty="0">
                <a:solidFill>
                  <a:srgbClr val="B8481A"/>
                </a:solidFill>
                <a:latin typeface="Arial" pitchFamily="34" charset="0"/>
                <a:ea typeface="Arial" pitchFamily="34" charset="-122"/>
                <a:cs typeface="Arial" pitchFamily="34" charset="-120"/>
              </a:rPr>
              <a:t>≈10%</a:t>
            </a:r>
            <a:endParaRPr lang="en-US" sz="4000" dirty="0"/>
          </a:p>
        </p:txBody>
      </p:sp>
      <p:sp>
        <p:nvSpPr>
          <p:cNvPr id="8" name="Text 5"/>
          <p:cNvSpPr/>
          <p:nvPr/>
        </p:nvSpPr>
        <p:spPr>
          <a:xfrm>
            <a:off x="931531" y="4410996"/>
            <a:ext cx="2224978" cy="487579"/>
          </a:xfrm>
          <a:prstGeom prst="rect">
            <a:avLst/>
          </a:prstGeom>
          <a:noFill/>
          <a:ln/>
        </p:spPr>
        <p:txBody>
          <a:bodyPr wrap="square" lIns="0" tIns="0" rIns="0" bIns="0" rtlCol="0" anchor="t">
            <a:normAutofit/>
          </a:bodyPr>
          <a:lstStyle/>
          <a:p>
            <a:pPr algn="r" indent="0" marL="0">
              <a:lnSpc>
                <a:spcPts val="1820"/>
              </a:lnSpc>
              <a:buNone/>
            </a:pPr>
            <a:r>
              <a:rPr lang="en-US" sz="1400" dirty="0">
                <a:solidFill>
                  <a:srgbClr val="46525C"/>
                </a:solidFill>
                <a:latin typeface="Arial" pitchFamily="34" charset="0"/>
                <a:ea typeface="Arial" pitchFamily="34" charset="-122"/>
                <a:cs typeface="Arial" pitchFamily="34" charset="-120"/>
              </a:rPr>
              <a:t>‫מהכמות הזו צפויה בעבודה, עם מונחים שונים‬</a:t>
            </a:r>
            <a:endParaRPr lang="en-US" sz="1400" dirty="0"/>
          </a:p>
        </p:txBody>
      </p:sp>
      <p:sp>
        <p:nvSpPr>
          <p:cNvPr id="9" name="Shape 6"/>
          <p:cNvSpPr/>
          <p:nvPr/>
        </p:nvSpPr>
        <p:spPr>
          <a:xfrm>
            <a:off x="3495585" y="3697272"/>
            <a:ext cx="2521022" cy="1330848"/>
          </a:xfrm>
          <a:prstGeom prst="roundRect">
            <a:avLst>
              <a:gd name="adj" fmla="val 9304"/>
            </a:avLst>
          </a:prstGeom>
          <a:solidFill>
            <a:srgbClr val="FFFDF8"/>
          </a:solidFill>
          <a:ln w="6350">
            <a:solidFill>
              <a:srgbClr val="E2DDD0"/>
            </a:solidFill>
            <a:prstDash val="solid"/>
          </a:ln>
        </p:spPr>
      </p:sp>
      <p:sp>
        <p:nvSpPr>
          <p:cNvPr id="10" name="Text 7"/>
          <p:cNvSpPr/>
          <p:nvPr/>
        </p:nvSpPr>
        <p:spPr>
          <a:xfrm>
            <a:off x="3611157" y="3852214"/>
            <a:ext cx="2225071" cy="533400"/>
          </a:xfrm>
          <a:prstGeom prst="rect">
            <a:avLst/>
          </a:prstGeom>
          <a:noFill/>
          <a:ln/>
        </p:spPr>
        <p:txBody>
          <a:bodyPr wrap="square" lIns="0" tIns="0" rIns="0" bIns="0" rtlCol="0" anchor="t">
            <a:normAutofit/>
          </a:bodyPr>
          <a:lstStyle/>
          <a:p>
            <a:pPr algn="r" indent="0" marL="0">
              <a:lnSpc>
                <a:spcPts val="4000"/>
              </a:lnSpc>
              <a:buNone/>
            </a:pPr>
            <a:r>
              <a:rPr lang="en-US" sz="4000" b="1" dirty="0">
                <a:solidFill>
                  <a:srgbClr val="1F6F6F"/>
                </a:solidFill>
                <a:latin typeface="Arial" pitchFamily="34" charset="0"/>
                <a:ea typeface="Arial" pitchFamily="34" charset="-122"/>
                <a:cs typeface="Arial" pitchFamily="34" charset="-120"/>
              </a:rPr>
              <a:t>710</a:t>
            </a:r>
            <a:endParaRPr lang="en-US" sz="4000" dirty="0"/>
          </a:p>
        </p:txBody>
      </p:sp>
      <p:sp>
        <p:nvSpPr>
          <p:cNvPr id="11" name="Text 8"/>
          <p:cNvSpPr/>
          <p:nvPr/>
        </p:nvSpPr>
        <p:spPr>
          <a:xfrm>
            <a:off x="3611157" y="4410996"/>
            <a:ext cx="2225071" cy="487579"/>
          </a:xfrm>
          <a:prstGeom prst="rect">
            <a:avLst/>
          </a:prstGeom>
          <a:noFill/>
          <a:ln/>
        </p:spPr>
        <p:txBody>
          <a:bodyPr wrap="square" lIns="0" tIns="0" rIns="0" bIns="0" rtlCol="0" anchor="t">
            <a:normAutofit/>
          </a:bodyPr>
          <a:lstStyle/>
          <a:p>
            <a:pPr algn="r" indent="0" marL="0">
              <a:lnSpc>
                <a:spcPts val="1820"/>
              </a:lnSpc>
              <a:buNone/>
            </a:pPr>
            <a:r>
              <a:rPr lang="en-US" sz="1400" dirty="0">
                <a:solidFill>
                  <a:srgbClr val="46525C"/>
                </a:solidFill>
                <a:latin typeface="Arial" pitchFamily="34" charset="0"/>
                <a:ea typeface="Arial" pitchFamily="34" charset="-122"/>
                <a:cs typeface="Arial" pitchFamily="34" charset="-120"/>
              </a:rPr>
              <a:t>‫קבוצות (שיעורים), היחידה שאף פעם לא מתפצלת‬</a:t>
            </a:r>
            <a:endParaRPr lang="en-US" sz="1400" dirty="0"/>
          </a:p>
        </p:txBody>
      </p:sp>
      <p:sp>
        <p:nvSpPr>
          <p:cNvPr id="12" name="Shape 9"/>
          <p:cNvSpPr/>
          <p:nvPr/>
        </p:nvSpPr>
        <p:spPr>
          <a:xfrm>
            <a:off x="6175303" y="3697272"/>
            <a:ext cx="2521022" cy="1330848"/>
          </a:xfrm>
          <a:prstGeom prst="roundRect">
            <a:avLst>
              <a:gd name="adj" fmla="val 9304"/>
            </a:avLst>
          </a:prstGeom>
          <a:solidFill>
            <a:srgbClr val="FFFDF8"/>
          </a:solidFill>
          <a:ln w="6350">
            <a:solidFill>
              <a:srgbClr val="E2DDD0"/>
            </a:solidFill>
            <a:prstDash val="solid"/>
          </a:ln>
        </p:spPr>
      </p:sp>
      <p:sp>
        <p:nvSpPr>
          <p:cNvPr id="13" name="Text 10"/>
          <p:cNvSpPr/>
          <p:nvPr/>
        </p:nvSpPr>
        <p:spPr>
          <a:xfrm>
            <a:off x="6290874" y="3852214"/>
            <a:ext cx="2225071" cy="533400"/>
          </a:xfrm>
          <a:prstGeom prst="rect">
            <a:avLst/>
          </a:prstGeom>
          <a:noFill/>
          <a:ln/>
        </p:spPr>
        <p:txBody>
          <a:bodyPr wrap="square" lIns="0" tIns="0" rIns="0" bIns="0" rtlCol="0" anchor="t">
            <a:normAutofit/>
          </a:bodyPr>
          <a:lstStyle/>
          <a:p>
            <a:pPr algn="r" indent="0" marL="0">
              <a:lnSpc>
                <a:spcPts val="4000"/>
              </a:lnSpc>
              <a:buNone/>
            </a:pPr>
            <a:r>
              <a:rPr lang="en-US" sz="4000" b="1" dirty="0">
                <a:solidFill>
                  <a:srgbClr val="1F6F6F"/>
                </a:solidFill>
                <a:latin typeface="Arial" pitchFamily="34" charset="0"/>
                <a:ea typeface="Arial" pitchFamily="34" charset="-122"/>
                <a:cs typeface="Arial" pitchFamily="34" charset="-120"/>
              </a:rPr>
              <a:t>72.4</a:t>
            </a:r>
            <a:endParaRPr lang="en-US" sz="4000" dirty="0"/>
          </a:p>
        </p:txBody>
      </p:sp>
      <p:sp>
        <p:nvSpPr>
          <p:cNvPr id="14" name="Text 11"/>
          <p:cNvSpPr/>
          <p:nvPr/>
        </p:nvSpPr>
        <p:spPr>
          <a:xfrm>
            <a:off x="6290874" y="4410996"/>
            <a:ext cx="2225071" cy="256489"/>
          </a:xfrm>
          <a:prstGeom prst="rect">
            <a:avLst/>
          </a:prstGeom>
          <a:noFill/>
          <a:ln/>
        </p:spPr>
        <p:txBody>
          <a:bodyPr wrap="square" lIns="0" tIns="0" rIns="0" bIns="0" rtlCol="0" anchor="t">
            <a:normAutofit/>
          </a:bodyPr>
          <a:lstStyle/>
          <a:p>
            <a:pPr algn="r" indent="0" marL="0">
              <a:lnSpc>
                <a:spcPts val="1820"/>
              </a:lnSpc>
              <a:buNone/>
            </a:pPr>
            <a:r>
              <a:rPr lang="en-US" sz="1400" dirty="0">
                <a:solidFill>
                  <a:srgbClr val="46525C"/>
                </a:solidFill>
                <a:latin typeface="Arial" pitchFamily="34" charset="0"/>
                <a:ea typeface="Arial" pitchFamily="34" charset="-122"/>
                <a:cs typeface="Arial" pitchFamily="34" charset="-120"/>
              </a:rPr>
              <a:t>‫שעות הקלטה‬</a:t>
            </a:r>
            <a:endParaRPr lang="en-US" sz="1400" dirty="0"/>
          </a:p>
        </p:txBody>
      </p:sp>
      <p:sp>
        <p:nvSpPr>
          <p:cNvPr id="15" name="Shape 12"/>
          <p:cNvSpPr/>
          <p:nvPr/>
        </p:nvSpPr>
        <p:spPr>
          <a:xfrm>
            <a:off x="8855021" y="3697272"/>
            <a:ext cx="2521022" cy="1330848"/>
          </a:xfrm>
          <a:prstGeom prst="roundRect">
            <a:avLst>
              <a:gd name="adj" fmla="val 9304"/>
            </a:avLst>
          </a:prstGeom>
          <a:solidFill>
            <a:srgbClr val="FFFDF8"/>
          </a:solidFill>
          <a:ln w="6350">
            <a:solidFill>
              <a:srgbClr val="E2DDD0"/>
            </a:solidFill>
            <a:prstDash val="solid"/>
          </a:ln>
        </p:spPr>
      </p:sp>
      <p:sp>
        <p:nvSpPr>
          <p:cNvPr id="16" name="Text 13"/>
          <p:cNvSpPr/>
          <p:nvPr/>
        </p:nvSpPr>
        <p:spPr>
          <a:xfrm>
            <a:off x="8970593" y="3852214"/>
            <a:ext cx="2225071" cy="533400"/>
          </a:xfrm>
          <a:prstGeom prst="rect">
            <a:avLst/>
          </a:prstGeom>
          <a:noFill/>
          <a:ln/>
        </p:spPr>
        <p:txBody>
          <a:bodyPr wrap="square" lIns="0" tIns="0" rIns="0" bIns="0" rtlCol="0" anchor="t">
            <a:normAutofit/>
          </a:bodyPr>
          <a:lstStyle/>
          <a:p>
            <a:pPr algn="r" indent="0" marL="0">
              <a:lnSpc>
                <a:spcPts val="4000"/>
              </a:lnSpc>
              <a:buNone/>
            </a:pPr>
            <a:r>
              <a:rPr lang="en-US" sz="4000" b="1" dirty="0">
                <a:solidFill>
                  <a:srgbClr val="1F6F6F"/>
                </a:solidFill>
                <a:latin typeface="Arial" pitchFamily="34" charset="0"/>
                <a:ea typeface="Arial" pitchFamily="34" charset="-122"/>
                <a:cs typeface="Arial" pitchFamily="34" charset="-120"/>
              </a:rPr>
              <a:t>8,723</a:t>
            </a:r>
            <a:endParaRPr lang="en-US" sz="4000" dirty="0"/>
          </a:p>
        </p:txBody>
      </p:sp>
      <p:sp>
        <p:nvSpPr>
          <p:cNvPr id="17" name="Text 14"/>
          <p:cNvSpPr/>
          <p:nvPr/>
        </p:nvSpPr>
        <p:spPr>
          <a:xfrm>
            <a:off x="8970593" y="4410996"/>
            <a:ext cx="2225071" cy="487579"/>
          </a:xfrm>
          <a:prstGeom prst="rect">
            <a:avLst/>
          </a:prstGeom>
          <a:noFill/>
          <a:ln/>
        </p:spPr>
        <p:txBody>
          <a:bodyPr wrap="square" lIns="0" tIns="0" rIns="0" bIns="0" rtlCol="0" anchor="t">
            <a:normAutofit/>
          </a:bodyPr>
          <a:lstStyle/>
          <a:p>
            <a:pPr algn="r" indent="0" marL="0">
              <a:lnSpc>
                <a:spcPts val="1820"/>
              </a:lnSpc>
              <a:buNone/>
            </a:pPr>
            <a:r>
              <a:rPr lang="en-US" sz="1400" dirty="0">
                <a:solidFill>
                  <a:srgbClr val="46525C"/>
                </a:solidFill>
                <a:latin typeface="Arial" pitchFamily="34" charset="0"/>
                <a:ea typeface="Arial" pitchFamily="34" charset="-122"/>
                <a:cs typeface="Arial" pitchFamily="34" charset="-120"/>
              </a:rPr>
              <a:t>‫קטעי אודיו, כ-30 שניות כל אחד (Daf Yomi)‬</a:t>
            </a:r>
            <a:endParaRPr lang="en-US" sz="1400" dirty="0"/>
          </a:p>
        </p:txBody>
      </p:sp>
      <p:sp>
        <p:nvSpPr>
          <p:cNvPr id="18" name="Text 15"/>
          <p:cNvSpPr/>
          <p:nvPr/>
        </p:nvSpPr>
        <p:spPr>
          <a:xfrm>
            <a:off x="812782" y="5209074"/>
            <a:ext cx="10566436" cy="502859"/>
          </a:xfrm>
          <a:prstGeom prst="roundRect">
            <a:avLst>
              <a:gd name="adj" fmla="val 20204"/>
            </a:avLst>
          </a:prstGeom>
          <a:solidFill>
            <a:srgbClr val="B8481A"/>
          </a:solidFill>
          <a:ln/>
        </p:spPr>
        <p:txBody>
          <a:bodyPr wrap="square" lIns="0" tIns="97242" rIns="148042" bIns="71842"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‫עמודת הקבוצה חובה. בלעדיה אין פיצול נכון והמבחן כבר מכיר את החומר, ולכן המערכת עוצרת (group_fallback: fail)‬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1 · prepare‬</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‫הכנת הנתונים: חמישה רכיבים בשרשרת‬</a:t>
            </a:r>
            <a:endParaRPr lang="en-US" sz="3200" dirty="0"/>
          </a:p>
        </p:txBody>
      </p:sp>
      <p:sp>
        <p:nvSpPr>
          <p:cNvPr id="4" name="Shape 2"/>
          <p:cNvSpPr/>
          <p:nvPr/>
        </p:nvSpPr>
        <p:spPr>
          <a:xfrm>
            <a:off x="815957" y="1577956"/>
            <a:ext cx="1781933" cy="2004273"/>
          </a:xfrm>
          <a:prstGeom prst="roundRect">
            <a:avLst>
              <a:gd name="adj" fmla="val 6949"/>
            </a:avLst>
          </a:prstGeom>
          <a:solidFill>
            <a:srgbClr val="FFFDF8"/>
          </a:solidFill>
          <a:ln w="6350">
            <a:solidFill>
              <a:srgbClr val="E2DDD0"/>
            </a:solidFill>
            <a:prstDash val="solid"/>
          </a:ln>
        </p:spPr>
      </p:sp>
      <p:sp>
        <p:nvSpPr>
          <p:cNvPr id="5" name="Text 3"/>
          <p:cNvSpPr/>
          <p:nvPr/>
        </p:nvSpPr>
        <p:spPr>
          <a:xfrm>
            <a:off x="920101" y="1758336"/>
            <a:ext cx="1522845"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5</a:t>
            </a:r>
            <a:endParaRPr lang="en-US" sz="2800" dirty="0"/>
          </a:p>
        </p:txBody>
      </p:sp>
      <p:sp>
        <p:nvSpPr>
          <p:cNvPr id="6" name="Text 4"/>
          <p:cNvSpPr/>
          <p:nvPr/>
        </p:nvSpPr>
        <p:spPr>
          <a:xfrm>
            <a:off x="920101" y="2177399"/>
            <a:ext cx="152284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‫הקטנה‬</a:t>
            </a:r>
            <a:endParaRPr lang="en-US" sz="1600" dirty="0"/>
          </a:p>
        </p:txBody>
      </p:sp>
      <p:sp>
        <p:nvSpPr>
          <p:cNvPr id="7" name="Text 5"/>
          <p:cNvSpPr/>
          <p:nvPr/>
        </p:nvSpPr>
        <p:spPr>
          <a:xfrm>
            <a:off x="920101" y="2484704"/>
            <a:ext cx="1522845"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Subsampler</a:t>
            </a:r>
            <a:endParaRPr lang="en-US" sz="1200" dirty="0"/>
          </a:p>
        </p:txBody>
      </p:sp>
      <p:sp>
        <p:nvSpPr>
          <p:cNvPr id="8" name="Text 6"/>
          <p:cNvSpPr/>
          <p:nvPr/>
        </p:nvSpPr>
        <p:spPr>
          <a:xfrm>
            <a:off x="920101" y="2761617"/>
            <a:ext cx="1522845"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‫תת-קבוצה קטנה לבדיקות. כבוי כברירת מחדל‬</a:t>
            </a:r>
            <a:endParaRPr lang="en-US" sz="1200" dirty="0"/>
          </a:p>
        </p:txBody>
      </p:sp>
      <p:pic>
        <p:nvPicPr>
          <p:cNvPr id="9" name="Image 0" descr="arrow-left">    </p:cNvPr>
          <p:cNvPicPr>
            <a:picLocks noChangeAspect="1"/>
          </p:cNvPicPr>
          <p:nvPr/>
        </p:nvPicPr>
        <p:blipFill>
          <a:blip r:embed="rId1"/>
          <a:srcRect l="-11" r="-11" t="0" b="0"/>
          <a:stretch/>
        </p:blipFill>
        <p:spPr>
          <a:xfrm>
            <a:off x="2677192" y="2497516"/>
            <a:ext cx="254000" cy="165064"/>
          </a:xfrm>
          <a:prstGeom prst="rect">
            <a:avLst/>
          </a:prstGeom>
        </p:spPr>
      </p:pic>
      <p:sp>
        <p:nvSpPr>
          <p:cNvPr id="10" name="Shape 7"/>
          <p:cNvSpPr/>
          <p:nvPr/>
        </p:nvSpPr>
        <p:spPr>
          <a:xfrm>
            <a:off x="3010495" y="1577956"/>
            <a:ext cx="1781933" cy="2004273"/>
          </a:xfrm>
          <a:prstGeom prst="roundRect">
            <a:avLst>
              <a:gd name="adj" fmla="val 6949"/>
            </a:avLst>
          </a:prstGeom>
          <a:solidFill>
            <a:srgbClr val="FFFDF8"/>
          </a:solidFill>
          <a:ln w="6350">
            <a:solidFill>
              <a:srgbClr val="E2DDD0"/>
            </a:solidFill>
            <a:prstDash val="solid"/>
          </a:ln>
        </p:spPr>
      </p:sp>
      <p:sp>
        <p:nvSpPr>
          <p:cNvPr id="11" name="Text 8"/>
          <p:cNvSpPr/>
          <p:nvPr/>
        </p:nvSpPr>
        <p:spPr>
          <a:xfrm>
            <a:off x="3114639" y="1758336"/>
            <a:ext cx="1522845"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4</a:t>
            </a:r>
            <a:endParaRPr lang="en-US" sz="2800" dirty="0"/>
          </a:p>
        </p:txBody>
      </p:sp>
      <p:sp>
        <p:nvSpPr>
          <p:cNvPr id="12" name="Text 9"/>
          <p:cNvSpPr/>
          <p:nvPr/>
        </p:nvSpPr>
        <p:spPr>
          <a:xfrm>
            <a:off x="3114639" y="2177399"/>
            <a:ext cx="152284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‫סינון‬</a:t>
            </a:r>
            <a:endParaRPr lang="en-US" sz="1600" dirty="0"/>
          </a:p>
        </p:txBody>
      </p:sp>
      <p:sp>
        <p:nvSpPr>
          <p:cNvPr id="13" name="Text 10"/>
          <p:cNvSpPr/>
          <p:nvPr/>
        </p:nvSpPr>
        <p:spPr>
          <a:xfrm>
            <a:off x="3114639" y="2484704"/>
            <a:ext cx="1522845"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SampleFilter</a:t>
            </a:r>
            <a:endParaRPr lang="en-US" sz="1200" dirty="0"/>
          </a:p>
        </p:txBody>
      </p:sp>
      <p:sp>
        <p:nvSpPr>
          <p:cNvPr id="14" name="Text 11"/>
          <p:cNvSpPr/>
          <p:nvPr/>
        </p:nvSpPr>
        <p:spPr>
          <a:xfrm>
            <a:off x="3114639" y="2761617"/>
            <a:ext cx="1522845"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‫מסיר קטעים לא שמישים, למשל ארוכים מ-30 שניות‬</a:t>
            </a:r>
            <a:endParaRPr lang="en-US" sz="1200" dirty="0"/>
          </a:p>
        </p:txBody>
      </p:sp>
      <p:pic>
        <p:nvPicPr>
          <p:cNvPr id="15" name="Image 1" descr="arrow-left">    </p:cNvPr>
          <p:cNvPicPr>
            <a:picLocks noChangeAspect="1"/>
          </p:cNvPicPr>
          <p:nvPr/>
        </p:nvPicPr>
        <p:blipFill>
          <a:blip r:embed="rId2"/>
          <a:srcRect l="-11" r="-11" t="0" b="0"/>
          <a:stretch/>
        </p:blipFill>
        <p:spPr>
          <a:xfrm>
            <a:off x="4871731" y="2497516"/>
            <a:ext cx="254000" cy="165064"/>
          </a:xfrm>
          <a:prstGeom prst="rect">
            <a:avLst/>
          </a:prstGeom>
        </p:spPr>
      </p:pic>
      <p:sp>
        <p:nvSpPr>
          <p:cNvPr id="16" name="Shape 12"/>
          <p:cNvSpPr/>
          <p:nvPr/>
        </p:nvSpPr>
        <p:spPr>
          <a:xfrm>
            <a:off x="5205033" y="1577956"/>
            <a:ext cx="1781933" cy="2004273"/>
          </a:xfrm>
          <a:prstGeom prst="roundRect">
            <a:avLst>
              <a:gd name="adj" fmla="val 6949"/>
            </a:avLst>
          </a:prstGeom>
          <a:solidFill>
            <a:srgbClr val="FFFDF8"/>
          </a:solidFill>
          <a:ln w="6350">
            <a:solidFill>
              <a:srgbClr val="E2DDD0"/>
            </a:solidFill>
            <a:prstDash val="solid"/>
          </a:ln>
        </p:spPr>
      </p:sp>
      <p:sp>
        <p:nvSpPr>
          <p:cNvPr id="17" name="Text 13"/>
          <p:cNvSpPr/>
          <p:nvPr/>
        </p:nvSpPr>
        <p:spPr>
          <a:xfrm>
            <a:off x="5309177" y="1758336"/>
            <a:ext cx="1522845"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3</a:t>
            </a:r>
            <a:endParaRPr lang="en-US" sz="2800" dirty="0"/>
          </a:p>
        </p:txBody>
      </p:sp>
      <p:sp>
        <p:nvSpPr>
          <p:cNvPr id="18" name="Text 14"/>
          <p:cNvSpPr/>
          <p:nvPr/>
        </p:nvSpPr>
        <p:spPr>
          <a:xfrm>
            <a:off x="5309177" y="2177399"/>
            <a:ext cx="152284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‫נרמול טקסט‬</a:t>
            </a:r>
            <a:endParaRPr lang="en-US" sz="1600" dirty="0"/>
          </a:p>
        </p:txBody>
      </p:sp>
      <p:sp>
        <p:nvSpPr>
          <p:cNvPr id="19" name="Text 15"/>
          <p:cNvSpPr/>
          <p:nvPr/>
        </p:nvSpPr>
        <p:spPr>
          <a:xfrm>
            <a:off x="5309177" y="2484704"/>
            <a:ext cx="1522845"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TextNormalizer</a:t>
            </a:r>
            <a:endParaRPr lang="en-US" sz="1200" dirty="0"/>
          </a:p>
        </p:txBody>
      </p:sp>
      <p:sp>
        <p:nvSpPr>
          <p:cNvPr id="20" name="Text 16"/>
          <p:cNvSpPr/>
          <p:nvPr/>
        </p:nvSpPr>
        <p:spPr>
          <a:xfrm>
            <a:off x="5309177" y="2761617"/>
            <a:ext cx="1522845"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‫שני טקסטים: ללימוד (train_text) ולמדידה (eval_text)‬</a:t>
            </a:r>
            <a:endParaRPr lang="en-US" sz="1200" dirty="0"/>
          </a:p>
        </p:txBody>
      </p:sp>
      <p:pic>
        <p:nvPicPr>
          <p:cNvPr id="21" name="Image 2" descr="arrow-left">    </p:cNvPr>
          <p:cNvPicPr>
            <a:picLocks noChangeAspect="1"/>
          </p:cNvPicPr>
          <p:nvPr/>
        </p:nvPicPr>
        <p:blipFill>
          <a:blip r:embed="rId3"/>
          <a:srcRect l="-11" r="-11" t="0" b="0"/>
          <a:stretch/>
        </p:blipFill>
        <p:spPr>
          <a:xfrm>
            <a:off x="7066269" y="2497516"/>
            <a:ext cx="254000" cy="165064"/>
          </a:xfrm>
          <a:prstGeom prst="rect">
            <a:avLst/>
          </a:prstGeom>
        </p:spPr>
      </p:pic>
      <p:sp>
        <p:nvSpPr>
          <p:cNvPr id="22" name="Shape 17"/>
          <p:cNvSpPr/>
          <p:nvPr/>
        </p:nvSpPr>
        <p:spPr>
          <a:xfrm>
            <a:off x="7399572" y="1577956"/>
            <a:ext cx="1781933" cy="2004273"/>
          </a:xfrm>
          <a:prstGeom prst="roundRect">
            <a:avLst>
              <a:gd name="adj" fmla="val 6949"/>
            </a:avLst>
          </a:prstGeom>
          <a:solidFill>
            <a:srgbClr val="FFFDF8"/>
          </a:solidFill>
          <a:ln w="6350">
            <a:solidFill>
              <a:srgbClr val="E2DDD0"/>
            </a:solidFill>
            <a:prstDash val="solid"/>
          </a:ln>
        </p:spPr>
      </p:sp>
      <p:sp>
        <p:nvSpPr>
          <p:cNvPr id="23" name="Text 18"/>
          <p:cNvSpPr/>
          <p:nvPr/>
        </p:nvSpPr>
        <p:spPr>
          <a:xfrm>
            <a:off x="7503716" y="1758336"/>
            <a:ext cx="1522845"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2</a:t>
            </a:r>
            <a:endParaRPr lang="en-US" sz="2800" dirty="0"/>
          </a:p>
        </p:txBody>
      </p:sp>
      <p:sp>
        <p:nvSpPr>
          <p:cNvPr id="24" name="Text 19"/>
          <p:cNvSpPr/>
          <p:nvPr/>
        </p:nvSpPr>
        <p:spPr>
          <a:xfrm>
            <a:off x="7503716" y="2177399"/>
            <a:ext cx="152284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‫פיצול‬</a:t>
            </a:r>
            <a:endParaRPr lang="en-US" sz="1600" dirty="0"/>
          </a:p>
        </p:txBody>
      </p:sp>
      <p:sp>
        <p:nvSpPr>
          <p:cNvPr id="25" name="Text 20"/>
          <p:cNvSpPr/>
          <p:nvPr/>
        </p:nvSpPr>
        <p:spPr>
          <a:xfrm>
            <a:off x="7503716" y="2484704"/>
            <a:ext cx="1522845"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Splitter</a:t>
            </a:r>
            <a:endParaRPr lang="en-US" sz="1200" dirty="0"/>
          </a:p>
        </p:txBody>
      </p:sp>
      <p:sp>
        <p:nvSpPr>
          <p:cNvPr id="26" name="Text 21"/>
          <p:cNvSpPr/>
          <p:nvPr/>
        </p:nvSpPr>
        <p:spPr>
          <a:xfrm>
            <a:off x="7503716" y="2761617"/>
            <a:ext cx="1522845"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‫Train, Val ו-Test לפי קבוצה. קבוע וניתן לשחזור‬</a:t>
            </a:r>
            <a:endParaRPr lang="en-US" sz="1200" dirty="0"/>
          </a:p>
        </p:txBody>
      </p:sp>
      <p:pic>
        <p:nvPicPr>
          <p:cNvPr id="27" name="Image 3" descr="arrow-left">    </p:cNvPr>
          <p:cNvPicPr>
            <a:picLocks noChangeAspect="1"/>
          </p:cNvPicPr>
          <p:nvPr/>
        </p:nvPicPr>
        <p:blipFill>
          <a:blip r:embed="rId4"/>
          <a:srcRect l="-11" r="-11" t="0" b="0"/>
          <a:stretch/>
        </p:blipFill>
        <p:spPr>
          <a:xfrm>
            <a:off x="9260807" y="2497516"/>
            <a:ext cx="254000" cy="165064"/>
          </a:xfrm>
          <a:prstGeom prst="rect">
            <a:avLst/>
          </a:prstGeom>
        </p:spPr>
      </p:pic>
      <p:sp>
        <p:nvSpPr>
          <p:cNvPr id="28" name="Shape 22"/>
          <p:cNvSpPr/>
          <p:nvPr/>
        </p:nvSpPr>
        <p:spPr>
          <a:xfrm>
            <a:off x="9594110" y="1577956"/>
            <a:ext cx="1781933" cy="2004273"/>
          </a:xfrm>
          <a:prstGeom prst="roundRect">
            <a:avLst>
              <a:gd name="adj" fmla="val 6949"/>
            </a:avLst>
          </a:prstGeom>
          <a:solidFill>
            <a:srgbClr val="FFFDF8"/>
          </a:solidFill>
          <a:ln w="6350">
            <a:solidFill>
              <a:srgbClr val="E2DDD0"/>
            </a:solidFill>
            <a:prstDash val="solid"/>
          </a:ln>
        </p:spPr>
      </p:sp>
      <p:sp>
        <p:nvSpPr>
          <p:cNvPr id="29" name="Text 23"/>
          <p:cNvSpPr/>
          <p:nvPr/>
        </p:nvSpPr>
        <p:spPr>
          <a:xfrm>
            <a:off x="9698254" y="1758336"/>
            <a:ext cx="1522845"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1</a:t>
            </a:r>
            <a:endParaRPr lang="en-US" sz="2800" dirty="0"/>
          </a:p>
        </p:txBody>
      </p:sp>
      <p:sp>
        <p:nvSpPr>
          <p:cNvPr id="30" name="Text 24"/>
          <p:cNvSpPr/>
          <p:nvPr/>
        </p:nvSpPr>
        <p:spPr>
          <a:xfrm>
            <a:off x="9698254" y="2177399"/>
            <a:ext cx="152284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‫קריאה‬</a:t>
            </a:r>
            <a:endParaRPr lang="en-US" sz="1600" dirty="0"/>
          </a:p>
        </p:txBody>
      </p:sp>
      <p:sp>
        <p:nvSpPr>
          <p:cNvPr id="31" name="Text 25"/>
          <p:cNvSpPr/>
          <p:nvPr/>
        </p:nvSpPr>
        <p:spPr>
          <a:xfrm>
            <a:off x="9698254" y="2484704"/>
            <a:ext cx="1522845"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DataSource</a:t>
            </a:r>
            <a:endParaRPr lang="en-US" sz="1200" dirty="0"/>
          </a:p>
        </p:txBody>
      </p:sp>
      <p:sp>
        <p:nvSpPr>
          <p:cNvPr id="32" name="Text 26"/>
          <p:cNvSpPr/>
          <p:nvPr/>
        </p:nvSpPr>
        <p:spPr>
          <a:xfrm>
            <a:off x="9698254" y="2761617"/>
            <a:ext cx="1522845"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‫קורא אודיו ו-manifest, ודוחה שורות פגומות עם סיבה‬</a:t>
            </a:r>
            <a:endParaRPr lang="en-US" sz="1200" dirty="0"/>
          </a:p>
        </p:txBody>
      </p:sp>
      <p:sp>
        <p:nvSpPr>
          <p:cNvPr id="33" name="Shape 27"/>
          <p:cNvSpPr/>
          <p:nvPr/>
        </p:nvSpPr>
        <p:spPr>
          <a:xfrm>
            <a:off x="819132" y="3769537"/>
            <a:ext cx="5194300" cy="1107389"/>
          </a:xfrm>
          <a:prstGeom prst="roundRect">
            <a:avLst>
              <a:gd name="adj" fmla="val 10895"/>
            </a:avLst>
          </a:prstGeom>
          <a:solidFill>
            <a:srgbClr val="F6E3D8"/>
          </a:solidFill>
          <a:ln w="12700">
            <a:solidFill>
              <a:srgbClr val="B8481A"/>
            </a:solidFill>
            <a:prstDash val="solid"/>
          </a:ln>
        </p:spPr>
      </p:sp>
      <p:sp>
        <p:nvSpPr>
          <p:cNvPr id="34" name="Text 28"/>
          <p:cNvSpPr/>
          <p:nvPr/>
        </p:nvSpPr>
        <p:spPr>
          <a:xfrm>
            <a:off x="857259" y="3927078"/>
            <a:ext cx="497319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B8481A"/>
                </a:solidFill>
                <a:latin typeface="Arial" pitchFamily="34" charset="0"/>
                <a:ea typeface="Arial" pitchFamily="34" charset="-122"/>
                <a:cs typeface="Arial" pitchFamily="34" charset="-120"/>
              </a:rPr>
              <a:t>‫מה עושים לפני אימון‬</a:t>
            </a:r>
            <a:endParaRPr lang="en-US" sz="1600" dirty="0"/>
          </a:p>
        </p:txBody>
      </p:sp>
      <p:sp>
        <p:nvSpPr>
          <p:cNvPr id="35" name="Text 29"/>
          <p:cNvSpPr/>
          <p:nvPr/>
        </p:nvSpPr>
        <p:spPr>
          <a:xfrm>
            <a:off x="857259" y="4221665"/>
            <a:ext cx="4973195" cy="52311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‫קוראים את הדוחות. בנתונים חדשים מגדירים filter.mode: apply כדי להסיר קטעים ארוכים‬</a:t>
            </a:r>
            <a:endParaRPr lang="en-US" sz="1400" dirty="0"/>
          </a:p>
        </p:txBody>
      </p:sp>
      <p:sp>
        <p:nvSpPr>
          <p:cNvPr id="36" name="Shape 30"/>
          <p:cNvSpPr/>
          <p:nvPr/>
        </p:nvSpPr>
        <p:spPr>
          <a:xfrm>
            <a:off x="6178478" y="3769537"/>
            <a:ext cx="5194390" cy="1107389"/>
          </a:xfrm>
          <a:prstGeom prst="roundRect">
            <a:avLst>
              <a:gd name="adj" fmla="val 10895"/>
            </a:avLst>
          </a:prstGeom>
          <a:solidFill>
            <a:srgbClr val="E1EEEB"/>
          </a:solidFill>
          <a:ln w="12700">
            <a:solidFill>
              <a:srgbClr val="1F6F6F"/>
            </a:solidFill>
            <a:prstDash val="solid"/>
          </a:ln>
        </p:spPr>
      </p:sp>
      <p:sp>
        <p:nvSpPr>
          <p:cNvPr id="37" name="Text 31"/>
          <p:cNvSpPr/>
          <p:nvPr/>
        </p:nvSpPr>
        <p:spPr>
          <a:xfrm>
            <a:off x="6216602" y="3927078"/>
            <a:ext cx="497328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1F6F6F"/>
                </a:solidFill>
                <a:latin typeface="Arial" pitchFamily="34" charset="0"/>
                <a:ea typeface="Arial" pitchFamily="34" charset="-122"/>
                <a:cs typeface="Arial" pitchFamily="34" charset="-120"/>
              </a:rPr>
              <a:t>‫מה יוצא‬</a:t>
            </a:r>
            <a:endParaRPr lang="en-US" sz="1600" dirty="0"/>
          </a:p>
        </p:txBody>
      </p:sp>
      <p:sp>
        <p:nvSpPr>
          <p:cNvPr id="38" name="Text 32"/>
          <p:cNvSpPr/>
          <p:nvPr/>
        </p:nvSpPr>
        <p:spPr>
          <a:xfrm>
            <a:off x="6216602" y="4221665"/>
            <a:ext cx="4973288" cy="52311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‫נתונים מוכנים ודוחות לקריאה: load_report, split_report, text_report, filter_report ו-rejected.csv‬</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‫למה מפצלים‬</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‫שלוש קבוצות: שיעורי בית, תרגול ומבחן סיום‬</a:t>
            </a:r>
            <a:endParaRPr lang="en-US" sz="3200" dirty="0"/>
          </a:p>
        </p:txBody>
      </p:sp>
      <p:sp>
        <p:nvSpPr>
          <p:cNvPr id="4" name="Shape 2"/>
          <p:cNvSpPr/>
          <p:nvPr/>
        </p:nvSpPr>
        <p:spPr>
          <a:xfrm>
            <a:off x="812782" y="1574781"/>
            <a:ext cx="3405188" cy="2044628"/>
          </a:xfrm>
          <a:prstGeom prst="roundRect">
            <a:avLst>
              <a:gd name="adj" fmla="val 6211"/>
            </a:avLst>
          </a:prstGeom>
          <a:solidFill>
            <a:srgbClr val="0F2233"/>
          </a:solidFill>
          <a:ln/>
        </p:spPr>
      </p:sp>
      <p:sp>
        <p:nvSpPr>
          <p:cNvPr id="5" name="Text 3"/>
          <p:cNvSpPr/>
          <p:nvPr/>
        </p:nvSpPr>
        <p:spPr>
          <a:xfrm>
            <a:off x="899075" y="1752563"/>
            <a:ext cx="314111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6FD0C4"/>
                </a:solidFill>
                <a:latin typeface="Arial" pitchFamily="34" charset="0"/>
                <a:ea typeface="Arial" pitchFamily="34" charset="-122"/>
                <a:cs typeface="Arial" pitchFamily="34" charset="-120"/>
              </a:rPr>
              <a:t>‫Test · מבחן סיום‬</a:t>
            </a:r>
            <a:endParaRPr lang="en-US" sz="1400" dirty="0"/>
          </a:p>
        </p:txBody>
      </p:sp>
      <p:sp>
        <p:nvSpPr>
          <p:cNvPr id="6" name="Text 4"/>
          <p:cNvSpPr/>
          <p:nvPr/>
        </p:nvSpPr>
        <p:spPr>
          <a:xfrm>
            <a:off x="899075" y="2047149"/>
            <a:ext cx="3141112" cy="634964"/>
          </a:xfrm>
          <a:prstGeom prst="rect">
            <a:avLst/>
          </a:prstGeom>
          <a:noFill/>
          <a:ln/>
        </p:spPr>
        <p:txBody>
          <a:bodyPr wrap="square" lIns="0" tIns="0" rIns="0" bIns="0" rtlCol="0" anchor="t">
            <a:normAutofit/>
          </a:bodyPr>
          <a:lstStyle/>
          <a:p>
            <a:pPr algn="r" indent="0" marL="0">
              <a:lnSpc>
                <a:spcPts val="4800"/>
              </a:lnSpc>
              <a:buNone/>
            </a:pPr>
            <a:r>
              <a:rPr lang="en-US" sz="4800" b="1" dirty="0">
                <a:solidFill>
                  <a:srgbClr val="F6F4EE"/>
                </a:solidFill>
                <a:latin typeface="Arial" pitchFamily="34" charset="0"/>
                <a:ea typeface="Arial" pitchFamily="34" charset="-122"/>
                <a:cs typeface="Arial" pitchFamily="34" charset="-120"/>
              </a:rPr>
              <a:t>10%</a:t>
            </a:r>
            <a:endParaRPr lang="en-US" sz="4800" dirty="0"/>
          </a:p>
        </p:txBody>
      </p:sp>
      <p:sp>
        <p:nvSpPr>
          <p:cNvPr id="7" name="Text 5"/>
          <p:cNvSpPr/>
          <p:nvPr/>
        </p:nvSpPr>
        <p:spPr>
          <a:xfrm>
            <a:off x="899075" y="2720212"/>
            <a:ext cx="314111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6F4EE"/>
                </a:solidFill>
                <a:latin typeface="Arial" pitchFamily="34" charset="0"/>
                <a:ea typeface="Arial" pitchFamily="34" charset="-122"/>
                <a:cs typeface="Arial" pitchFamily="34" charset="-120"/>
              </a:rPr>
              <a:t>‫כ-875 קטעים‬</a:t>
            </a:r>
            <a:endParaRPr lang="en-US" sz="1400" dirty="0"/>
          </a:p>
        </p:txBody>
      </p:sp>
      <p:sp>
        <p:nvSpPr>
          <p:cNvPr id="8" name="Text 6"/>
          <p:cNvSpPr/>
          <p:nvPr/>
        </p:nvSpPr>
        <p:spPr>
          <a:xfrm>
            <a:off x="899075" y="3014805"/>
            <a:ext cx="3141112"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‫נבדק פעם אחת בלבד, למנצח. בריצת ההדמיה: 97 קטעים‬</a:t>
            </a:r>
            <a:endParaRPr lang="en-US" sz="1200" dirty="0"/>
          </a:p>
        </p:txBody>
      </p:sp>
      <p:sp>
        <p:nvSpPr>
          <p:cNvPr id="9" name="Shape 7"/>
          <p:cNvSpPr/>
          <p:nvPr/>
        </p:nvSpPr>
        <p:spPr>
          <a:xfrm>
            <a:off x="4376665" y="1581131"/>
            <a:ext cx="3415578" cy="2031928"/>
          </a:xfrm>
          <a:prstGeom prst="roundRect">
            <a:avLst>
              <a:gd name="adj" fmla="val 5938"/>
            </a:avLst>
          </a:prstGeom>
          <a:solidFill>
            <a:srgbClr val="F6E3D8"/>
          </a:solidFill>
          <a:ln w="12700">
            <a:solidFill>
              <a:srgbClr val="B8481A"/>
            </a:solidFill>
            <a:prstDash val="solid"/>
          </a:ln>
        </p:spPr>
      </p:sp>
      <p:sp>
        <p:nvSpPr>
          <p:cNvPr id="10" name="Text 8"/>
          <p:cNvSpPr/>
          <p:nvPr/>
        </p:nvSpPr>
        <p:spPr>
          <a:xfrm>
            <a:off x="4468154" y="1764109"/>
            <a:ext cx="314111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‫Val · מבחן תרגול‬</a:t>
            </a:r>
            <a:endParaRPr lang="en-US" sz="1400" dirty="0"/>
          </a:p>
        </p:txBody>
      </p:sp>
      <p:sp>
        <p:nvSpPr>
          <p:cNvPr id="11" name="Text 9"/>
          <p:cNvSpPr/>
          <p:nvPr/>
        </p:nvSpPr>
        <p:spPr>
          <a:xfrm>
            <a:off x="4468154" y="2058696"/>
            <a:ext cx="3141112" cy="634964"/>
          </a:xfrm>
          <a:prstGeom prst="rect">
            <a:avLst/>
          </a:prstGeom>
          <a:noFill/>
          <a:ln/>
        </p:spPr>
        <p:txBody>
          <a:bodyPr wrap="square" lIns="0" tIns="0" rIns="0" bIns="0" rtlCol="0" anchor="t">
            <a:normAutofit/>
          </a:bodyPr>
          <a:lstStyle/>
          <a:p>
            <a:pPr algn="r" indent="0" marL="0">
              <a:lnSpc>
                <a:spcPts val="4800"/>
              </a:lnSpc>
              <a:buNone/>
            </a:pPr>
            <a:r>
              <a:rPr lang="en-US" sz="4800" b="1" dirty="0">
                <a:solidFill>
                  <a:srgbClr val="B8481A"/>
                </a:solidFill>
                <a:latin typeface="Arial" pitchFamily="34" charset="0"/>
                <a:ea typeface="Arial" pitchFamily="34" charset="-122"/>
                <a:cs typeface="Arial" pitchFamily="34" charset="-120"/>
              </a:rPr>
              <a:t>10%</a:t>
            </a:r>
            <a:endParaRPr lang="en-US" sz="4800" dirty="0"/>
          </a:p>
        </p:txBody>
      </p:sp>
      <p:sp>
        <p:nvSpPr>
          <p:cNvPr id="12" name="Text 10"/>
          <p:cNvSpPr/>
          <p:nvPr/>
        </p:nvSpPr>
        <p:spPr>
          <a:xfrm>
            <a:off x="4468154" y="2731759"/>
            <a:ext cx="314111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‫875 קטעים‬</a:t>
            </a:r>
            <a:endParaRPr lang="en-US" sz="1400" dirty="0"/>
          </a:p>
        </p:txBody>
      </p:sp>
      <p:sp>
        <p:nvSpPr>
          <p:cNvPr id="13" name="Text 11"/>
          <p:cNvSpPr/>
          <p:nvPr/>
        </p:nvSpPr>
        <p:spPr>
          <a:xfrm>
            <a:off x="4468154" y="3026352"/>
            <a:ext cx="314111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‫לפיו בוחרים מנצח. בריצת ההדמיה: 101 קטעים‬</a:t>
            </a:r>
            <a:endParaRPr lang="en-US" sz="1200" dirty="0"/>
          </a:p>
        </p:txBody>
      </p:sp>
      <p:sp>
        <p:nvSpPr>
          <p:cNvPr id="14" name="Shape 12"/>
          <p:cNvSpPr/>
          <p:nvPr/>
        </p:nvSpPr>
        <p:spPr>
          <a:xfrm>
            <a:off x="7957289" y="1581131"/>
            <a:ext cx="3415578" cy="2031928"/>
          </a:xfrm>
          <a:prstGeom prst="roundRect">
            <a:avLst>
              <a:gd name="adj" fmla="val 5938"/>
            </a:avLst>
          </a:prstGeom>
          <a:solidFill>
            <a:srgbClr val="E1EEEB"/>
          </a:solidFill>
          <a:ln w="12700">
            <a:solidFill>
              <a:srgbClr val="1F6F6F"/>
            </a:solidFill>
            <a:prstDash val="solid"/>
          </a:ln>
        </p:spPr>
      </p:sp>
      <p:sp>
        <p:nvSpPr>
          <p:cNvPr id="15" name="Text 13"/>
          <p:cNvSpPr/>
          <p:nvPr/>
        </p:nvSpPr>
        <p:spPr>
          <a:xfrm>
            <a:off x="8048778" y="1764109"/>
            <a:ext cx="314111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‫Train · שיעורי בית‬</a:t>
            </a:r>
            <a:endParaRPr lang="en-US" sz="1400" dirty="0"/>
          </a:p>
        </p:txBody>
      </p:sp>
      <p:sp>
        <p:nvSpPr>
          <p:cNvPr id="16" name="Text 14"/>
          <p:cNvSpPr/>
          <p:nvPr/>
        </p:nvSpPr>
        <p:spPr>
          <a:xfrm>
            <a:off x="8048778" y="2058696"/>
            <a:ext cx="3141112" cy="634964"/>
          </a:xfrm>
          <a:prstGeom prst="rect">
            <a:avLst/>
          </a:prstGeom>
          <a:noFill/>
          <a:ln/>
        </p:spPr>
        <p:txBody>
          <a:bodyPr wrap="square" lIns="0" tIns="0" rIns="0" bIns="0" rtlCol="0" anchor="t">
            <a:normAutofit/>
          </a:bodyPr>
          <a:lstStyle/>
          <a:p>
            <a:pPr algn="r" indent="0" marL="0">
              <a:lnSpc>
                <a:spcPts val="4800"/>
              </a:lnSpc>
              <a:buNone/>
            </a:pPr>
            <a:r>
              <a:rPr lang="en-US" sz="4800" b="1" dirty="0">
                <a:solidFill>
                  <a:srgbClr val="1F6F6F"/>
                </a:solidFill>
                <a:latin typeface="Arial" pitchFamily="34" charset="0"/>
                <a:ea typeface="Arial" pitchFamily="34" charset="-122"/>
                <a:cs typeface="Arial" pitchFamily="34" charset="-120"/>
              </a:rPr>
              <a:t>80%</a:t>
            </a:r>
            <a:endParaRPr lang="en-US" sz="4800" dirty="0"/>
          </a:p>
        </p:txBody>
      </p:sp>
      <p:sp>
        <p:nvSpPr>
          <p:cNvPr id="17" name="Text 15"/>
          <p:cNvSpPr/>
          <p:nvPr/>
        </p:nvSpPr>
        <p:spPr>
          <a:xfrm>
            <a:off x="8048778" y="2731759"/>
            <a:ext cx="314111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‫6,973 קטעים (Daf Yomi)‬</a:t>
            </a:r>
            <a:endParaRPr lang="en-US" sz="1400" dirty="0"/>
          </a:p>
        </p:txBody>
      </p:sp>
      <p:sp>
        <p:nvSpPr>
          <p:cNvPr id="18" name="Text 16"/>
          <p:cNvSpPr/>
          <p:nvPr/>
        </p:nvSpPr>
        <p:spPr>
          <a:xfrm>
            <a:off x="8048778" y="3026352"/>
            <a:ext cx="314111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‫המודל לומד מהם. בריצת ההדמיה: 702 קטעים‬</a:t>
            </a:r>
            <a:endParaRPr lang="en-US" sz="1200" dirty="0"/>
          </a:p>
        </p:txBody>
      </p:sp>
      <p:sp>
        <p:nvSpPr>
          <p:cNvPr id="19" name="Text 17"/>
          <p:cNvSpPr/>
          <p:nvPr/>
        </p:nvSpPr>
        <p:spPr>
          <a:xfrm>
            <a:off x="495789" y="37971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C6670"/>
                </a:solidFill>
                <a:latin typeface="Arial" pitchFamily="34" charset="0"/>
                <a:ea typeface="Arial" pitchFamily="34" charset="-122"/>
                <a:cs typeface="Arial" pitchFamily="34" charset="-120"/>
              </a:rPr>
              <a:t>‫כל ריבוע הוא שיעור שלם. שיעור הולך לצד אחד בלבד‬</a:t>
            </a:r>
            <a:endParaRPr lang="en-US" sz="1200" dirty="0"/>
          </a:p>
        </p:txBody>
      </p:sp>
      <p:sp>
        <p:nvSpPr>
          <p:cNvPr id="20" name="Text 18"/>
          <p:cNvSpPr/>
          <p:nvPr/>
        </p:nvSpPr>
        <p:spPr>
          <a:xfrm>
            <a:off x="812782"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1" name="Text 19"/>
          <p:cNvSpPr/>
          <p:nvPr/>
        </p:nvSpPr>
        <p:spPr>
          <a:xfrm>
            <a:off x="1877038"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2" name="Text 20"/>
          <p:cNvSpPr/>
          <p:nvPr/>
        </p:nvSpPr>
        <p:spPr>
          <a:xfrm>
            <a:off x="2941295"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0F2233"/>
          </a:solidFill>
          <a:ln/>
        </p:spPr>
        <p:txBody>
          <a:bodyPr wrap="square" lIns="0" tIns="127000" rIns="0" bIns="101600" rtlCol="0" anchor="t">
            <a:normAutofit/>
          </a:bodyPr>
          <a:lstStyle/>
          <a:p>
            <a:pPr algn="ctr" indent="0" marL="0">
              <a:lnSpc>
                <a:spcPts val="1440"/>
              </a:lnSpc>
              <a:buNone/>
            </a:pPr>
            <a:r>
              <a:rPr lang="en-US" sz="1200" b="1" dirty="0">
                <a:solidFill>
                  <a:srgbClr val="F6F4EE"/>
                </a:solidFill>
                <a:latin typeface="Arial" pitchFamily="34" charset="0"/>
                <a:ea typeface="Arial" pitchFamily="34" charset="-122"/>
                <a:cs typeface="Arial" pitchFamily="34" charset="-120"/>
              </a:rPr>
              <a:t>‫שיעור‬</a:t>
            </a:r>
            <a:endParaRPr lang="en-US" sz="1200" dirty="0"/>
          </a:p>
        </p:txBody>
      </p:sp>
      <p:sp>
        <p:nvSpPr>
          <p:cNvPr id="23" name="Text 21"/>
          <p:cNvSpPr/>
          <p:nvPr/>
        </p:nvSpPr>
        <p:spPr>
          <a:xfrm>
            <a:off x="4005551"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4" name="Text 22"/>
          <p:cNvSpPr/>
          <p:nvPr/>
        </p:nvSpPr>
        <p:spPr>
          <a:xfrm>
            <a:off x="5069807"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5" name="Text 23"/>
          <p:cNvSpPr/>
          <p:nvPr/>
        </p:nvSpPr>
        <p:spPr>
          <a:xfrm>
            <a:off x="6134064"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B8481A"/>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6" name="Text 24"/>
          <p:cNvSpPr/>
          <p:nvPr/>
        </p:nvSpPr>
        <p:spPr>
          <a:xfrm>
            <a:off x="7198320"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7" name="Text 25"/>
          <p:cNvSpPr/>
          <p:nvPr/>
        </p:nvSpPr>
        <p:spPr>
          <a:xfrm>
            <a:off x="8262576"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8" name="Text 26"/>
          <p:cNvSpPr/>
          <p:nvPr/>
        </p:nvSpPr>
        <p:spPr>
          <a:xfrm>
            <a:off x="9326833"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29" name="Text 27"/>
          <p:cNvSpPr/>
          <p:nvPr/>
        </p:nvSpPr>
        <p:spPr>
          <a:xfrm>
            <a:off x="10391089" y="4188383"/>
            <a:ext cx="988129" cy="436923"/>
          </a:xfrm>
          <a:custGeom>
            <a:avLst/>
            <a:gdLst/>
            <a:ahLst/>
            <a:cxnLst/>
            <a:rect l="l" t="t" r="r" b="b"/>
            <a:pathLst>
              <a:path w="988129" h="436923">
                <a:moveTo>
                  <a:pt x="76200" y="0"/>
                </a:moveTo>
                <a:lnTo>
                  <a:pt x="911929" y="0"/>
                </a:lnTo>
                <a:arcTo hR="76200" wR="76200" stAng="16200000" swAng="5400000"/>
                <a:lnTo>
                  <a:pt x="988129" y="360723"/>
                </a:lnTo>
                <a:arcTo hR="76200" wR="76200" stAng="0" swAng="5400000"/>
                <a:lnTo>
                  <a:pt x="76200" y="436923"/>
                </a:lnTo>
                <a:arcTo hR="76200" wR="76200" stAng="5400000" swAng="5400000"/>
                <a:lnTo>
                  <a:pt x="0" y="76200"/>
                </a:lnTo>
                <a:arcTo hR="76200" wR="76200" stAng="10800000" swAng="5400000"/>
                <a:close/>
              </a:path>
            </a:pathLst>
          </a:custGeom>
          <a:solidFill>
            <a:srgbClr val="1F6F6F"/>
          </a:solidFill>
          <a:ln/>
        </p:spPr>
        <p:txBody>
          <a:bodyPr wrap="square" lIns="0" tIns="127000" rIns="0" bIns="1016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‫שיעור‬</a:t>
            </a:r>
            <a:endParaRPr lang="en-US" sz="1200" dirty="0"/>
          </a:p>
        </p:txBody>
      </p:sp>
      <p:sp>
        <p:nvSpPr>
          <p:cNvPr id="30" name="Text 28"/>
          <p:cNvSpPr/>
          <p:nvPr/>
        </p:nvSpPr>
        <p:spPr>
          <a:xfrm>
            <a:off x="812782" y="4803087"/>
            <a:ext cx="10566436" cy="502859"/>
          </a:xfrm>
          <a:prstGeom prst="roundRect">
            <a:avLst>
              <a:gd name="adj" fmla="val 20204"/>
            </a:avLst>
          </a:prstGeom>
          <a:solidFill>
            <a:srgbClr val="1F6F6F"/>
          </a:solidFill>
          <a:ln/>
        </p:spPr>
        <p:txBody>
          <a:bodyPr wrap="square" lIns="0" tIns="97242" rIns="148042" bIns="71842"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‫כלל ברזל: שיעור אחד לא מתפצל בין הקבוצות, אחרת המודל כבר ראה את המבחן. הפיצול קבוע ומשוחזר (seed 42)‬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080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‫הצעה לפתרון: מעט קבוצות לבחינה‬</a:t>
            </a:r>
            <a:endParaRPr lang="en-US" sz="1200" dirty="0"/>
          </a:p>
        </p:txBody>
      </p:sp>
      <p:sp>
        <p:nvSpPr>
          <p:cNvPr id="3" name="Text 1"/>
          <p:cNvSpPr/>
          <p:nvPr>
            <p:ph type="title"/>
          </p:nvPr>
        </p:nvSpPr>
        <p:spPr>
          <a:xfrm>
            <a:off x="495789" y="848407"/>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‫K-fold לפי קבוצה: כל קבוצה נבחנת פעם אחת‬</a:t>
            </a:r>
            <a:endParaRPr lang="en-US" sz="3200" dirty="0"/>
          </a:p>
        </p:txBody>
      </p:sp>
      <p:sp>
        <p:nvSpPr>
          <p:cNvPr id="4" name="Text 2"/>
          <p:cNvSpPr/>
          <p:nvPr/>
        </p:nvSpPr>
        <p:spPr>
          <a:xfrm>
            <a:off x="810673" y="1460531"/>
            <a:ext cx="1888922" cy="208251"/>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5C6670"/>
                </a:solidFill>
                <a:latin typeface="Arial" pitchFamily="34" charset="0"/>
                <a:ea typeface="Arial" pitchFamily="34" charset="-122"/>
                <a:cs typeface="Arial" pitchFamily="34" charset="-120"/>
              </a:rPr>
              <a:t>‫חלק 5‬</a:t>
            </a:r>
            <a:endParaRPr lang="en-US" sz="1200" dirty="0"/>
          </a:p>
        </p:txBody>
      </p:sp>
      <p:sp>
        <p:nvSpPr>
          <p:cNvPr id="5" name="Text 3"/>
          <p:cNvSpPr/>
          <p:nvPr/>
        </p:nvSpPr>
        <p:spPr>
          <a:xfrm>
            <a:off x="2746160" y="1460531"/>
            <a:ext cx="1888922" cy="208251"/>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5C6670"/>
                </a:solidFill>
                <a:latin typeface="Arial" pitchFamily="34" charset="0"/>
                <a:ea typeface="Arial" pitchFamily="34" charset="-122"/>
                <a:cs typeface="Arial" pitchFamily="34" charset="-120"/>
              </a:rPr>
              <a:t>‫חלק 4‬</a:t>
            </a:r>
            <a:endParaRPr lang="en-US" sz="1200" dirty="0"/>
          </a:p>
        </p:txBody>
      </p:sp>
      <p:sp>
        <p:nvSpPr>
          <p:cNvPr id="6" name="Text 4"/>
          <p:cNvSpPr/>
          <p:nvPr/>
        </p:nvSpPr>
        <p:spPr>
          <a:xfrm>
            <a:off x="4681648" y="1460531"/>
            <a:ext cx="1888922" cy="208251"/>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5C6670"/>
                </a:solidFill>
                <a:latin typeface="Arial" pitchFamily="34" charset="0"/>
                <a:ea typeface="Arial" pitchFamily="34" charset="-122"/>
                <a:cs typeface="Arial" pitchFamily="34" charset="-120"/>
              </a:rPr>
              <a:t>‫חלק 3‬</a:t>
            </a:r>
            <a:endParaRPr lang="en-US" sz="1200" dirty="0"/>
          </a:p>
        </p:txBody>
      </p:sp>
      <p:sp>
        <p:nvSpPr>
          <p:cNvPr id="7" name="Text 5"/>
          <p:cNvSpPr/>
          <p:nvPr/>
        </p:nvSpPr>
        <p:spPr>
          <a:xfrm>
            <a:off x="6617135" y="1460531"/>
            <a:ext cx="1888922" cy="208251"/>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5C6670"/>
                </a:solidFill>
                <a:latin typeface="Arial" pitchFamily="34" charset="0"/>
                <a:ea typeface="Arial" pitchFamily="34" charset="-122"/>
                <a:cs typeface="Arial" pitchFamily="34" charset="-120"/>
              </a:rPr>
              <a:t>‫חלק 2‬</a:t>
            </a:r>
            <a:endParaRPr lang="en-US" sz="1200" dirty="0"/>
          </a:p>
        </p:txBody>
      </p:sp>
      <p:sp>
        <p:nvSpPr>
          <p:cNvPr id="8" name="Text 6"/>
          <p:cNvSpPr/>
          <p:nvPr/>
        </p:nvSpPr>
        <p:spPr>
          <a:xfrm>
            <a:off x="8552622" y="1460531"/>
            <a:ext cx="1888922" cy="208251"/>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5C6670"/>
                </a:solidFill>
                <a:latin typeface="Arial" pitchFamily="34" charset="0"/>
                <a:ea typeface="Arial" pitchFamily="34" charset="-122"/>
                <a:cs typeface="Arial" pitchFamily="34" charset="-120"/>
              </a:rPr>
              <a:t>‫חלק 1‬</a:t>
            </a:r>
            <a:endParaRPr lang="en-US" sz="1200" dirty="0"/>
          </a:p>
        </p:txBody>
      </p:sp>
      <p:sp>
        <p:nvSpPr>
          <p:cNvPr id="9" name="Text 7"/>
          <p:cNvSpPr/>
          <p:nvPr/>
        </p:nvSpPr>
        <p:spPr>
          <a:xfrm>
            <a:off x="10464818" y="1460531"/>
            <a:ext cx="889000" cy="208251"/>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5C6670"/>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812782" y="1732266"/>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1" name="Text 9"/>
          <p:cNvSpPr/>
          <p:nvPr/>
        </p:nvSpPr>
        <p:spPr>
          <a:xfrm>
            <a:off x="2748269" y="1732266"/>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2" name="Text 10"/>
          <p:cNvSpPr/>
          <p:nvPr/>
        </p:nvSpPr>
        <p:spPr>
          <a:xfrm>
            <a:off x="4683756" y="1732266"/>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3" name="Text 11"/>
          <p:cNvSpPr/>
          <p:nvPr/>
        </p:nvSpPr>
        <p:spPr>
          <a:xfrm>
            <a:off x="6619243" y="1732266"/>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4" name="Text 12"/>
          <p:cNvSpPr/>
          <p:nvPr/>
        </p:nvSpPr>
        <p:spPr>
          <a:xfrm>
            <a:off x="8554731" y="1732266"/>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B8481A"/>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Val</a:t>
            </a:r>
            <a:endParaRPr lang="en-US" sz="1200" dirty="0"/>
          </a:p>
        </p:txBody>
      </p:sp>
      <p:sp>
        <p:nvSpPr>
          <p:cNvPr id="15" name="Text 13"/>
          <p:cNvSpPr/>
          <p:nvPr/>
        </p:nvSpPr>
        <p:spPr>
          <a:xfrm>
            <a:off x="10464818" y="1821166"/>
            <a:ext cx="889000" cy="208215"/>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0F2233"/>
                </a:solidFill>
                <a:latin typeface="Arial" pitchFamily="34" charset="0"/>
                <a:ea typeface="Arial" pitchFamily="34" charset="-122"/>
                <a:cs typeface="Arial" pitchFamily="34" charset="-120"/>
              </a:rPr>
              <a:t>‫סבב 1‬</a:t>
            </a:r>
            <a:endParaRPr lang="en-US" sz="1200" dirty="0"/>
          </a:p>
        </p:txBody>
      </p:sp>
      <p:sp>
        <p:nvSpPr>
          <p:cNvPr id="16" name="Text 14"/>
          <p:cNvSpPr/>
          <p:nvPr/>
        </p:nvSpPr>
        <p:spPr>
          <a:xfrm>
            <a:off x="812782" y="214366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7" name="Text 15"/>
          <p:cNvSpPr/>
          <p:nvPr/>
        </p:nvSpPr>
        <p:spPr>
          <a:xfrm>
            <a:off x="2748269" y="214366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8" name="Text 16"/>
          <p:cNvSpPr/>
          <p:nvPr/>
        </p:nvSpPr>
        <p:spPr>
          <a:xfrm>
            <a:off x="4683756" y="214366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19" name="Text 17"/>
          <p:cNvSpPr/>
          <p:nvPr/>
        </p:nvSpPr>
        <p:spPr>
          <a:xfrm>
            <a:off x="6619243" y="214366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B8481A"/>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Val</a:t>
            </a:r>
            <a:endParaRPr lang="en-US" sz="1200" dirty="0"/>
          </a:p>
        </p:txBody>
      </p:sp>
      <p:sp>
        <p:nvSpPr>
          <p:cNvPr id="20" name="Text 18"/>
          <p:cNvSpPr/>
          <p:nvPr/>
        </p:nvSpPr>
        <p:spPr>
          <a:xfrm>
            <a:off x="8554731" y="214366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21" name="Text 19"/>
          <p:cNvSpPr/>
          <p:nvPr/>
        </p:nvSpPr>
        <p:spPr>
          <a:xfrm>
            <a:off x="10464818" y="2232565"/>
            <a:ext cx="889000" cy="208215"/>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0F2233"/>
                </a:solidFill>
                <a:latin typeface="Arial" pitchFamily="34" charset="0"/>
                <a:ea typeface="Arial" pitchFamily="34" charset="-122"/>
                <a:cs typeface="Arial" pitchFamily="34" charset="-120"/>
              </a:rPr>
              <a:t>‫סבב 2‬</a:t>
            </a:r>
            <a:endParaRPr lang="en-US" sz="1200" dirty="0"/>
          </a:p>
        </p:txBody>
      </p:sp>
      <p:sp>
        <p:nvSpPr>
          <p:cNvPr id="22" name="Text 20"/>
          <p:cNvSpPr/>
          <p:nvPr/>
        </p:nvSpPr>
        <p:spPr>
          <a:xfrm>
            <a:off x="812782" y="255506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23" name="Text 21"/>
          <p:cNvSpPr/>
          <p:nvPr/>
        </p:nvSpPr>
        <p:spPr>
          <a:xfrm>
            <a:off x="2748269" y="255506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24" name="Text 22"/>
          <p:cNvSpPr/>
          <p:nvPr/>
        </p:nvSpPr>
        <p:spPr>
          <a:xfrm>
            <a:off x="4683756" y="255506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B8481A"/>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Val</a:t>
            </a:r>
            <a:endParaRPr lang="en-US" sz="1200" dirty="0"/>
          </a:p>
        </p:txBody>
      </p:sp>
      <p:sp>
        <p:nvSpPr>
          <p:cNvPr id="25" name="Text 23"/>
          <p:cNvSpPr/>
          <p:nvPr/>
        </p:nvSpPr>
        <p:spPr>
          <a:xfrm>
            <a:off x="6619243" y="255506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26" name="Text 24"/>
          <p:cNvSpPr/>
          <p:nvPr/>
        </p:nvSpPr>
        <p:spPr>
          <a:xfrm>
            <a:off x="8554731" y="255506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27" name="Text 25"/>
          <p:cNvSpPr/>
          <p:nvPr/>
        </p:nvSpPr>
        <p:spPr>
          <a:xfrm>
            <a:off x="10464818" y="2643963"/>
            <a:ext cx="889000" cy="208215"/>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0F2233"/>
                </a:solidFill>
                <a:latin typeface="Arial" pitchFamily="34" charset="0"/>
                <a:ea typeface="Arial" pitchFamily="34" charset="-122"/>
                <a:cs typeface="Arial" pitchFamily="34" charset="-120"/>
              </a:rPr>
              <a:t>‫סבב 3‬</a:t>
            </a:r>
            <a:endParaRPr lang="en-US" sz="1200" dirty="0"/>
          </a:p>
        </p:txBody>
      </p:sp>
      <p:sp>
        <p:nvSpPr>
          <p:cNvPr id="28" name="Text 26"/>
          <p:cNvSpPr/>
          <p:nvPr/>
        </p:nvSpPr>
        <p:spPr>
          <a:xfrm>
            <a:off x="812782" y="296645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29" name="Text 27"/>
          <p:cNvSpPr/>
          <p:nvPr/>
        </p:nvSpPr>
        <p:spPr>
          <a:xfrm>
            <a:off x="2748269" y="296645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B8481A"/>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Val</a:t>
            </a:r>
            <a:endParaRPr lang="en-US" sz="1200" dirty="0"/>
          </a:p>
        </p:txBody>
      </p:sp>
      <p:sp>
        <p:nvSpPr>
          <p:cNvPr id="30" name="Text 28"/>
          <p:cNvSpPr/>
          <p:nvPr/>
        </p:nvSpPr>
        <p:spPr>
          <a:xfrm>
            <a:off x="4683756" y="296645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1" name="Text 29"/>
          <p:cNvSpPr/>
          <p:nvPr/>
        </p:nvSpPr>
        <p:spPr>
          <a:xfrm>
            <a:off x="6619243" y="296645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2" name="Text 30"/>
          <p:cNvSpPr/>
          <p:nvPr/>
        </p:nvSpPr>
        <p:spPr>
          <a:xfrm>
            <a:off x="8554731" y="2966455"/>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3" name="Text 31"/>
          <p:cNvSpPr/>
          <p:nvPr/>
        </p:nvSpPr>
        <p:spPr>
          <a:xfrm>
            <a:off x="10464818" y="3055355"/>
            <a:ext cx="889000" cy="208215"/>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0F2233"/>
                </a:solidFill>
                <a:latin typeface="Arial" pitchFamily="34" charset="0"/>
                <a:ea typeface="Arial" pitchFamily="34" charset="-122"/>
                <a:cs typeface="Arial" pitchFamily="34" charset="-120"/>
              </a:rPr>
              <a:t>‫סבב 4‬</a:t>
            </a:r>
            <a:endParaRPr lang="en-US" sz="1200" dirty="0"/>
          </a:p>
        </p:txBody>
      </p:sp>
      <p:sp>
        <p:nvSpPr>
          <p:cNvPr id="34" name="Text 32"/>
          <p:cNvSpPr/>
          <p:nvPr/>
        </p:nvSpPr>
        <p:spPr>
          <a:xfrm>
            <a:off x="812782" y="337785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B8481A"/>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Val</a:t>
            </a:r>
            <a:endParaRPr lang="en-US" sz="1200" dirty="0"/>
          </a:p>
        </p:txBody>
      </p:sp>
      <p:sp>
        <p:nvSpPr>
          <p:cNvPr id="35" name="Text 33"/>
          <p:cNvSpPr/>
          <p:nvPr/>
        </p:nvSpPr>
        <p:spPr>
          <a:xfrm>
            <a:off x="2748269" y="337785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6" name="Text 34"/>
          <p:cNvSpPr/>
          <p:nvPr/>
        </p:nvSpPr>
        <p:spPr>
          <a:xfrm>
            <a:off x="4683756" y="337785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7" name="Text 35"/>
          <p:cNvSpPr/>
          <p:nvPr/>
        </p:nvSpPr>
        <p:spPr>
          <a:xfrm>
            <a:off x="6619243" y="337785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8" name="Text 36"/>
          <p:cNvSpPr/>
          <p:nvPr/>
        </p:nvSpPr>
        <p:spPr>
          <a:xfrm>
            <a:off x="8554731" y="3377853"/>
            <a:ext cx="1884705" cy="360615"/>
          </a:xfrm>
          <a:custGeom>
            <a:avLst/>
            <a:gdLst/>
            <a:ahLst/>
            <a:cxnLst/>
            <a:rect l="l" t="t" r="r" b="b"/>
            <a:pathLst>
              <a:path w="1884705" h="360615">
                <a:moveTo>
                  <a:pt x="63500" y="0"/>
                </a:moveTo>
                <a:lnTo>
                  <a:pt x="1821205" y="0"/>
                </a:lnTo>
                <a:arcTo hR="63500" wR="63500" stAng="16200000" swAng="5400000"/>
                <a:lnTo>
                  <a:pt x="1884705" y="297115"/>
                </a:lnTo>
                <a:arcTo hR="63500" wR="63500" stAng="0" swAng="5400000"/>
                <a:lnTo>
                  <a:pt x="63500" y="360615"/>
                </a:lnTo>
                <a:arcTo hR="63500" wR="63500" stAng="5400000" swAng="5400000"/>
                <a:lnTo>
                  <a:pt x="0" y="63500"/>
                </a:lnTo>
                <a:arcTo hR="63500" wR="63500" stAng="10800000" swAng="5400000"/>
                <a:close/>
              </a:path>
            </a:pathLst>
          </a:custGeom>
          <a:solidFill>
            <a:srgbClr val="1F6F6F"/>
          </a:solidFill>
          <a:ln/>
        </p:spPr>
        <p:txBody>
          <a:bodyPr wrap="square" lIns="0" tIns="88900" rIns="0" bIns="63500" rtlCol="0" anchor="t">
            <a:normAutofit/>
          </a:bodyPr>
          <a:lstStyle/>
          <a:p>
            <a:pPr algn="ctr" indent="0" marL="0">
              <a:lnSpc>
                <a:spcPts val="1440"/>
              </a:lnSpc>
              <a:buNone/>
            </a:pPr>
            <a:r>
              <a:rPr lang="en-US" sz="1200" b="1" dirty="0">
                <a:solidFill>
                  <a:srgbClr val="FFFDF8"/>
                </a:solidFill>
                <a:latin typeface="Arial" pitchFamily="34" charset="0"/>
                <a:ea typeface="Arial" pitchFamily="34" charset="-122"/>
                <a:cs typeface="Arial" pitchFamily="34" charset="-120"/>
              </a:rPr>
              <a:t>Train</a:t>
            </a:r>
            <a:endParaRPr lang="en-US" sz="1200" dirty="0"/>
          </a:p>
        </p:txBody>
      </p:sp>
      <p:sp>
        <p:nvSpPr>
          <p:cNvPr id="39" name="Text 37"/>
          <p:cNvSpPr/>
          <p:nvPr/>
        </p:nvSpPr>
        <p:spPr>
          <a:xfrm>
            <a:off x="10464818" y="3466753"/>
            <a:ext cx="889000" cy="208215"/>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0F2233"/>
                </a:solidFill>
                <a:latin typeface="Arial" pitchFamily="34" charset="0"/>
                <a:ea typeface="Arial" pitchFamily="34" charset="-122"/>
                <a:cs typeface="Arial" pitchFamily="34" charset="-120"/>
              </a:rPr>
              <a:t>‫סבב 5‬</a:t>
            </a:r>
            <a:endParaRPr lang="en-US" sz="1200" dirty="0"/>
          </a:p>
        </p:txBody>
      </p:sp>
      <p:sp>
        <p:nvSpPr>
          <p:cNvPr id="40" name="Shape 38"/>
          <p:cNvSpPr/>
          <p:nvPr/>
        </p:nvSpPr>
        <p:spPr>
          <a:xfrm>
            <a:off x="819132" y="3871819"/>
            <a:ext cx="3428567" cy="1125339"/>
          </a:xfrm>
          <a:prstGeom prst="roundRect">
            <a:avLst>
              <a:gd name="adj" fmla="val 10721"/>
            </a:avLst>
          </a:prstGeom>
          <a:solidFill>
            <a:srgbClr val="F6E3D8"/>
          </a:solidFill>
          <a:ln w="12700">
            <a:solidFill>
              <a:srgbClr val="B8481A"/>
            </a:solidFill>
            <a:prstDash val="solid"/>
          </a:ln>
        </p:spPr>
      </p:sp>
      <p:sp>
        <p:nvSpPr>
          <p:cNvPr id="41" name="Text 39"/>
          <p:cNvSpPr/>
          <p:nvPr/>
        </p:nvSpPr>
        <p:spPr>
          <a:xfrm>
            <a:off x="883269" y="3991297"/>
            <a:ext cx="3206889"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‫מה זה עולה‬</a:t>
            </a:r>
            <a:endParaRPr lang="en-US" sz="1400" dirty="0"/>
          </a:p>
        </p:txBody>
      </p:sp>
      <p:sp>
        <p:nvSpPr>
          <p:cNvPr id="42" name="Text 40"/>
          <p:cNvSpPr/>
          <p:nvPr/>
        </p:nvSpPr>
        <p:spPr>
          <a:xfrm>
            <a:off x="883269" y="4260453"/>
            <a:ext cx="3206889" cy="642631"/>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‫חמישה אימונים במקום אחד. במודל גדול על CPU זה יקר, ולכן שומרים את זה למודל קטן או להכרעה בין גישות‬</a:t>
            </a:r>
            <a:endParaRPr lang="en-US" sz="1200" dirty="0"/>
          </a:p>
        </p:txBody>
      </p:sp>
      <p:sp>
        <p:nvSpPr>
          <p:cNvPr id="43" name="Shape 41"/>
          <p:cNvSpPr/>
          <p:nvPr/>
        </p:nvSpPr>
        <p:spPr>
          <a:xfrm>
            <a:off x="4384224" y="3868644"/>
            <a:ext cx="3423462" cy="1131689"/>
          </a:xfrm>
          <a:prstGeom prst="roundRect">
            <a:avLst>
              <a:gd name="adj" fmla="val 10942"/>
            </a:avLst>
          </a:prstGeom>
          <a:solidFill>
            <a:srgbClr val="FFFDF8"/>
          </a:solidFill>
          <a:ln w="6350">
            <a:solidFill>
              <a:srgbClr val="E2DDD0"/>
            </a:solidFill>
            <a:prstDash val="solid"/>
          </a:ln>
        </p:spPr>
      </p:sp>
      <p:sp>
        <p:nvSpPr>
          <p:cNvPr id="44" name="Text 42"/>
          <p:cNvSpPr/>
          <p:nvPr/>
        </p:nvSpPr>
        <p:spPr>
          <a:xfrm>
            <a:off x="4445760" y="3985524"/>
            <a:ext cx="320698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‫מה מרוויחים‬</a:t>
            </a:r>
            <a:endParaRPr lang="en-US" sz="1400" dirty="0"/>
          </a:p>
        </p:txBody>
      </p:sp>
      <p:sp>
        <p:nvSpPr>
          <p:cNvPr id="45" name="Text 43"/>
          <p:cNvSpPr/>
          <p:nvPr/>
        </p:nvSpPr>
        <p:spPr>
          <a:xfrm>
            <a:off x="4445760" y="4254680"/>
            <a:ext cx="3206982"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‫טווח ביטחון צר יותר, ותוצאה שלא תלויה בפיצול מזל אחד. בכל סבב מאמנים על 80% מהנתונים‬</a:t>
            </a:r>
            <a:endParaRPr lang="en-US" sz="1200" dirty="0"/>
          </a:p>
        </p:txBody>
      </p:sp>
      <p:sp>
        <p:nvSpPr>
          <p:cNvPr id="46" name="Shape 44"/>
          <p:cNvSpPr/>
          <p:nvPr/>
        </p:nvSpPr>
        <p:spPr>
          <a:xfrm>
            <a:off x="7944210" y="3871819"/>
            <a:ext cx="3428657" cy="1125339"/>
          </a:xfrm>
          <a:prstGeom prst="roundRect">
            <a:avLst>
              <a:gd name="adj" fmla="val 10721"/>
            </a:avLst>
          </a:prstGeom>
          <a:solidFill>
            <a:srgbClr val="E1EEEB"/>
          </a:solidFill>
          <a:ln w="12700">
            <a:solidFill>
              <a:srgbClr val="1F6F6F"/>
            </a:solidFill>
            <a:prstDash val="solid"/>
          </a:ln>
        </p:spPr>
      </p:sp>
      <p:sp>
        <p:nvSpPr>
          <p:cNvPr id="47" name="Text 45"/>
          <p:cNvSpPr/>
          <p:nvPr/>
        </p:nvSpPr>
        <p:spPr>
          <a:xfrm>
            <a:off x="8008345" y="3991297"/>
            <a:ext cx="3206982"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‫מה זה פותר‬</a:t>
            </a:r>
            <a:endParaRPr lang="en-US" sz="1400" dirty="0"/>
          </a:p>
        </p:txBody>
      </p:sp>
      <p:sp>
        <p:nvSpPr>
          <p:cNvPr id="48" name="Text 46"/>
          <p:cNvSpPr/>
          <p:nvPr/>
        </p:nvSpPr>
        <p:spPr>
          <a:xfrm>
            <a:off x="8008345" y="4260453"/>
            <a:ext cx="3206982" cy="642631"/>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‫מחלקים את כל הקבוצות (שיעורים) לחמישה חלקים. בכל סבב חלק אחר נבחן. בריצת ההדמיה נבחנות כל 73 הקבוצות, ולא רק 7‬</a:t>
            </a:r>
            <a:endParaRPr lang="en-US" sz="1200" dirty="0"/>
          </a:p>
        </p:txBody>
      </p:sp>
      <p:sp>
        <p:nvSpPr>
          <p:cNvPr id="49" name="Text 47"/>
          <p:cNvSpPr/>
          <p:nvPr/>
        </p:nvSpPr>
        <p:spPr>
          <a:xfrm>
            <a:off x="812782" y="5130509"/>
            <a:ext cx="10566436" cy="434217"/>
          </a:xfrm>
          <a:prstGeom prst="roundRect">
            <a:avLst>
              <a:gd name="adj" fmla="val 23398"/>
            </a:avLst>
          </a:prstGeom>
          <a:solidFill>
            <a:srgbClr val="1F6F6F"/>
          </a:solidFill>
          <a:ln/>
        </p:spPr>
        <p:txBody>
          <a:bodyPr wrap="square" lIns="0" tIns="71842" rIns="148042" bIns="46442" rtlCol="0" anchor="t">
            <a:normAutofit/>
          </a:bodyPr>
          <a:lstStyle/>
          <a:p>
            <a:pPr algn="r" indent="0" marL="0">
              <a:lnSpc>
                <a:spcPts val="1820"/>
              </a:lnSpc>
              <a:buNone/>
            </a:pPr>
            <a:r>
              <a:rPr lang="en-US" sz="1300" b="1" dirty="0">
                <a:solidFill>
                  <a:srgbClr val="FFFDF8"/>
                </a:solidFill>
                <a:latin typeface="Arial" pitchFamily="34" charset="0"/>
                <a:ea typeface="Arial" pitchFamily="34" charset="-122"/>
                <a:cs typeface="Arial" pitchFamily="34" charset="-120"/>
              </a:rPr>
              <a:t>‫סטטוס: הצעה (R3), לא קיים בקוד היום. אפשר להשאיר Test קטן בצד לבדיקה סופית‬</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‫כמה נתונים‬</a:t>
            </a:r>
            <a:endParaRPr lang="en-US" sz="1200" dirty="0"/>
          </a:p>
        </p:txBody>
      </p:sp>
      <p:sp>
        <p:nvSpPr>
          <p:cNvPr id="3" name="Text 1"/>
          <p:cNvSpPr/>
          <p:nvPr>
            <p:ph type="title"/>
          </p:nvPr>
        </p:nvSpPr>
        <p:spPr>
          <a:xfrm>
            <a:off x="495789" y="92453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‫כמה נתונים נכנסו, ואיך הם התחלקו‬</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535452"/>
          <a:ext cx="10554890" cy="2737716"/>
        </p:xfrm>
        <a:graphic>
          <a:graphicData uri="http://schemas.openxmlformats.org/drawingml/2006/table">
            <a:tbl>
              <a:tblPr/>
              <a:tblGrid>
                <a:gridCol w="2638723"/>
                <a:gridCol w="2638723"/>
                <a:gridCol w="2638723"/>
                <a:gridCol w="2638723"/>
              </a:tblGrid>
              <a:tr h="358089">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‫עבודה (אומדן)‬</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‫ריצת הדמיה (work_like)‬</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‫Daf Yomi מלא‬</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‫מדד‬</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‫כ-900 (אם עשירית)‬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900</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8,723</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‫קטעים בסך הכול‬</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‫כ-7 (אם עשירית)‬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‫כ-7.5 (חישוב: 900 × 30 שנ׳)‬</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72.4</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‫שעות הקלטה‬</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‫לא ידוע‬</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‫לא נמדד‬</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710</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‫קבוצות (שיעורים)‬</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‫לפי הנתונים שיגיעו‬</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702 / 101 / 97</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6,973 / 875 / 875</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‫Train / Val / Test‬</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‫כ-180‬</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176</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1,743</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‫צעדים ל-epoch (4 קטעים לצעד)‬</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8917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‫תלוי במודל ובחומרה‬</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‫tiny כ-16 דקות · turbo כ-4.1 שעות (חישוב)‬</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‫כ-2.6 שעות (tiny, CPU)‬</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‫זמן epoch‬</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5" name="Text 2"/>
          <p:cNvSpPr/>
          <p:nvPr/>
        </p:nvSpPr>
        <p:spPr>
          <a:xfrm>
            <a:off x="815957" y="4428691"/>
            <a:ext cx="3431129" cy="635144"/>
          </a:xfrm>
          <a:prstGeom prst="roundRect">
            <a:avLst>
              <a:gd name="adj" fmla="val 15496"/>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‫100 צעדים הם 5.7% מ-epoch בנתונים המלאים, אבל כבר 57% בריצת ההדמיה‬</a:t>
            </a:r>
            <a:endParaRPr lang="en-US" sz="1200" dirty="0"/>
          </a:p>
        </p:txBody>
      </p:sp>
      <p:sp>
        <p:nvSpPr>
          <p:cNvPr id="6" name="Text 3"/>
          <p:cNvSpPr/>
          <p:nvPr/>
        </p:nvSpPr>
        <p:spPr>
          <a:xfrm>
            <a:off x="4380435" y="4428691"/>
            <a:ext cx="3431129" cy="635144"/>
          </a:xfrm>
          <a:prstGeom prst="roundRect">
            <a:avLst>
              <a:gd name="adj" fmla="val 15496"/>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‫בריצת ההדמיה בדקנו עם כעשירית מהנתונים, כדי לדמות את היקף העבודה‬</a:t>
            </a:r>
            <a:endParaRPr lang="en-US" sz="1200" dirty="0"/>
          </a:p>
        </p:txBody>
      </p:sp>
      <p:sp>
        <p:nvSpPr>
          <p:cNvPr id="7" name="Text 4"/>
          <p:cNvSpPr/>
          <p:nvPr/>
        </p:nvSpPr>
        <p:spPr>
          <a:xfrm>
            <a:off x="7944914" y="4428691"/>
            <a:ext cx="3431129" cy="635144"/>
          </a:xfrm>
          <a:prstGeom prst="roundRect">
            <a:avLst>
              <a:gd name="adj" fmla="val 15496"/>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‫הפיצול הוא לפי קבוצה שלמה, ברירת מחדל 80% / 10% / 10% לפי משך ההקלטה‬</a:t>
            </a:r>
            <a:endParaRPr lang="en-US" sz="1200" dirty="0"/>
          </a:p>
        </p:txBody>
      </p:sp>
      <p:sp>
        <p:nvSpPr>
          <p:cNvPr id="8" name="Text 5"/>
          <p:cNvSpPr/>
          <p:nvPr/>
        </p:nvSpPr>
        <p:spPr>
          <a:xfrm>
            <a:off x="812782" y="5219353"/>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‫עם מעט נתונים, אותו מספר צעדים הוא הרבה יותר אימון. לכן אורך האימון הוא אחת ההחלטות החשובות‬</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‫יחידות האימון‬</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‫ממה בנוי אימון: קטע, batch, צעד ו-epoch‬</a:t>
            </a:r>
            <a:endParaRPr lang="en-US" sz="3200" dirty="0"/>
          </a:p>
        </p:txBody>
      </p:sp>
      <p:sp>
        <p:nvSpPr>
          <p:cNvPr id="4" name="Shape 2"/>
          <p:cNvSpPr/>
          <p:nvPr/>
        </p:nvSpPr>
        <p:spPr>
          <a:xfrm>
            <a:off x="815957" y="1577956"/>
            <a:ext cx="2539964" cy="1938157"/>
          </a:xfrm>
          <a:prstGeom prst="roundRect">
            <a:avLst>
              <a:gd name="adj" fmla="val 6389"/>
            </a:avLst>
          </a:prstGeom>
          <a:solidFill>
            <a:srgbClr val="FFFDF8"/>
          </a:solidFill>
          <a:ln w="6350">
            <a:solidFill>
              <a:srgbClr val="E2DDD0"/>
            </a:solidFill>
            <a:prstDash val="solid"/>
          </a:ln>
        </p:spPr>
      </p:sp>
      <p:sp>
        <p:nvSpPr>
          <p:cNvPr id="5" name="Text 3"/>
          <p:cNvSpPr/>
          <p:nvPr/>
        </p:nvSpPr>
        <p:spPr>
          <a:xfrm>
            <a:off x="903998" y="1732899"/>
            <a:ext cx="2296979"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B8481A"/>
                </a:solidFill>
                <a:latin typeface="Arial" pitchFamily="34" charset="0"/>
                <a:ea typeface="Arial" pitchFamily="34" charset="-122"/>
                <a:cs typeface="Arial" pitchFamily="34" charset="-120"/>
              </a:rPr>
              <a:t>4</a:t>
            </a:r>
            <a:endParaRPr lang="en-US" sz="2800" dirty="0"/>
          </a:p>
        </p:txBody>
      </p:sp>
      <p:sp>
        <p:nvSpPr>
          <p:cNvPr id="6" name="Text 4"/>
          <p:cNvSpPr/>
          <p:nvPr/>
        </p:nvSpPr>
        <p:spPr>
          <a:xfrm>
            <a:off x="903998" y="2151962"/>
            <a:ext cx="22969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epoch</a:t>
            </a:r>
            <a:endParaRPr lang="en-US" sz="1600" dirty="0"/>
          </a:p>
        </p:txBody>
      </p:sp>
      <p:sp>
        <p:nvSpPr>
          <p:cNvPr id="7" name="Text 5"/>
          <p:cNvSpPr/>
          <p:nvPr/>
        </p:nvSpPr>
        <p:spPr>
          <a:xfrm>
            <a:off x="903998" y="2459267"/>
            <a:ext cx="2296979"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‫מעבר אחד על כל קטעי האימון‬</a:t>
            </a:r>
            <a:endParaRPr lang="en-US" sz="1200" dirty="0"/>
          </a:p>
        </p:txBody>
      </p:sp>
      <p:sp>
        <p:nvSpPr>
          <p:cNvPr id="8" name="Text 6"/>
          <p:cNvSpPr/>
          <p:nvPr/>
        </p:nvSpPr>
        <p:spPr>
          <a:xfrm>
            <a:off x="903998" y="2736180"/>
            <a:ext cx="2296979"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‫6,973 ÷ 4 ≈ 1,743 צעדים‬</a:t>
            </a:r>
            <a:endParaRPr lang="en-US" sz="1200" dirty="0"/>
          </a:p>
        </p:txBody>
      </p:sp>
      <p:sp>
        <p:nvSpPr>
          <p:cNvPr id="9" name="Shape 7"/>
          <p:cNvSpPr/>
          <p:nvPr/>
        </p:nvSpPr>
        <p:spPr>
          <a:xfrm>
            <a:off x="3489271" y="1577956"/>
            <a:ext cx="2540054" cy="1938157"/>
          </a:xfrm>
          <a:prstGeom prst="roundRect">
            <a:avLst>
              <a:gd name="adj" fmla="val 6389"/>
            </a:avLst>
          </a:prstGeom>
          <a:solidFill>
            <a:srgbClr val="FFFDF8"/>
          </a:solidFill>
          <a:ln w="6350">
            <a:solidFill>
              <a:srgbClr val="E2DDD0"/>
            </a:solidFill>
            <a:prstDash val="solid"/>
          </a:ln>
        </p:spPr>
      </p:sp>
      <p:sp>
        <p:nvSpPr>
          <p:cNvPr id="10" name="Text 8"/>
          <p:cNvSpPr/>
          <p:nvPr/>
        </p:nvSpPr>
        <p:spPr>
          <a:xfrm>
            <a:off x="3577309" y="1732899"/>
            <a:ext cx="2297072"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3</a:t>
            </a:r>
            <a:endParaRPr lang="en-US" sz="2800" dirty="0"/>
          </a:p>
        </p:txBody>
      </p:sp>
      <p:sp>
        <p:nvSpPr>
          <p:cNvPr id="11" name="Text 9"/>
          <p:cNvSpPr/>
          <p:nvPr/>
        </p:nvSpPr>
        <p:spPr>
          <a:xfrm>
            <a:off x="3577309" y="2151962"/>
            <a:ext cx="229707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‫צעד (step)‬</a:t>
            </a:r>
            <a:endParaRPr lang="en-US" sz="1600" dirty="0"/>
          </a:p>
        </p:txBody>
      </p:sp>
      <p:sp>
        <p:nvSpPr>
          <p:cNvPr id="12" name="Text 10"/>
          <p:cNvSpPr/>
          <p:nvPr/>
        </p:nvSpPr>
        <p:spPr>
          <a:xfrm>
            <a:off x="3577309" y="2459267"/>
            <a:ext cx="2297072"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‫עדכון אחד של משקולות המודל. batch_size × grad_accum_steps קטעים‬</a:t>
            </a:r>
            <a:endParaRPr lang="en-US" sz="1200" dirty="0"/>
          </a:p>
        </p:txBody>
      </p:sp>
      <p:sp>
        <p:nvSpPr>
          <p:cNvPr id="13" name="Text 11"/>
          <p:cNvSpPr/>
          <p:nvPr/>
        </p:nvSpPr>
        <p:spPr>
          <a:xfrm>
            <a:off x="3577309" y="3163001"/>
            <a:ext cx="2297072"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‫2 × 2 = 4 קטעים לצעד‬</a:t>
            </a:r>
            <a:endParaRPr lang="en-US" sz="1200" dirty="0"/>
          </a:p>
        </p:txBody>
      </p:sp>
      <p:sp>
        <p:nvSpPr>
          <p:cNvPr id="14" name="Shape 12"/>
          <p:cNvSpPr/>
          <p:nvPr/>
        </p:nvSpPr>
        <p:spPr>
          <a:xfrm>
            <a:off x="6162675" y="1577956"/>
            <a:ext cx="2539964" cy="1938157"/>
          </a:xfrm>
          <a:prstGeom prst="roundRect">
            <a:avLst>
              <a:gd name="adj" fmla="val 6389"/>
            </a:avLst>
          </a:prstGeom>
          <a:solidFill>
            <a:srgbClr val="FFFDF8"/>
          </a:solidFill>
          <a:ln w="6350">
            <a:solidFill>
              <a:srgbClr val="E2DDD0"/>
            </a:solidFill>
            <a:prstDash val="solid"/>
          </a:ln>
        </p:spPr>
      </p:sp>
      <p:sp>
        <p:nvSpPr>
          <p:cNvPr id="15" name="Text 13"/>
          <p:cNvSpPr/>
          <p:nvPr/>
        </p:nvSpPr>
        <p:spPr>
          <a:xfrm>
            <a:off x="6250716" y="1732899"/>
            <a:ext cx="2296979"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B8481A"/>
                </a:solidFill>
                <a:latin typeface="Arial" pitchFamily="34" charset="0"/>
                <a:ea typeface="Arial" pitchFamily="34" charset="-122"/>
                <a:cs typeface="Arial" pitchFamily="34" charset="-120"/>
              </a:rPr>
              <a:t>2</a:t>
            </a:r>
            <a:endParaRPr lang="en-US" sz="2800" dirty="0"/>
          </a:p>
        </p:txBody>
      </p:sp>
      <p:sp>
        <p:nvSpPr>
          <p:cNvPr id="16" name="Text 14"/>
          <p:cNvSpPr/>
          <p:nvPr/>
        </p:nvSpPr>
        <p:spPr>
          <a:xfrm>
            <a:off x="6250716" y="2151962"/>
            <a:ext cx="22969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batch</a:t>
            </a:r>
            <a:endParaRPr lang="en-US" sz="1600" dirty="0"/>
          </a:p>
        </p:txBody>
      </p:sp>
      <p:sp>
        <p:nvSpPr>
          <p:cNvPr id="17" name="Text 15"/>
          <p:cNvSpPr/>
          <p:nvPr/>
        </p:nvSpPr>
        <p:spPr>
          <a:xfrm>
            <a:off x="6250716" y="2459267"/>
            <a:ext cx="2296979"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‫כמה קטעים עוברים במודל יחד, במעבר אחד‬</a:t>
            </a:r>
            <a:endParaRPr lang="en-US" sz="1200" dirty="0"/>
          </a:p>
        </p:txBody>
      </p:sp>
      <p:sp>
        <p:nvSpPr>
          <p:cNvPr id="18" name="Text 16"/>
          <p:cNvSpPr/>
          <p:nvPr/>
        </p:nvSpPr>
        <p:spPr>
          <a:xfrm>
            <a:off x="6250716" y="2949587"/>
            <a:ext cx="2296979"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‫2 או 4 (batch_size)‬</a:t>
            </a:r>
            <a:endParaRPr lang="en-US" sz="1200" dirty="0"/>
          </a:p>
        </p:txBody>
      </p:sp>
      <p:sp>
        <p:nvSpPr>
          <p:cNvPr id="19" name="Shape 17"/>
          <p:cNvSpPr/>
          <p:nvPr/>
        </p:nvSpPr>
        <p:spPr>
          <a:xfrm>
            <a:off x="8835989" y="1577956"/>
            <a:ext cx="2540054" cy="1938157"/>
          </a:xfrm>
          <a:prstGeom prst="roundRect">
            <a:avLst>
              <a:gd name="adj" fmla="val 6389"/>
            </a:avLst>
          </a:prstGeom>
          <a:solidFill>
            <a:srgbClr val="FFFDF8"/>
          </a:solidFill>
          <a:ln w="6350">
            <a:solidFill>
              <a:srgbClr val="E2DDD0"/>
            </a:solidFill>
            <a:prstDash val="solid"/>
          </a:ln>
        </p:spPr>
      </p:sp>
      <p:sp>
        <p:nvSpPr>
          <p:cNvPr id="20" name="Text 18"/>
          <p:cNvSpPr/>
          <p:nvPr/>
        </p:nvSpPr>
        <p:spPr>
          <a:xfrm>
            <a:off x="8924027" y="1732899"/>
            <a:ext cx="2297072"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1</a:t>
            </a:r>
            <a:endParaRPr lang="en-US" sz="2800" dirty="0"/>
          </a:p>
        </p:txBody>
      </p:sp>
      <p:sp>
        <p:nvSpPr>
          <p:cNvPr id="21" name="Text 19"/>
          <p:cNvSpPr/>
          <p:nvPr/>
        </p:nvSpPr>
        <p:spPr>
          <a:xfrm>
            <a:off x="8924027" y="2151962"/>
            <a:ext cx="229707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‫קטע (clip)‬</a:t>
            </a:r>
            <a:endParaRPr lang="en-US" sz="1600" dirty="0"/>
          </a:p>
        </p:txBody>
      </p:sp>
      <p:sp>
        <p:nvSpPr>
          <p:cNvPr id="22" name="Text 20"/>
          <p:cNvSpPr/>
          <p:nvPr/>
        </p:nvSpPr>
        <p:spPr>
          <a:xfrm>
            <a:off x="8924027" y="2459267"/>
            <a:ext cx="2297072"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‫קובץ אודיו עד 30 שניות עם תמלול אחד‬</a:t>
            </a:r>
            <a:endParaRPr lang="en-US" sz="1200" dirty="0"/>
          </a:p>
        </p:txBody>
      </p:sp>
      <p:sp>
        <p:nvSpPr>
          <p:cNvPr id="23" name="Text 21"/>
          <p:cNvSpPr/>
          <p:nvPr/>
        </p:nvSpPr>
        <p:spPr>
          <a:xfrm>
            <a:off x="8924027" y="2949587"/>
            <a:ext cx="2297072"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‫8,723 קטעים ב-Daf Yomi‬</a:t>
            </a:r>
            <a:endParaRPr lang="en-US" sz="1200" dirty="0"/>
          </a:p>
        </p:txBody>
      </p:sp>
      <p:sp>
        <p:nvSpPr>
          <p:cNvPr id="24" name="Text 22"/>
          <p:cNvSpPr/>
          <p:nvPr/>
        </p:nvSpPr>
        <p:spPr>
          <a:xfrm>
            <a:off x="495789" y="3697070"/>
            <a:ext cx="10883429"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‫מה קורה בצעד אחד‬</a:t>
            </a:r>
            <a:endParaRPr lang="en-US" sz="1400" dirty="0"/>
          </a:p>
        </p:txBody>
      </p:sp>
      <p:sp>
        <p:nvSpPr>
          <p:cNvPr id="25" name="Text 23"/>
          <p:cNvSpPr/>
          <p:nvPr/>
        </p:nvSpPr>
        <p:spPr>
          <a:xfrm>
            <a:off x="812782" y="4105939"/>
            <a:ext cx="2336872" cy="650334"/>
          </a:xfrm>
          <a:prstGeom prst="roundRect">
            <a:avLst>
              <a:gd name="adj" fmla="val 19528"/>
            </a:avLst>
          </a:prstGeom>
          <a:solidFill>
            <a:srgbClr val="E1EEEB"/>
          </a:solidFill>
          <a:ln/>
        </p:spPr>
        <p:txBody>
          <a:bodyPr wrap="square" lIns="58560" tIns="89803" rIns="58560" bIns="64403" rtlCol="0" anchor="t">
            <a:normAutofit/>
          </a:bodyPr>
          <a:lstStyle/>
          <a:p>
            <a:pPr algn="ctr" indent="0" marL="0">
              <a:lnSpc>
                <a:spcPts val="1560"/>
              </a:lnSpc>
              <a:buNone/>
            </a:pPr>
            <a:r>
              <a:rPr lang="en-US" sz="1200" b="1" dirty="0">
                <a:solidFill>
                  <a:srgbClr val="0F2233"/>
                </a:solidFill>
                <a:latin typeface="Arial" pitchFamily="34" charset="0"/>
                <a:ea typeface="Arial" pitchFamily="34" charset="-122"/>
                <a:cs typeface="Arial" pitchFamily="34" charset="-120"/>
              </a:rPr>
              <a:t>‫מזיזים בצעד קטן (learning rate)‬</a:t>
            </a:r>
            <a:endParaRPr lang="en-US" sz="1200" dirty="0"/>
          </a:p>
        </p:txBody>
      </p:sp>
      <p:pic>
        <p:nvPicPr>
          <p:cNvPr id="26" name="Image 0" descr="arrow-left">    </p:cNvPr>
          <p:cNvPicPr>
            <a:picLocks noChangeAspect="1"/>
          </p:cNvPicPr>
          <p:nvPr/>
        </p:nvPicPr>
        <p:blipFill>
          <a:blip r:embed="rId1"/>
          <a:srcRect l="-10" r="-10" t="0" b="0"/>
          <a:stretch/>
        </p:blipFill>
        <p:spPr>
          <a:xfrm>
            <a:off x="3238500" y="4354891"/>
            <a:ext cx="228564" cy="152346"/>
          </a:xfrm>
          <a:prstGeom prst="rect">
            <a:avLst/>
          </a:prstGeom>
        </p:spPr>
      </p:pic>
      <p:sp>
        <p:nvSpPr>
          <p:cNvPr id="27" name="Text 24"/>
          <p:cNvSpPr/>
          <p:nvPr/>
        </p:nvSpPr>
        <p:spPr>
          <a:xfrm>
            <a:off x="3555910" y="4204977"/>
            <a:ext cx="2336962" cy="452167"/>
          </a:xfrm>
          <a:prstGeom prst="roundRect">
            <a:avLst>
              <a:gd name="adj" fmla="val 28087"/>
            </a:avLst>
          </a:prstGeom>
          <a:solidFill>
            <a:srgbClr val="E9E5D8"/>
          </a:solidFill>
          <a:ln/>
        </p:spPr>
        <p:txBody>
          <a:bodyPr wrap="square" lIns="58559" tIns="89803" rIns="58559" bIns="64403" rtlCol="0" anchor="t">
            <a:normAutofit/>
          </a:bodyPr>
          <a:lstStyle/>
          <a:p>
            <a:pPr algn="ctr" indent="0" marL="0">
              <a:lnSpc>
                <a:spcPts val="1560"/>
              </a:lnSpc>
              <a:buNone/>
            </a:pPr>
            <a:r>
              <a:rPr lang="en-US" sz="1200" b="1" dirty="0">
                <a:solidFill>
                  <a:srgbClr val="0F2233"/>
                </a:solidFill>
                <a:latin typeface="Arial" pitchFamily="34" charset="0"/>
                <a:ea typeface="Arial" pitchFamily="34" charset="-122"/>
                <a:cs typeface="Arial" pitchFamily="34" charset="-120"/>
              </a:rPr>
              <a:t>‫מחשבים לאן להזיז כל משקולת‬</a:t>
            </a:r>
            <a:endParaRPr lang="en-US" sz="1200" dirty="0"/>
          </a:p>
        </p:txBody>
      </p:sp>
      <p:pic>
        <p:nvPicPr>
          <p:cNvPr id="28" name="Image 1" descr="arrow-left">    </p:cNvPr>
          <p:cNvPicPr>
            <a:picLocks noChangeAspect="1"/>
          </p:cNvPicPr>
          <p:nvPr/>
        </p:nvPicPr>
        <p:blipFill>
          <a:blip r:embed="rId2"/>
          <a:srcRect l="-10" r="-10" t="0" b="0"/>
          <a:stretch/>
        </p:blipFill>
        <p:spPr>
          <a:xfrm>
            <a:off x="5981718" y="4354891"/>
            <a:ext cx="228564" cy="152346"/>
          </a:xfrm>
          <a:prstGeom prst="rect">
            <a:avLst/>
          </a:prstGeom>
        </p:spPr>
      </p:pic>
      <p:sp>
        <p:nvSpPr>
          <p:cNvPr id="29" name="Text 25"/>
          <p:cNvSpPr/>
          <p:nvPr/>
        </p:nvSpPr>
        <p:spPr>
          <a:xfrm>
            <a:off x="6299128" y="4105939"/>
            <a:ext cx="2336872" cy="650334"/>
          </a:xfrm>
          <a:prstGeom prst="roundRect">
            <a:avLst>
              <a:gd name="adj" fmla="val 19528"/>
            </a:avLst>
          </a:prstGeom>
          <a:solidFill>
            <a:srgbClr val="E9E5D8"/>
          </a:solidFill>
          <a:ln/>
        </p:spPr>
        <p:txBody>
          <a:bodyPr wrap="square" lIns="58560" tIns="89803" rIns="58560" bIns="64403" rtlCol="0" anchor="t">
            <a:normAutofit/>
          </a:bodyPr>
          <a:lstStyle/>
          <a:p>
            <a:pPr algn="ctr" indent="0" marL="0">
              <a:lnSpc>
                <a:spcPts val="1560"/>
              </a:lnSpc>
              <a:buNone/>
            </a:pPr>
            <a:r>
              <a:rPr lang="en-US" sz="1200" b="1" dirty="0">
                <a:solidFill>
                  <a:srgbClr val="0F2233"/>
                </a:solidFill>
                <a:latin typeface="Arial" pitchFamily="34" charset="0"/>
                <a:ea typeface="Arial" pitchFamily="34" charset="-122"/>
                <a:cs typeface="Arial" pitchFamily="34" charset="-120"/>
              </a:rPr>
              <a:t>‫מחשבים שגיאה (loss) מול התמלול הנכון‬</a:t>
            </a:r>
            <a:endParaRPr lang="en-US" sz="1200" dirty="0"/>
          </a:p>
        </p:txBody>
      </p:sp>
      <p:pic>
        <p:nvPicPr>
          <p:cNvPr id="30" name="Image 2" descr="arrow-left">    </p:cNvPr>
          <p:cNvPicPr>
            <a:picLocks noChangeAspect="1"/>
          </p:cNvPicPr>
          <p:nvPr/>
        </p:nvPicPr>
        <p:blipFill>
          <a:blip r:embed="rId3"/>
          <a:srcRect l="-10" r="-10" t="0" b="0"/>
          <a:stretch/>
        </p:blipFill>
        <p:spPr>
          <a:xfrm>
            <a:off x="8724846" y="4354891"/>
            <a:ext cx="228564" cy="152346"/>
          </a:xfrm>
          <a:prstGeom prst="rect">
            <a:avLst/>
          </a:prstGeom>
        </p:spPr>
      </p:pic>
      <p:sp>
        <p:nvSpPr>
          <p:cNvPr id="31" name="Text 26"/>
          <p:cNvSpPr/>
          <p:nvPr/>
        </p:nvSpPr>
        <p:spPr>
          <a:xfrm>
            <a:off x="9042255" y="4204977"/>
            <a:ext cx="2336962" cy="452167"/>
          </a:xfrm>
          <a:prstGeom prst="roundRect">
            <a:avLst>
              <a:gd name="adj" fmla="val 28087"/>
            </a:avLst>
          </a:prstGeom>
          <a:solidFill>
            <a:srgbClr val="E9E5D8"/>
          </a:solidFill>
          <a:ln/>
        </p:spPr>
        <p:txBody>
          <a:bodyPr wrap="square" lIns="58559" tIns="89803" rIns="58559" bIns="64403" rtlCol="0" anchor="t">
            <a:normAutofit/>
          </a:bodyPr>
          <a:lstStyle/>
          <a:p>
            <a:pPr algn="ctr" indent="0" marL="0">
              <a:lnSpc>
                <a:spcPts val="1560"/>
              </a:lnSpc>
              <a:buNone/>
            </a:pPr>
            <a:r>
              <a:rPr lang="en-US" sz="1200" b="1" dirty="0">
                <a:solidFill>
                  <a:srgbClr val="0F2233"/>
                </a:solidFill>
                <a:latin typeface="Arial" pitchFamily="34" charset="0"/>
                <a:ea typeface="Arial" pitchFamily="34" charset="-122"/>
                <a:cs typeface="Arial" pitchFamily="34" charset="-120"/>
              </a:rPr>
              <a:t>‫המודל מנבא תמלול‬</a:t>
            </a:r>
            <a:endParaRPr lang="en-US" sz="1200" dirty="0"/>
          </a:p>
        </p:txBody>
      </p:sp>
      <p:sp>
        <p:nvSpPr>
          <p:cNvPr id="32" name="Shape 27"/>
          <p:cNvSpPr/>
          <p:nvPr/>
        </p:nvSpPr>
        <p:spPr>
          <a:xfrm>
            <a:off x="812782" y="4934055"/>
            <a:ext cx="10566436" cy="822794"/>
          </a:xfrm>
          <a:prstGeom prst="roundRect">
            <a:avLst>
              <a:gd name="adj" fmla="val 15435"/>
            </a:avLst>
          </a:prstGeom>
          <a:solidFill>
            <a:srgbClr val="0F2233"/>
          </a:solidFill>
          <a:ln/>
        </p:spPr>
      </p:sp>
      <p:sp>
        <p:nvSpPr>
          <p:cNvPr id="33" name="Text 28"/>
          <p:cNvSpPr/>
          <p:nvPr/>
        </p:nvSpPr>
        <p:spPr>
          <a:xfrm>
            <a:off x="916850" y="5086400"/>
            <a:ext cx="3401060"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‫נמדד בצעדים‬</a:t>
            </a:r>
            <a:endParaRPr lang="en-US" sz="2000" dirty="0"/>
          </a:p>
        </p:txBody>
      </p:sp>
      <p:sp>
        <p:nvSpPr>
          <p:cNvPr id="34" name="Text 29"/>
          <p:cNvSpPr/>
          <p:nvPr/>
        </p:nvSpPr>
        <p:spPr>
          <a:xfrm>
            <a:off x="916850" y="5391094"/>
            <a:ext cx="340106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‫האורך נקבע ב-max_steps, לא ב-epochs‬</a:t>
            </a:r>
            <a:endParaRPr lang="en-US" sz="1200" dirty="0"/>
          </a:p>
        </p:txBody>
      </p:sp>
      <p:sp>
        <p:nvSpPr>
          <p:cNvPr id="35" name="Text 30"/>
          <p:cNvSpPr/>
          <p:nvPr/>
        </p:nvSpPr>
        <p:spPr>
          <a:xfrm>
            <a:off x="4345847" y="5086400"/>
            <a:ext cx="3401153"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‫16 קטעים לצעד‬</a:t>
            </a:r>
            <a:endParaRPr lang="en-US" sz="2000" dirty="0"/>
          </a:p>
        </p:txBody>
      </p:sp>
      <p:sp>
        <p:nvSpPr>
          <p:cNvPr id="36" name="Text 31"/>
          <p:cNvSpPr/>
          <p:nvPr/>
        </p:nvSpPr>
        <p:spPr>
          <a:xfrm>
            <a:off x="4345847" y="5391094"/>
            <a:ext cx="340115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‫ברירת המחדל: כ-436 צעדים ל-epoch‬</a:t>
            </a:r>
            <a:endParaRPr lang="en-US" sz="1200" dirty="0"/>
          </a:p>
        </p:txBody>
      </p:sp>
      <p:sp>
        <p:nvSpPr>
          <p:cNvPr id="37" name="Text 32"/>
          <p:cNvSpPr/>
          <p:nvPr/>
        </p:nvSpPr>
        <p:spPr>
          <a:xfrm>
            <a:off x="7774937" y="5086400"/>
            <a:ext cx="3401153"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‫100 צעדים‬</a:t>
            </a:r>
            <a:endParaRPr lang="en-US" sz="2000" dirty="0"/>
          </a:p>
        </p:txBody>
      </p:sp>
      <p:sp>
        <p:nvSpPr>
          <p:cNvPr id="38" name="Text 33"/>
          <p:cNvSpPr/>
          <p:nvPr/>
        </p:nvSpPr>
        <p:spPr>
          <a:xfrm>
            <a:off x="7774937" y="5391094"/>
            <a:ext cx="340115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 400 קטעים, כ-6% מ-epoch‬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‫איך מכמתים אימון‬</a:t>
            </a:r>
            <a:endParaRPr lang="en-US" sz="1200" dirty="0"/>
          </a:p>
        </p:txBody>
      </p:sp>
      <p:sp>
        <p:nvSpPr>
          <p:cNvPr id="3" name="Text 1"/>
          <p:cNvSpPr/>
          <p:nvPr>
            <p:ph type="title"/>
          </p:nvPr>
        </p:nvSpPr>
        <p:spPr>
          <a:xfrm>
            <a:off x="495789" y="949976"/>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‫ארבע שורות שמחשבות כל אימון‬</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586333"/>
          <a:ext cx="10554890" cy="1923491"/>
        </p:xfrm>
        <a:graphic>
          <a:graphicData uri="http://schemas.openxmlformats.org/drawingml/2006/table">
            <a:tbl>
              <a:tblPr/>
              <a:tblGrid>
                <a:gridCol w="3166467"/>
                <a:gridCol w="4433054"/>
                <a:gridCol w="2955369"/>
              </a:tblGrid>
              <a:tr h="384698">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‫דוגמה (whisper-tiny)‬</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‫נוסחה‬</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‫מה מחשבים‬</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‫2 × 2 = 4 קטעים‬</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‫batch × צבירה‬</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 · קטעים בצעד‬</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‫400 ÷ 4 = 100 צעדים‬</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‫קטעים שרוצים לראות ÷ קטעים בצעד‬</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‫2 · צעדים‬</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‫400 ÷ 6,973 = 5.7%‬</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‫קטעים שנראו ÷ קטעי Train‬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‫3 · חלק מ-epoch‬</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‫100 × 5.4 = 540 שניות, 9 דקות‬</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‫צעדים × שניות לצעד‬</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‫4 · זמן אימון‬</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5" name="Shape 2"/>
          <p:cNvSpPr/>
          <p:nvPr/>
        </p:nvSpPr>
        <p:spPr>
          <a:xfrm>
            <a:off x="819132" y="3693951"/>
            <a:ext cx="5207018" cy="1465659"/>
          </a:xfrm>
          <a:prstGeom prst="roundRect">
            <a:avLst>
              <a:gd name="adj" fmla="val 8232"/>
            </a:avLst>
          </a:prstGeom>
          <a:solidFill>
            <a:srgbClr val="F6E3D8"/>
          </a:solidFill>
          <a:ln w="12700">
            <a:solidFill>
              <a:srgbClr val="B8481A"/>
            </a:solidFill>
            <a:prstDash val="solid"/>
          </a:ln>
        </p:spPr>
      </p:sp>
      <p:sp>
        <p:nvSpPr>
          <p:cNvPr id="6" name="Text 3"/>
          <p:cNvSpPr/>
          <p:nvPr/>
        </p:nvSpPr>
        <p:spPr>
          <a:xfrm>
            <a:off x="856877" y="3851492"/>
            <a:ext cx="49862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‫turbo על CPU (נמדד)‬</a:t>
            </a:r>
            <a:endParaRPr lang="en-US" sz="1400" dirty="0"/>
          </a:p>
        </p:txBody>
      </p:sp>
      <p:sp>
        <p:nvSpPr>
          <p:cNvPr id="7" name="Text 4"/>
          <p:cNvSpPr/>
          <p:nvPr/>
        </p:nvSpPr>
        <p:spPr>
          <a:xfrm>
            <a:off x="856877" y="4133366"/>
            <a:ext cx="4986295" cy="416502"/>
          </a:xfrm>
          <a:prstGeom prst="rect">
            <a:avLst/>
          </a:prstGeom>
          <a:noFill/>
          <a:ln/>
        </p:spPr>
        <p:txBody>
          <a:bodyPr wrap="square" lIns="0" tIns="0" rIns="0" bIns="0" rtlCol="0" anchor="t">
            <a:normAutofit/>
          </a:bodyPr>
          <a:lstStyle/>
          <a:p>
            <a:pPr algn="r" indent="0" marL="0">
              <a:lnSpc>
                <a:spcPts val="3080"/>
              </a:lnSpc>
              <a:buNone/>
            </a:pPr>
            <a:r>
              <a:rPr lang="en-US" sz="2800" b="1" dirty="0">
                <a:solidFill>
                  <a:srgbClr val="B8481A"/>
                </a:solidFill>
                <a:latin typeface="Arial" pitchFamily="34" charset="0"/>
                <a:ea typeface="Arial" pitchFamily="34" charset="-122"/>
                <a:cs typeface="Arial" pitchFamily="34" charset="-120"/>
              </a:rPr>
              <a:t>‫כ-84 שניות לצעד‬</a:t>
            </a:r>
            <a:endParaRPr lang="en-US" sz="2800" dirty="0"/>
          </a:p>
        </p:txBody>
      </p:sp>
      <p:sp>
        <p:nvSpPr>
          <p:cNvPr id="8" name="Text 5"/>
          <p:cNvSpPr/>
          <p:nvPr/>
        </p:nvSpPr>
        <p:spPr>
          <a:xfrm>
            <a:off x="856877" y="4575249"/>
            <a:ext cx="498629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‫4 קטעים בצעד, אנקודר מוקפא, 4 ליבות. הלוג מדפיס 106 בגלל באג תזמון (O121). 84 הוא אומדן מתוקן‬</a:t>
            </a:r>
            <a:endParaRPr lang="en-US" sz="1200" dirty="0"/>
          </a:p>
        </p:txBody>
      </p:sp>
      <p:sp>
        <p:nvSpPr>
          <p:cNvPr id="9" name="Shape 6"/>
          <p:cNvSpPr/>
          <p:nvPr/>
        </p:nvSpPr>
        <p:spPr>
          <a:xfrm>
            <a:off x="6165850" y="3693951"/>
            <a:ext cx="5207018" cy="1465659"/>
          </a:xfrm>
          <a:prstGeom prst="roundRect">
            <a:avLst>
              <a:gd name="adj" fmla="val 8232"/>
            </a:avLst>
          </a:prstGeom>
          <a:solidFill>
            <a:srgbClr val="E1EEEB"/>
          </a:solidFill>
          <a:ln w="12700">
            <a:solidFill>
              <a:srgbClr val="1F6F6F"/>
            </a:solidFill>
            <a:prstDash val="solid"/>
          </a:ln>
        </p:spPr>
      </p:sp>
      <p:sp>
        <p:nvSpPr>
          <p:cNvPr id="10" name="Text 7"/>
          <p:cNvSpPr/>
          <p:nvPr/>
        </p:nvSpPr>
        <p:spPr>
          <a:xfrm>
            <a:off x="6203595" y="3851492"/>
            <a:ext cx="49862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‫אותם 400 קטעים, שני עולמות‬</a:t>
            </a:r>
            <a:endParaRPr lang="en-US" sz="1400" dirty="0"/>
          </a:p>
        </p:txBody>
      </p:sp>
      <p:sp>
        <p:nvSpPr>
          <p:cNvPr id="11" name="Text 8"/>
          <p:cNvSpPr/>
          <p:nvPr/>
        </p:nvSpPr>
        <p:spPr>
          <a:xfrm>
            <a:off x="6203595" y="4133366"/>
            <a:ext cx="4986295" cy="416502"/>
          </a:xfrm>
          <a:prstGeom prst="rect">
            <a:avLst/>
          </a:prstGeom>
          <a:noFill/>
          <a:ln/>
        </p:spPr>
        <p:txBody>
          <a:bodyPr wrap="square" lIns="0" tIns="0" rIns="0" bIns="0" rtlCol="0" anchor="t">
            <a:normAutofit/>
          </a:bodyPr>
          <a:lstStyle/>
          <a:p>
            <a:pPr algn="r" indent="0" marL="0">
              <a:lnSpc>
                <a:spcPts val="3080"/>
              </a:lnSpc>
              <a:buNone/>
            </a:pPr>
            <a:r>
              <a:rPr lang="en-US" sz="2800" b="1" dirty="0">
                <a:solidFill>
                  <a:srgbClr val="1F6F6F"/>
                </a:solidFill>
                <a:latin typeface="Arial" pitchFamily="34" charset="0"/>
                <a:ea typeface="Arial" pitchFamily="34" charset="-122"/>
                <a:cs typeface="Arial" pitchFamily="34" charset="-120"/>
              </a:rPr>
              <a:t>5.7% מול 57%</a:t>
            </a:r>
            <a:endParaRPr lang="en-US" sz="2800" dirty="0"/>
          </a:p>
        </p:txBody>
      </p:sp>
      <p:sp>
        <p:nvSpPr>
          <p:cNvPr id="12" name="Text 9"/>
          <p:cNvSpPr/>
          <p:nvPr/>
        </p:nvSpPr>
        <p:spPr>
          <a:xfrm>
            <a:off x="6203595" y="4575249"/>
            <a:ext cx="498629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‫בנתונים המלאים (6,973) זה טעימה. בריצת ההדמיה (702) זה יותר ממחצית epoch‬</a:t>
            </a:r>
            <a:endParaRPr lang="en-US" sz="1200" dirty="0"/>
          </a:p>
        </p:txBody>
      </p:sp>
      <p:sp>
        <p:nvSpPr>
          <p:cNvPr id="13" name="Text 10"/>
          <p:cNvSpPr/>
          <p:nvPr/>
        </p:nvSpPr>
        <p:spPr>
          <a:xfrm>
            <a:off x="812782" y="5343742"/>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‫"100 צעדים" לא אומר כלום בלי שני נתונים: כמה קטעים בצעד וכמה קטעי Train יש‬</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‫מדידה אמיתית של turbo על CPU‬</a:t>
            </a:r>
            <a:endParaRPr lang="en-US" sz="1200" dirty="0"/>
          </a:p>
        </p:txBody>
      </p:sp>
      <p:sp>
        <p:nvSpPr>
          <p:cNvPr id="3" name="Text 1"/>
          <p:cNvSpPr/>
          <p:nvPr>
            <p:ph type="title"/>
          </p:nvPr>
        </p:nvSpPr>
        <p:spPr>
          <a:xfrm>
            <a:off x="495789" y="89919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‫מה לוקח זמן בבנצ'מרק‬</a:t>
            </a:r>
            <a:endParaRPr lang="en-US" sz="3200" dirty="0"/>
          </a:p>
        </p:txBody>
      </p:sp>
      <p:sp>
        <p:nvSpPr>
          <p:cNvPr id="4" name="Text 2"/>
          <p:cNvSpPr/>
          <p:nvPr/>
        </p:nvSpPr>
        <p:spPr>
          <a:xfrm>
            <a:off x="812782" y="1473219"/>
            <a:ext cx="2375026" cy="443147"/>
          </a:xfrm>
          <a:prstGeom prst="roundRect">
            <a:avLst>
              <a:gd name="adj" fmla="val 28659"/>
            </a:avLst>
          </a:prstGeom>
          <a:solidFill>
            <a:srgbClr val="E1EEEB"/>
          </a:solidFill>
          <a:ln/>
        </p:spPr>
        <p:txBody>
          <a:bodyPr wrap="square" lIns="18745" tIns="77103" rIns="18745"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‫שמירת מודל · 7.4 GiB‬</a:t>
            </a:r>
            <a:endParaRPr lang="en-US" sz="1300" dirty="0"/>
          </a:p>
        </p:txBody>
      </p:sp>
      <p:pic>
        <p:nvPicPr>
          <p:cNvPr id="5" name="Image 0" descr="arrow-left">    </p:cNvPr>
          <p:cNvPicPr>
            <a:picLocks noChangeAspect="1"/>
          </p:cNvPicPr>
          <p:nvPr/>
        </p:nvPicPr>
        <p:blipFill>
          <a:blip r:embed="rId1"/>
          <a:srcRect l="-8" r="-8" t="0" b="0"/>
          <a:stretch/>
        </p:blipFill>
        <p:spPr>
          <a:xfrm>
            <a:off x="3263936" y="1624936"/>
            <a:ext cx="203128" cy="139628"/>
          </a:xfrm>
          <a:prstGeom prst="rect">
            <a:avLst/>
          </a:prstGeom>
        </p:spPr>
      </p:pic>
      <p:sp>
        <p:nvSpPr>
          <p:cNvPr id="6" name="Text 3"/>
          <p:cNvSpPr/>
          <p:nvPr/>
        </p:nvSpPr>
        <p:spPr>
          <a:xfrm>
            <a:off x="3543191" y="1473219"/>
            <a:ext cx="2375116" cy="443147"/>
          </a:xfrm>
          <a:prstGeom prst="roundRect">
            <a:avLst>
              <a:gd name="adj" fmla="val 28659"/>
            </a:avLst>
          </a:prstGeom>
          <a:solidFill>
            <a:srgbClr val="E9E5D8"/>
          </a:solidFill>
          <a:ln/>
        </p:spPr>
        <p:txBody>
          <a:bodyPr wrap="square" lIns="18743" tIns="77103" rIns="1874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Val loss ‫ותמלול קטעים‬</a:t>
            </a:r>
            <a:endParaRPr lang="en-US" sz="1300" dirty="0"/>
          </a:p>
        </p:txBody>
      </p:sp>
      <p:pic>
        <p:nvPicPr>
          <p:cNvPr id="7" name="Image 1" descr="arrow-left">    </p:cNvPr>
          <p:cNvPicPr>
            <a:picLocks noChangeAspect="1"/>
          </p:cNvPicPr>
          <p:nvPr/>
        </p:nvPicPr>
        <p:blipFill>
          <a:blip r:embed="rId2"/>
          <a:srcRect l="-8" r="-8" t="0" b="0"/>
          <a:stretch/>
        </p:blipFill>
        <p:spPr>
          <a:xfrm>
            <a:off x="5994436" y="1624936"/>
            <a:ext cx="203128" cy="139628"/>
          </a:xfrm>
          <a:prstGeom prst="rect">
            <a:avLst/>
          </a:prstGeom>
        </p:spPr>
      </p:pic>
      <p:sp>
        <p:nvSpPr>
          <p:cNvPr id="8" name="Text 4"/>
          <p:cNvSpPr/>
          <p:nvPr/>
        </p:nvSpPr>
        <p:spPr>
          <a:xfrm>
            <a:off x="6273691" y="1473219"/>
            <a:ext cx="2375026" cy="443147"/>
          </a:xfrm>
          <a:prstGeom prst="roundRect">
            <a:avLst>
              <a:gd name="adj" fmla="val 28659"/>
            </a:avLst>
          </a:prstGeom>
          <a:solidFill>
            <a:srgbClr val="E9E5D8"/>
          </a:solidFill>
          <a:ln/>
        </p:spPr>
        <p:txBody>
          <a:bodyPr wrap="square" lIns="18745" tIns="77103" rIns="18745"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‫3 צעדי אימון‬</a:t>
            </a:r>
            <a:endParaRPr lang="en-US" sz="1300" dirty="0"/>
          </a:p>
        </p:txBody>
      </p:sp>
      <p:pic>
        <p:nvPicPr>
          <p:cNvPr id="9" name="Image 2" descr="arrow-left">    </p:cNvPr>
          <p:cNvPicPr>
            <a:picLocks noChangeAspect="1"/>
          </p:cNvPicPr>
          <p:nvPr/>
        </p:nvPicPr>
        <p:blipFill>
          <a:blip r:embed="rId3"/>
          <a:srcRect l="-8" r="-8" t="0" b="0"/>
          <a:stretch/>
        </p:blipFill>
        <p:spPr>
          <a:xfrm>
            <a:off x="8724846" y="1624936"/>
            <a:ext cx="203128" cy="139628"/>
          </a:xfrm>
          <a:prstGeom prst="rect">
            <a:avLst/>
          </a:prstGeom>
        </p:spPr>
      </p:pic>
      <p:sp>
        <p:nvSpPr>
          <p:cNvPr id="10" name="Text 5"/>
          <p:cNvSpPr/>
          <p:nvPr/>
        </p:nvSpPr>
        <p:spPr>
          <a:xfrm>
            <a:off x="9004102" y="1473219"/>
            <a:ext cx="2375116" cy="443147"/>
          </a:xfrm>
          <a:prstGeom prst="roundRect">
            <a:avLst>
              <a:gd name="adj" fmla="val 28659"/>
            </a:avLst>
          </a:prstGeom>
          <a:solidFill>
            <a:srgbClr val="E9E5D8"/>
          </a:solidFill>
          <a:ln/>
        </p:spPr>
        <p:txBody>
          <a:bodyPr wrap="square" lIns="18743" tIns="77103" rIns="1874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‫טעינת המודל · 47 שנ׳‬</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4327" y="2054912"/>
          <a:ext cx="10554890" cy="2148537"/>
        </p:xfrm>
        <a:graphic>
          <a:graphicData uri="http://schemas.openxmlformats.org/drawingml/2006/table">
            <a:tbl>
              <a:tblPr/>
              <a:tblGrid>
                <a:gridCol w="2849820"/>
                <a:gridCol w="2849820"/>
                <a:gridCol w="4855249"/>
              </a:tblGrid>
              <a:tr h="358089">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batch 1 × 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batch 2 × 2</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‫מה נמדד‬</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‫קטעים בצעד‬</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55</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106</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‫שניות לצעד, כפי שהודפס‬</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‫כ-46‬</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‫כ-84‬</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‫שניות לצעד, אומדן מתוקן (O121)‬</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17.4</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24.4</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‫שניות ל-Val loss לדוגמה‬</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19.6</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22.1</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‫שניות לתמלול קטע‬</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12" name="Shape 6"/>
          <p:cNvSpPr/>
          <p:nvPr/>
        </p:nvSpPr>
        <p:spPr>
          <a:xfrm>
            <a:off x="819132" y="4336802"/>
            <a:ext cx="5207018" cy="998339"/>
          </a:xfrm>
          <a:prstGeom prst="roundRect">
            <a:avLst>
              <a:gd name="adj" fmla="val 12085"/>
            </a:avLst>
          </a:prstGeom>
          <a:solidFill>
            <a:srgbClr val="E1EEEB"/>
          </a:solidFill>
          <a:ln w="12700">
            <a:solidFill>
              <a:srgbClr val="1F6F6F"/>
            </a:solidFill>
            <a:prstDash val="solid"/>
          </a:ln>
        </p:spPr>
      </p:sp>
      <p:sp>
        <p:nvSpPr>
          <p:cNvPr id="13" name="Text 7"/>
          <p:cNvSpPr/>
          <p:nvPr/>
        </p:nvSpPr>
        <p:spPr>
          <a:xfrm>
            <a:off x="856877" y="4481624"/>
            <a:ext cx="49862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‫זיכרון ודיסק‬</a:t>
            </a:r>
            <a:endParaRPr lang="en-US" sz="1400" dirty="0"/>
          </a:p>
        </p:txBody>
      </p:sp>
      <p:sp>
        <p:nvSpPr>
          <p:cNvPr id="14" name="Text 8"/>
          <p:cNvSpPr/>
          <p:nvPr/>
        </p:nvSpPr>
        <p:spPr>
          <a:xfrm>
            <a:off x="856877" y="4763492"/>
            <a:ext cx="498629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‫זיכרון שיא 6.4 עד 6.7 GB, והפנוי ירד ל-0.03 GB. כל ניסוי תופס 7.4 GiB, ושישה ניסויים כ-47 GB‬</a:t>
            </a:r>
            <a:endParaRPr lang="en-US" sz="1200" dirty="0"/>
          </a:p>
        </p:txBody>
      </p:sp>
      <p:sp>
        <p:nvSpPr>
          <p:cNvPr id="15" name="Shape 9"/>
          <p:cNvSpPr/>
          <p:nvPr/>
        </p:nvSpPr>
        <p:spPr>
          <a:xfrm>
            <a:off x="6165850" y="4336802"/>
            <a:ext cx="5207018" cy="998339"/>
          </a:xfrm>
          <a:prstGeom prst="roundRect">
            <a:avLst>
              <a:gd name="adj" fmla="val 12085"/>
            </a:avLst>
          </a:prstGeom>
          <a:solidFill>
            <a:srgbClr val="F6E3D8"/>
          </a:solidFill>
          <a:ln w="12700">
            <a:solidFill>
              <a:srgbClr val="B8481A"/>
            </a:solidFill>
            <a:prstDash val="solid"/>
          </a:ln>
        </p:spPr>
      </p:sp>
      <p:sp>
        <p:nvSpPr>
          <p:cNvPr id="16" name="Text 10"/>
          <p:cNvSpPr/>
          <p:nvPr/>
        </p:nvSpPr>
        <p:spPr>
          <a:xfrm>
            <a:off x="6203595" y="4481624"/>
            <a:ext cx="49862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‫השערה, עוד לא נמדדה‬</a:t>
            </a:r>
            <a:endParaRPr lang="en-US" sz="1400" dirty="0"/>
          </a:p>
        </p:txBody>
      </p:sp>
      <p:sp>
        <p:nvSpPr>
          <p:cNvPr id="17" name="Text 11"/>
          <p:cNvSpPr/>
          <p:nvPr/>
        </p:nvSpPr>
        <p:spPr>
          <a:xfrm>
            <a:off x="6203595" y="4763492"/>
            <a:ext cx="498629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‫האנקודר מחשב 30 שניות מרופדות לכל קטע, בכל אימון והערכה. אימון לקטע (כ-21 שנ׳) כמעט שווה ל-Val loss לקטע, וזה רומז שהוא עיקר הזמן‬</a:t>
            </a:r>
            <a:endParaRPr lang="en-US" sz="1200" dirty="0"/>
          </a:p>
        </p:txBody>
      </p:sp>
      <p:sp>
        <p:nvSpPr>
          <p:cNvPr id="18" name="Text 12"/>
          <p:cNvSpPr/>
          <p:nvPr/>
        </p:nvSpPr>
        <p:spPr>
          <a:xfrm>
            <a:off x="812782" y="5468491"/>
            <a:ext cx="10566436" cy="477423"/>
          </a:xfrm>
          <a:prstGeom prst="roundRect">
            <a:avLst>
              <a:gd name="adj" fmla="val 26601"/>
            </a:avLst>
          </a:prstGeom>
          <a:solidFill>
            <a:srgbClr val="1F6F6F"/>
          </a:solidFill>
          <a:ln/>
        </p:spPr>
        <p:txBody>
          <a:bodyPr wrap="square" lIns="0" tIns="77103" rIns="166003" bIns="517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‫ריצה מלאה לפי ברירות המחדל: 14 שעות ו-49 דקות (batch 2), לפני תיקון התזמון‬</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1"/>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‫ההקטנה ההדרגתית‬</a:t>
            </a:r>
            <a:endParaRPr lang="en-US" sz="1200" dirty="0"/>
          </a:p>
        </p:txBody>
      </p:sp>
      <p:sp>
        <p:nvSpPr>
          <p:cNvPr id="3" name="Text 1"/>
          <p:cNvSpPr/>
          <p:nvPr>
            <p:ph type="title"/>
          </p:nvPr>
        </p:nvSpPr>
        <p:spPr>
          <a:xfrm>
            <a:off x="495789" y="924539"/>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‫מה קורה כשמקטינים את נתוני האימון‬</a:t>
            </a:r>
            <a:endParaRPr lang="en-US" sz="3200" dirty="0"/>
          </a:p>
        </p:txBody>
      </p:sp>
      <p:sp>
        <p:nvSpPr>
          <p:cNvPr id="4" name="Shape 2"/>
          <p:cNvSpPr/>
          <p:nvPr/>
        </p:nvSpPr>
        <p:spPr>
          <a:xfrm>
            <a:off x="812782" y="1523907"/>
            <a:ext cx="8178872" cy="279346"/>
          </a:xfrm>
          <a:prstGeom prst="roundRect">
            <a:avLst>
              <a:gd name="adj" fmla="val 22732"/>
            </a:avLst>
          </a:prstGeom>
          <a:solidFill>
            <a:srgbClr val="1F6F6F"/>
          </a:solidFill>
          <a:ln/>
        </p:spPr>
      </p:sp>
      <p:sp>
        <p:nvSpPr>
          <p:cNvPr id="5" name="Text 3"/>
          <p:cNvSpPr/>
          <p:nvPr/>
        </p:nvSpPr>
        <p:spPr>
          <a:xfrm>
            <a:off x="9024638" y="1564500"/>
            <a:ext cx="2354580" cy="223477"/>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0F2233"/>
                </a:solidFill>
                <a:latin typeface="Arial" pitchFamily="34" charset="0"/>
                <a:ea typeface="Arial" pitchFamily="34" charset="-122"/>
                <a:cs typeface="Arial" pitchFamily="34" charset="-120"/>
              </a:rPr>
              <a:t>‫100% · 6,973 קטעים‬</a:t>
            </a:r>
            <a:endParaRPr lang="en-US" sz="1300" dirty="0"/>
          </a:p>
        </p:txBody>
      </p:sp>
      <p:sp>
        <p:nvSpPr>
          <p:cNvPr id="6" name="Shape 4"/>
          <p:cNvSpPr/>
          <p:nvPr/>
        </p:nvSpPr>
        <p:spPr>
          <a:xfrm>
            <a:off x="812782" y="1866757"/>
            <a:ext cx="8178872" cy="279346"/>
          </a:xfrm>
          <a:prstGeom prst="roundRect">
            <a:avLst>
              <a:gd name="adj" fmla="val 22732"/>
            </a:avLst>
          </a:prstGeom>
          <a:solidFill>
            <a:srgbClr val="1F6F6F"/>
          </a:solidFill>
          <a:ln/>
        </p:spPr>
      </p:sp>
      <p:sp>
        <p:nvSpPr>
          <p:cNvPr id="7" name="Text 5"/>
          <p:cNvSpPr/>
          <p:nvPr/>
        </p:nvSpPr>
        <p:spPr>
          <a:xfrm>
            <a:off x="9024638" y="1907350"/>
            <a:ext cx="2354580" cy="223477"/>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0F2233"/>
                </a:solidFill>
                <a:latin typeface="Arial" pitchFamily="34" charset="0"/>
                <a:ea typeface="Arial" pitchFamily="34" charset="-122"/>
                <a:cs typeface="Arial" pitchFamily="34" charset="-120"/>
              </a:rPr>
              <a:t>‫50%‬</a:t>
            </a:r>
            <a:endParaRPr lang="en-US" sz="1300" dirty="0"/>
          </a:p>
        </p:txBody>
      </p:sp>
      <p:sp>
        <p:nvSpPr>
          <p:cNvPr id="8" name="Shape 6"/>
          <p:cNvSpPr/>
          <p:nvPr/>
        </p:nvSpPr>
        <p:spPr>
          <a:xfrm>
            <a:off x="812782" y="2209608"/>
            <a:ext cx="8178872" cy="279346"/>
          </a:xfrm>
          <a:prstGeom prst="roundRect">
            <a:avLst>
              <a:gd name="adj" fmla="val 22732"/>
            </a:avLst>
          </a:prstGeom>
          <a:solidFill>
            <a:srgbClr val="1F6F6F"/>
          </a:solidFill>
          <a:ln/>
        </p:spPr>
      </p:sp>
      <p:sp>
        <p:nvSpPr>
          <p:cNvPr id="9" name="Text 7"/>
          <p:cNvSpPr/>
          <p:nvPr/>
        </p:nvSpPr>
        <p:spPr>
          <a:xfrm>
            <a:off x="9024638" y="2250188"/>
            <a:ext cx="2354580" cy="223477"/>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0F2233"/>
                </a:solidFill>
                <a:latin typeface="Arial" pitchFamily="34" charset="0"/>
                <a:ea typeface="Arial" pitchFamily="34" charset="-122"/>
                <a:cs typeface="Arial" pitchFamily="34" charset="-120"/>
              </a:rPr>
              <a:t>‫25%‬</a:t>
            </a:r>
            <a:endParaRPr lang="en-US" sz="1300" dirty="0"/>
          </a:p>
        </p:txBody>
      </p:sp>
      <p:sp>
        <p:nvSpPr>
          <p:cNvPr id="10" name="Shape 8"/>
          <p:cNvSpPr/>
          <p:nvPr/>
        </p:nvSpPr>
        <p:spPr>
          <a:xfrm>
            <a:off x="812782" y="2552446"/>
            <a:ext cx="8178872" cy="279346"/>
          </a:xfrm>
          <a:prstGeom prst="roundRect">
            <a:avLst>
              <a:gd name="adj" fmla="val 22732"/>
            </a:avLst>
          </a:prstGeom>
          <a:solidFill>
            <a:srgbClr val="B8481A"/>
          </a:solidFill>
          <a:ln/>
        </p:spPr>
      </p:sp>
      <p:sp>
        <p:nvSpPr>
          <p:cNvPr id="11" name="Text 9"/>
          <p:cNvSpPr/>
          <p:nvPr/>
        </p:nvSpPr>
        <p:spPr>
          <a:xfrm>
            <a:off x="9024638" y="2593039"/>
            <a:ext cx="2354580" cy="223477"/>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B8481A"/>
                </a:solidFill>
                <a:latin typeface="Arial" pitchFamily="34" charset="0"/>
                <a:ea typeface="Arial" pitchFamily="34" charset="-122"/>
                <a:cs typeface="Arial" pitchFamily="34" charset="-120"/>
              </a:rPr>
              <a:t>‫10% · בגודל העבודה‬</a:t>
            </a:r>
            <a:endParaRPr lang="en-US" sz="1300" dirty="0"/>
          </a:p>
        </p:txBody>
      </p:sp>
      <p:sp>
        <p:nvSpPr>
          <p:cNvPr id="12" name="Text 10"/>
          <p:cNvSpPr/>
          <p:nvPr/>
        </p:nvSpPr>
        <p:spPr>
          <a:xfrm>
            <a:off x="495789" y="2984147"/>
            <a:ext cx="10883429" cy="256489"/>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F2233"/>
                </a:solidFill>
                <a:latin typeface="Arial" pitchFamily="34" charset="0"/>
                <a:ea typeface="Arial" pitchFamily="34" charset="-122"/>
                <a:cs typeface="Arial" pitchFamily="34" charset="-120"/>
              </a:rPr>
              <a:t>‫מאמנים על כל גודל, ומודדים WER על אותו Val קבוע‬</a:t>
            </a:r>
            <a:endParaRPr lang="en-US" sz="1300" dirty="0"/>
          </a:p>
        </p:txBody>
      </p:sp>
      <p:sp>
        <p:nvSpPr>
          <p:cNvPr id="13" name="Shape 11"/>
          <p:cNvSpPr/>
          <p:nvPr/>
        </p:nvSpPr>
        <p:spPr>
          <a:xfrm>
            <a:off x="819132" y="3373927"/>
            <a:ext cx="3428567" cy="998339"/>
          </a:xfrm>
          <a:prstGeom prst="roundRect">
            <a:avLst>
              <a:gd name="adj" fmla="val 12085"/>
            </a:avLst>
          </a:prstGeom>
          <a:solidFill>
            <a:srgbClr val="F6E3D8"/>
          </a:solidFill>
          <a:ln w="12700">
            <a:solidFill>
              <a:srgbClr val="B8481A"/>
            </a:solidFill>
            <a:prstDash val="solid"/>
          </a:ln>
        </p:spPr>
      </p:sp>
      <p:sp>
        <p:nvSpPr>
          <p:cNvPr id="14" name="Text 12"/>
          <p:cNvSpPr/>
          <p:nvPr/>
        </p:nvSpPr>
        <p:spPr>
          <a:xfrm>
            <a:off x="896750" y="3518750"/>
            <a:ext cx="3180690"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‫מה חסר‬</a:t>
            </a:r>
            <a:endParaRPr lang="en-US" sz="1400" dirty="0"/>
          </a:p>
        </p:txBody>
      </p:sp>
      <p:sp>
        <p:nvSpPr>
          <p:cNvPr id="15" name="Text 13"/>
          <p:cNvSpPr/>
          <p:nvPr/>
        </p:nvSpPr>
        <p:spPr>
          <a:xfrm>
            <a:off x="896750" y="3800618"/>
            <a:ext cx="3180690"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‫צעדים שגדלים עם הנתונים, וחיפוש הגדרות נפרד לכל גודל‬</a:t>
            </a:r>
            <a:endParaRPr lang="en-US" sz="1200" dirty="0"/>
          </a:p>
        </p:txBody>
      </p:sp>
      <p:sp>
        <p:nvSpPr>
          <p:cNvPr id="16" name="Shape 14"/>
          <p:cNvSpPr/>
          <p:nvPr/>
        </p:nvSpPr>
        <p:spPr>
          <a:xfrm>
            <a:off x="4384224" y="3370752"/>
            <a:ext cx="3423462" cy="1004689"/>
          </a:xfrm>
          <a:prstGeom prst="roundRect">
            <a:avLst>
              <a:gd name="adj" fmla="val 12325"/>
            </a:avLst>
          </a:prstGeom>
          <a:solidFill>
            <a:srgbClr val="FFFDF8"/>
          </a:solidFill>
          <a:ln w="6350">
            <a:solidFill>
              <a:srgbClr val="E2DDD0"/>
            </a:solidFill>
            <a:prstDash val="solid"/>
          </a:ln>
        </p:spPr>
      </p:sp>
      <p:sp>
        <p:nvSpPr>
          <p:cNvPr id="17" name="Text 15"/>
          <p:cNvSpPr/>
          <p:nvPr/>
        </p:nvSpPr>
        <p:spPr>
          <a:xfrm>
            <a:off x="4459241" y="3512982"/>
            <a:ext cx="3180783"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‫מה קיים בקוד‬</a:t>
            </a:r>
            <a:endParaRPr lang="en-US" sz="1400" dirty="0"/>
          </a:p>
        </p:txBody>
      </p:sp>
      <p:sp>
        <p:nvSpPr>
          <p:cNvPr id="18" name="Text 16"/>
          <p:cNvSpPr/>
          <p:nvPr/>
        </p:nvSpPr>
        <p:spPr>
          <a:xfrm>
            <a:off x="4459241" y="3794851"/>
            <a:ext cx="3180783"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‫פקודת learning-curve: אותן הגדרות ואותו מספר צעדים בכל גודל. נבדקה רק על נתונים סינתטיים‬</a:t>
            </a:r>
            <a:endParaRPr lang="en-US" sz="1200" dirty="0"/>
          </a:p>
        </p:txBody>
      </p:sp>
      <p:sp>
        <p:nvSpPr>
          <p:cNvPr id="19" name="Shape 17"/>
          <p:cNvSpPr/>
          <p:nvPr/>
        </p:nvSpPr>
        <p:spPr>
          <a:xfrm>
            <a:off x="7944210" y="3373927"/>
            <a:ext cx="3428657" cy="998339"/>
          </a:xfrm>
          <a:prstGeom prst="roundRect">
            <a:avLst>
              <a:gd name="adj" fmla="val 12085"/>
            </a:avLst>
          </a:prstGeom>
          <a:solidFill>
            <a:srgbClr val="E1EEEB"/>
          </a:solidFill>
          <a:ln w="12700">
            <a:solidFill>
              <a:srgbClr val="1F6F6F"/>
            </a:solidFill>
            <a:prstDash val="solid"/>
          </a:ln>
        </p:spPr>
      </p:sp>
      <p:sp>
        <p:nvSpPr>
          <p:cNvPr id="20" name="Text 18"/>
          <p:cNvSpPr/>
          <p:nvPr/>
        </p:nvSpPr>
        <p:spPr>
          <a:xfrm>
            <a:off x="8021826" y="3518750"/>
            <a:ext cx="3180783"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‫מה רוצים לדעת‬</a:t>
            </a:r>
            <a:endParaRPr lang="en-US" sz="1400" dirty="0"/>
          </a:p>
        </p:txBody>
      </p:sp>
      <p:sp>
        <p:nvSpPr>
          <p:cNvPr id="21" name="Text 19"/>
          <p:cNvSpPr/>
          <p:nvPr/>
        </p:nvSpPr>
        <p:spPr>
          <a:xfrm>
            <a:off x="8021826" y="3800618"/>
            <a:ext cx="3180783"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‫כמה נתונים צריך, ואילו הגדרות מחזיקות בגודל של העבודה‬</a:t>
            </a:r>
            <a:endParaRPr lang="en-US" sz="1200" dirty="0"/>
          </a:p>
        </p:txBody>
      </p:sp>
      <p:sp>
        <p:nvSpPr>
          <p:cNvPr id="22" name="Text 20"/>
          <p:cNvSpPr/>
          <p:nvPr/>
        </p:nvSpPr>
        <p:spPr>
          <a:xfrm>
            <a:off x="812782" y="4530967"/>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‫בלי להגדיל צעדים, כל הגדלים רואים כמעט אותם 80 קטעים והגרף יוצא שטוח‬</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‫סוגי האימון‬</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‫מה בדיוק מאומן?‬</a:t>
            </a:r>
            <a:endParaRPr lang="en-US" sz="3200" dirty="0"/>
          </a:p>
        </p:txBody>
      </p:sp>
      <p:sp>
        <p:nvSpPr>
          <p:cNvPr id="4" name="Text 2"/>
          <p:cNvSpPr/>
          <p:nvPr/>
        </p:nvSpPr>
        <p:spPr>
          <a:xfrm>
            <a:off x="812782" y="1701961"/>
            <a:ext cx="789240" cy="492576"/>
          </a:xfrm>
          <a:prstGeom prst="roundRect">
            <a:avLst>
              <a:gd name="adj" fmla="val 50000"/>
            </a:avLst>
          </a:prstGeom>
          <a:solidFill>
            <a:srgbClr val="E9E5D8"/>
          </a:solidFill>
          <a:ln/>
        </p:spPr>
        <p:txBody>
          <a:bodyPr wrap="none" lIns="0" tIns="0" rIns="0" bIns="0" rtlCol="0" anchor="ctr">
            <a:normAutofit/>
          </a:bodyPr>
          <a:lstStyle/>
          <a:p>
            <a:pPr algn="ctr" indent="0" marL="0">
              <a:lnSpc>
                <a:spcPts val="1680"/>
              </a:lnSpc>
              <a:buNone/>
            </a:pPr>
            <a:r>
              <a:rPr lang="en-US" sz="1400" b="1" dirty="0">
                <a:solidFill>
                  <a:srgbClr val="0F2233"/>
                </a:solidFill>
                <a:latin typeface="Arial" pitchFamily="34" charset="0"/>
                <a:ea typeface="Arial" pitchFamily="34" charset="-122"/>
                <a:cs typeface="Arial" pitchFamily="34" charset="-120"/>
              </a:rPr>
              <a:t>‫טקסט‬</a:t>
            </a:r>
            <a:endParaRPr lang="en-US" sz="1400" dirty="0"/>
          </a:p>
        </p:txBody>
      </p:sp>
      <p:pic>
        <p:nvPicPr>
          <p:cNvPr id="5" name="Image 0" descr="arrow-left">    </p:cNvPr>
          <p:cNvPicPr>
            <a:picLocks noChangeAspect="1"/>
          </p:cNvPicPr>
          <p:nvPr/>
        </p:nvPicPr>
        <p:blipFill>
          <a:blip r:embed="rId1"/>
          <a:srcRect l="-1" r="-1" t="0" b="0"/>
          <a:stretch/>
        </p:blipFill>
        <p:spPr>
          <a:xfrm>
            <a:off x="1690868" y="1865672"/>
            <a:ext cx="279346" cy="165064"/>
          </a:xfrm>
          <a:prstGeom prst="rect">
            <a:avLst/>
          </a:prstGeom>
        </p:spPr>
      </p:pic>
      <p:sp>
        <p:nvSpPr>
          <p:cNvPr id="6" name="Shape 3"/>
          <p:cNvSpPr/>
          <p:nvPr/>
        </p:nvSpPr>
        <p:spPr>
          <a:xfrm>
            <a:off x="2065410" y="1581125"/>
            <a:ext cx="3839062" cy="734237"/>
          </a:xfrm>
          <a:prstGeom prst="roundRect">
            <a:avLst>
              <a:gd name="adj" fmla="val 12973"/>
            </a:avLst>
          </a:prstGeom>
          <a:solidFill>
            <a:srgbClr val="F6E3D8"/>
          </a:solidFill>
          <a:ln w="12700">
            <a:solidFill>
              <a:srgbClr val="B8481A"/>
            </a:solidFill>
            <a:prstDash val="solid"/>
          </a:ln>
        </p:spPr>
      </p:sp>
      <p:sp>
        <p:nvSpPr>
          <p:cNvPr id="7" name="Text 4"/>
          <p:cNvSpPr/>
          <p:nvPr/>
        </p:nvSpPr>
        <p:spPr>
          <a:xfrm>
            <a:off x="2103750" y="1700609"/>
            <a:ext cx="365589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B8481A"/>
                </a:solidFill>
                <a:latin typeface="Arial" pitchFamily="34" charset="0"/>
                <a:ea typeface="Arial" pitchFamily="34" charset="-122"/>
                <a:cs typeface="Arial" pitchFamily="34" charset="-120"/>
              </a:rPr>
              <a:t>Decoder</a:t>
            </a:r>
            <a:endParaRPr lang="en-US" sz="1600" dirty="0"/>
          </a:p>
        </p:txBody>
      </p:sp>
      <p:sp>
        <p:nvSpPr>
          <p:cNvPr id="8" name="Text 5"/>
          <p:cNvSpPr/>
          <p:nvPr/>
        </p:nvSpPr>
        <p:spPr>
          <a:xfrm>
            <a:off x="2103750" y="1982477"/>
            <a:ext cx="36558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‫היד שכותבת: מייצר את הטקסט‬</a:t>
            </a:r>
            <a:endParaRPr lang="en-US" sz="1200" dirty="0"/>
          </a:p>
        </p:txBody>
      </p:sp>
      <p:pic>
        <p:nvPicPr>
          <p:cNvPr id="9" name="Image 1" descr="arrow-left">    </p:cNvPr>
          <p:cNvPicPr>
            <a:picLocks noChangeAspect="1"/>
          </p:cNvPicPr>
          <p:nvPr/>
        </p:nvPicPr>
        <p:blipFill>
          <a:blip r:embed="rId2"/>
          <a:srcRect l="-1" r="-1" t="0" b="0"/>
          <a:stretch/>
        </p:blipFill>
        <p:spPr>
          <a:xfrm>
            <a:off x="5999668" y="1865672"/>
            <a:ext cx="279346" cy="165064"/>
          </a:xfrm>
          <a:prstGeom prst="rect">
            <a:avLst/>
          </a:prstGeom>
        </p:spPr>
      </p:pic>
      <p:sp>
        <p:nvSpPr>
          <p:cNvPr id="10" name="Shape 6"/>
          <p:cNvSpPr/>
          <p:nvPr/>
        </p:nvSpPr>
        <p:spPr>
          <a:xfrm>
            <a:off x="6374209" y="1581125"/>
            <a:ext cx="3839062" cy="734237"/>
          </a:xfrm>
          <a:prstGeom prst="roundRect">
            <a:avLst>
              <a:gd name="adj" fmla="val 12973"/>
            </a:avLst>
          </a:prstGeom>
          <a:solidFill>
            <a:srgbClr val="E1EEEB"/>
          </a:solidFill>
          <a:ln w="12700">
            <a:solidFill>
              <a:srgbClr val="1F6F6F"/>
            </a:solidFill>
            <a:prstDash val="solid"/>
          </a:ln>
        </p:spPr>
      </p:sp>
      <p:sp>
        <p:nvSpPr>
          <p:cNvPr id="11" name="Text 7"/>
          <p:cNvSpPr/>
          <p:nvPr/>
        </p:nvSpPr>
        <p:spPr>
          <a:xfrm>
            <a:off x="6412550" y="1700609"/>
            <a:ext cx="365589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1F6F6F"/>
                </a:solidFill>
                <a:latin typeface="Arial" pitchFamily="34" charset="0"/>
                <a:ea typeface="Arial" pitchFamily="34" charset="-122"/>
                <a:cs typeface="Arial" pitchFamily="34" charset="-120"/>
              </a:rPr>
              <a:t>Encoder</a:t>
            </a:r>
            <a:endParaRPr lang="en-US" sz="1600" dirty="0"/>
          </a:p>
        </p:txBody>
      </p:sp>
      <p:sp>
        <p:nvSpPr>
          <p:cNvPr id="12" name="Text 8"/>
          <p:cNvSpPr/>
          <p:nvPr/>
        </p:nvSpPr>
        <p:spPr>
          <a:xfrm>
            <a:off x="6412550" y="1982477"/>
            <a:ext cx="36558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‫האוזניים: הופך אודיו לייצוג‬</a:t>
            </a:r>
            <a:endParaRPr lang="en-US" sz="1200" dirty="0"/>
          </a:p>
        </p:txBody>
      </p:sp>
      <p:pic>
        <p:nvPicPr>
          <p:cNvPr id="13" name="Image 2" descr="arrow-left">    </p:cNvPr>
          <p:cNvPicPr>
            <a:picLocks noChangeAspect="1"/>
          </p:cNvPicPr>
          <p:nvPr/>
        </p:nvPicPr>
        <p:blipFill>
          <a:blip r:embed="rId3"/>
          <a:srcRect l="-1" r="-1" t="0" b="0"/>
          <a:stretch/>
        </p:blipFill>
        <p:spPr>
          <a:xfrm>
            <a:off x="10308467" y="1865672"/>
            <a:ext cx="279346" cy="165064"/>
          </a:xfrm>
          <a:prstGeom prst="rect">
            <a:avLst/>
          </a:prstGeom>
        </p:spPr>
      </p:pic>
      <p:sp>
        <p:nvSpPr>
          <p:cNvPr id="14" name="Text 9"/>
          <p:cNvSpPr/>
          <p:nvPr/>
        </p:nvSpPr>
        <p:spPr>
          <a:xfrm>
            <a:off x="10676658" y="1701961"/>
            <a:ext cx="702559" cy="492576"/>
          </a:xfrm>
          <a:prstGeom prst="roundRect">
            <a:avLst>
              <a:gd name="adj" fmla="val 50000"/>
            </a:avLst>
          </a:prstGeom>
          <a:solidFill>
            <a:srgbClr val="E9E5D8"/>
          </a:solidFill>
          <a:ln/>
        </p:spPr>
        <p:txBody>
          <a:bodyPr wrap="none" lIns="0" tIns="0" rIns="0" bIns="0" rtlCol="0" anchor="ctr">
            <a:normAutofit/>
          </a:bodyPr>
          <a:lstStyle/>
          <a:p>
            <a:pPr algn="ctr" indent="0" marL="0">
              <a:lnSpc>
                <a:spcPts val="1680"/>
              </a:lnSpc>
              <a:buNone/>
            </a:pPr>
            <a:r>
              <a:rPr lang="en-US" sz="1400" b="1" dirty="0">
                <a:solidFill>
                  <a:srgbClr val="0F2233"/>
                </a:solidFill>
                <a:latin typeface="Arial" pitchFamily="34" charset="0"/>
                <a:ea typeface="Arial" pitchFamily="34" charset="-122"/>
                <a:cs typeface="Arial" pitchFamily="34" charset="-120"/>
              </a:rPr>
              <a:t>‫אודיו‬</a:t>
            </a:r>
            <a:endParaRPr lang="en-US" sz="1400" dirty="0"/>
          </a:p>
        </p:txBody>
      </p:sp>
      <p:sp>
        <p:nvSpPr>
          <p:cNvPr id="15" name="Shape 10"/>
          <p:cNvSpPr/>
          <p:nvPr/>
        </p:nvSpPr>
        <p:spPr>
          <a:xfrm>
            <a:off x="815957" y="2502669"/>
            <a:ext cx="3410383" cy="1846695"/>
          </a:xfrm>
          <a:prstGeom prst="roundRect">
            <a:avLst>
              <a:gd name="adj" fmla="val 6705"/>
            </a:avLst>
          </a:prstGeom>
          <a:solidFill>
            <a:srgbClr val="EFEBDF"/>
          </a:solidFill>
          <a:ln w="6350">
            <a:solidFill>
              <a:srgbClr val="5C6670"/>
            </a:solidFill>
            <a:prstDash val="dash"/>
          </a:ln>
        </p:spPr>
      </p:sp>
      <p:sp>
        <p:nvSpPr>
          <p:cNvPr id="16" name="Text 11"/>
          <p:cNvSpPr/>
          <p:nvPr/>
        </p:nvSpPr>
        <p:spPr>
          <a:xfrm>
            <a:off x="3419349" y="2657611"/>
            <a:ext cx="626611" cy="248859"/>
          </a:xfrm>
          <a:prstGeom prst="roundRect">
            <a:avLst>
              <a:gd name="adj" fmla="val 20413"/>
            </a:avLst>
          </a:prstGeom>
          <a:solidFill>
            <a:srgbClr val="D9D3C2"/>
          </a:solidFill>
          <a:ln/>
        </p:spPr>
        <p:txBody>
          <a:bodyPr wrap="none" lIns="0" tIns="0" rIns="0" bIns="0" rtlCol="0" anchor="ctr">
            <a:normAutofit/>
          </a:bodyPr>
          <a:lstStyle/>
          <a:p>
            <a:pPr algn="ctr" indent="0" marL="0">
              <a:lnSpc>
                <a:spcPts val="1560"/>
              </a:lnSpc>
              <a:buNone/>
            </a:pPr>
            <a:r>
              <a:rPr lang="en-US" sz="1200" b="1" dirty="0">
                <a:solidFill>
                  <a:srgbClr val="0F2233"/>
                </a:solidFill>
                <a:latin typeface="Arial" pitchFamily="34" charset="0"/>
                <a:ea typeface="Arial" pitchFamily="34" charset="-122"/>
                <a:cs typeface="Arial" pitchFamily="34" charset="-120"/>
              </a:rPr>
              <a:t>‫לא זמין‬</a:t>
            </a:r>
            <a:endParaRPr lang="en-US" sz="1200" dirty="0"/>
          </a:p>
        </p:txBody>
      </p:sp>
      <p:sp>
        <p:nvSpPr>
          <p:cNvPr id="17" name="Text 12"/>
          <p:cNvSpPr/>
          <p:nvPr/>
        </p:nvSpPr>
        <p:spPr>
          <a:xfrm>
            <a:off x="904848" y="2969977"/>
            <a:ext cx="314111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‫LoRA ו-adapters‬</a:t>
            </a:r>
            <a:endParaRPr lang="en-US" sz="1600" dirty="0"/>
          </a:p>
        </p:txBody>
      </p:sp>
      <p:sp>
        <p:nvSpPr>
          <p:cNvPr id="18" name="Text 13"/>
          <p:cNvSpPr/>
          <p:nvPr/>
        </p:nvSpPr>
        <p:spPr>
          <a:xfrm>
            <a:off x="904848" y="3277282"/>
            <a:ext cx="314111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‫דורש חבילת peft שלא אושרה. נרשם כסעיף פתוח‬</a:t>
            </a:r>
            <a:endParaRPr lang="en-US" sz="1200" dirty="0"/>
          </a:p>
        </p:txBody>
      </p:sp>
      <p:sp>
        <p:nvSpPr>
          <p:cNvPr id="19" name="Shape 14"/>
          <p:cNvSpPr/>
          <p:nvPr/>
        </p:nvSpPr>
        <p:spPr>
          <a:xfrm>
            <a:off x="4385036" y="2502669"/>
            <a:ext cx="3410383" cy="1846695"/>
          </a:xfrm>
          <a:prstGeom prst="roundRect">
            <a:avLst>
              <a:gd name="adj" fmla="val 6705"/>
            </a:avLst>
          </a:prstGeom>
          <a:solidFill>
            <a:srgbClr val="FFFDF8"/>
          </a:solidFill>
          <a:ln w="6350">
            <a:solidFill>
              <a:srgbClr val="E2DDD0"/>
            </a:solidFill>
            <a:prstDash val="solid"/>
          </a:ln>
        </p:spPr>
      </p:sp>
      <p:sp>
        <p:nvSpPr>
          <p:cNvPr id="20" name="Text 15"/>
          <p:cNvSpPr/>
          <p:nvPr/>
        </p:nvSpPr>
        <p:spPr>
          <a:xfrm>
            <a:off x="6926461" y="2657611"/>
            <a:ext cx="688578" cy="248859"/>
          </a:xfrm>
          <a:prstGeom prst="roundRect">
            <a:avLst>
              <a:gd name="adj" fmla="val 20413"/>
            </a:avLst>
          </a:prstGeom>
          <a:solidFill>
            <a:srgbClr val="E9E5D8"/>
          </a:solidFill>
          <a:ln/>
        </p:spPr>
        <p:txBody>
          <a:bodyPr wrap="none" lIns="0" tIns="0" rIns="0" bIns="0" rtlCol="0" anchor="ctr">
            <a:normAutofit/>
          </a:bodyPr>
          <a:lstStyle/>
          <a:p>
            <a:pPr algn="ctr" indent="0" marL="0">
              <a:lnSpc>
                <a:spcPts val="1560"/>
              </a:lnSpc>
              <a:buNone/>
            </a:pPr>
            <a:r>
              <a:rPr lang="en-US" sz="1200" b="1" dirty="0">
                <a:solidFill>
                  <a:srgbClr val="0F2233"/>
                </a:solidFill>
                <a:latin typeface="Arial" pitchFamily="34" charset="0"/>
                <a:ea typeface="Arial" pitchFamily="34" charset="-122"/>
                <a:cs typeface="Arial" pitchFamily="34" charset="-120"/>
              </a:rPr>
              <a:t>‫אפשרות‬</a:t>
            </a:r>
            <a:endParaRPr lang="en-US" sz="1200" dirty="0"/>
          </a:p>
        </p:txBody>
      </p:sp>
      <p:sp>
        <p:nvSpPr>
          <p:cNvPr id="21" name="Text 16"/>
          <p:cNvSpPr/>
          <p:nvPr/>
        </p:nvSpPr>
        <p:spPr>
          <a:xfrm>
            <a:off x="4473926" y="2969977"/>
            <a:ext cx="314111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‫הקפאת האנקודר‬</a:t>
            </a:r>
            <a:endParaRPr lang="en-US" sz="1600" dirty="0"/>
          </a:p>
        </p:txBody>
      </p:sp>
      <p:sp>
        <p:nvSpPr>
          <p:cNvPr id="22" name="Text 17"/>
          <p:cNvSpPr/>
          <p:nvPr/>
        </p:nvSpPr>
        <p:spPr>
          <a:xfrm>
            <a:off x="4473926" y="3277282"/>
            <a:ext cx="3141112"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‫מאמן רק את ה-Decoder. ה-Encoder נשאר כמו שהוא. ב-turbo: 172 מיליון מתוך 809 מיליון פרמטרים‬</a:t>
            </a:r>
            <a:endParaRPr lang="en-US" sz="1200" dirty="0"/>
          </a:p>
        </p:txBody>
      </p:sp>
      <p:sp>
        <p:nvSpPr>
          <p:cNvPr id="23" name="Text 18"/>
          <p:cNvSpPr/>
          <p:nvPr/>
        </p:nvSpPr>
        <p:spPr>
          <a:xfrm>
            <a:off x="4473926" y="3981016"/>
            <a:ext cx="314111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freeze_policy: freeze_encoder</a:t>
            </a:r>
            <a:endParaRPr lang="en-US" sz="1200" dirty="0"/>
          </a:p>
        </p:txBody>
      </p:sp>
      <p:sp>
        <p:nvSpPr>
          <p:cNvPr id="24" name="Shape 19"/>
          <p:cNvSpPr/>
          <p:nvPr/>
        </p:nvSpPr>
        <p:spPr>
          <a:xfrm>
            <a:off x="7957289" y="2505844"/>
            <a:ext cx="3415578" cy="1840345"/>
          </a:xfrm>
          <a:prstGeom prst="roundRect">
            <a:avLst>
              <a:gd name="adj" fmla="val 6556"/>
            </a:avLst>
          </a:prstGeom>
          <a:solidFill>
            <a:srgbClr val="FFFDF8"/>
          </a:solidFill>
          <a:ln w="12700">
            <a:solidFill>
              <a:srgbClr val="1F6F6F"/>
            </a:solidFill>
            <a:prstDash val="solid"/>
          </a:ln>
        </p:spPr>
      </p:sp>
      <p:sp>
        <p:nvSpPr>
          <p:cNvPr id="25" name="Text 20"/>
          <p:cNvSpPr/>
          <p:nvPr/>
        </p:nvSpPr>
        <p:spPr>
          <a:xfrm>
            <a:off x="10229724" y="2663391"/>
            <a:ext cx="960167" cy="248859"/>
          </a:xfrm>
          <a:prstGeom prst="roundRect">
            <a:avLst>
              <a:gd name="adj" fmla="val 20413"/>
            </a:avLst>
          </a:prstGeom>
          <a:solidFill>
            <a:srgbClr val="1F6F6F"/>
          </a:solidFill>
          <a:ln/>
        </p:spPr>
        <p:txBody>
          <a:bodyPr wrap="none" lIns="0" tIns="0" rIns="0" bIns="0" rtlCol="0" anchor="ctr">
            <a:normAutofit/>
          </a:bodyPr>
          <a:lstStyle/>
          <a:p>
            <a:pPr algn="ctr" indent="0" marL="0">
              <a:lnSpc>
                <a:spcPts val="1560"/>
              </a:lnSpc>
              <a:buNone/>
            </a:pPr>
            <a:r>
              <a:rPr lang="en-US" sz="1200" b="1" dirty="0">
                <a:solidFill>
                  <a:srgbClr val="FFFDF8"/>
                </a:solidFill>
                <a:latin typeface="Arial" pitchFamily="34" charset="0"/>
                <a:ea typeface="Arial" pitchFamily="34" charset="-122"/>
                <a:cs typeface="Arial" pitchFamily="34" charset="-120"/>
              </a:rPr>
              <a:t>‫ברירת מחדל‬</a:t>
            </a:r>
            <a:endParaRPr lang="en-US" sz="1200" dirty="0"/>
          </a:p>
        </p:txBody>
      </p:sp>
      <p:sp>
        <p:nvSpPr>
          <p:cNvPr id="26" name="Text 21"/>
          <p:cNvSpPr/>
          <p:nvPr/>
        </p:nvSpPr>
        <p:spPr>
          <a:xfrm>
            <a:off x="8048778" y="2975744"/>
            <a:ext cx="3141112"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‫Fine-tune מלא‬</a:t>
            </a:r>
            <a:endParaRPr lang="en-US" sz="1600" dirty="0"/>
          </a:p>
        </p:txBody>
      </p:sp>
      <p:sp>
        <p:nvSpPr>
          <p:cNvPr id="27" name="Text 22"/>
          <p:cNvSpPr/>
          <p:nvPr/>
        </p:nvSpPr>
        <p:spPr>
          <a:xfrm>
            <a:off x="8048778" y="3283049"/>
            <a:ext cx="3141112"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‫מאמן את שני החלקים, כל 37.76 מיליון הפרמטרים של whisper-tiny‬</a:t>
            </a:r>
            <a:endParaRPr lang="en-US" sz="1200" dirty="0"/>
          </a:p>
        </p:txBody>
      </p:sp>
      <p:sp>
        <p:nvSpPr>
          <p:cNvPr id="28" name="Text 23"/>
          <p:cNvSpPr/>
          <p:nvPr/>
        </p:nvSpPr>
        <p:spPr>
          <a:xfrm>
            <a:off x="8048778" y="3773376"/>
            <a:ext cx="314111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train.freeze_policy: none</a:t>
            </a:r>
            <a:endParaRPr lang="en-US" sz="1200" dirty="0"/>
          </a:p>
        </p:txBody>
      </p:sp>
      <p:sp>
        <p:nvSpPr>
          <p:cNvPr id="29" name="Shape 24"/>
          <p:cNvSpPr/>
          <p:nvPr/>
        </p:nvSpPr>
        <p:spPr>
          <a:xfrm>
            <a:off x="812782" y="4530328"/>
            <a:ext cx="10566436" cy="822794"/>
          </a:xfrm>
          <a:prstGeom prst="roundRect">
            <a:avLst>
              <a:gd name="adj" fmla="val 15435"/>
            </a:avLst>
          </a:prstGeom>
          <a:solidFill>
            <a:srgbClr val="0F2233"/>
          </a:solidFill>
          <a:ln/>
        </p:spPr>
      </p:sp>
      <p:sp>
        <p:nvSpPr>
          <p:cNvPr id="30" name="Text 25"/>
          <p:cNvSpPr/>
          <p:nvPr/>
        </p:nvSpPr>
        <p:spPr>
          <a:xfrm>
            <a:off x="942567" y="4682666"/>
            <a:ext cx="2518093"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‫כ-2.6 שעות‬</a:t>
            </a:r>
            <a:endParaRPr lang="en-US" sz="2000" dirty="0"/>
          </a:p>
        </p:txBody>
      </p:sp>
      <p:sp>
        <p:nvSpPr>
          <p:cNvPr id="31" name="Text 26"/>
          <p:cNvSpPr/>
          <p:nvPr/>
        </p:nvSpPr>
        <p:spPr>
          <a:xfrm>
            <a:off x="942567" y="4987367"/>
            <a:ext cx="251809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‫ל-epoch מלא ב-tiny (6,973)‬</a:t>
            </a:r>
            <a:endParaRPr lang="en-US" sz="1200" dirty="0"/>
          </a:p>
        </p:txBody>
      </p:sp>
      <p:sp>
        <p:nvSpPr>
          <p:cNvPr id="32" name="Text 27"/>
          <p:cNvSpPr/>
          <p:nvPr/>
        </p:nvSpPr>
        <p:spPr>
          <a:xfrm>
            <a:off x="3514314" y="4682666"/>
            <a:ext cx="2518185"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‫5.4 שניות‬</a:t>
            </a:r>
            <a:endParaRPr lang="en-US" sz="2000" dirty="0"/>
          </a:p>
        </p:txBody>
      </p:sp>
      <p:sp>
        <p:nvSpPr>
          <p:cNvPr id="33" name="Text 28"/>
          <p:cNvSpPr/>
          <p:nvPr/>
        </p:nvSpPr>
        <p:spPr>
          <a:xfrm>
            <a:off x="3514314" y="4987367"/>
            <a:ext cx="251818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‫לצעד ב-tiny (2 ליבות)‬</a:t>
            </a:r>
            <a:endParaRPr lang="en-US" sz="1200" dirty="0"/>
          </a:p>
        </p:txBody>
      </p:sp>
      <p:sp>
        <p:nvSpPr>
          <p:cNvPr id="34" name="Text 29"/>
          <p:cNvSpPr/>
          <p:nvPr/>
        </p:nvSpPr>
        <p:spPr>
          <a:xfrm>
            <a:off x="6086157" y="4682666"/>
            <a:ext cx="2518093"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‫100 צעדים‬</a:t>
            </a:r>
            <a:endParaRPr lang="en-US" sz="2000" dirty="0"/>
          </a:p>
        </p:txBody>
      </p:sp>
      <p:sp>
        <p:nvSpPr>
          <p:cNvPr id="35" name="Text 30"/>
          <p:cNvSpPr/>
          <p:nvPr/>
        </p:nvSpPr>
        <p:spPr>
          <a:xfrm>
            <a:off x="6086157" y="4987367"/>
            <a:ext cx="251809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 400 דוגמאות, כ-6% מ-epoch‬</a:t>
            </a:r>
            <a:endParaRPr lang="en-US" sz="1200" dirty="0"/>
          </a:p>
        </p:txBody>
      </p:sp>
      <p:sp>
        <p:nvSpPr>
          <p:cNvPr id="36" name="Text 31"/>
          <p:cNvSpPr/>
          <p:nvPr/>
        </p:nvSpPr>
        <p:spPr>
          <a:xfrm>
            <a:off x="8657905" y="4682666"/>
            <a:ext cx="2518185" cy="304746"/>
          </a:xfrm>
          <a:prstGeom prst="rect">
            <a:avLst/>
          </a:prstGeom>
          <a:noFill/>
          <a:ln/>
        </p:spPr>
        <p:txBody>
          <a:bodyPr wrap="square" lIns="0" tIns="0" rIns="0" bIns="0" rtlCol="0" anchor="t">
            <a:normAutofit/>
          </a:bodyPr>
          <a:lstStyle/>
          <a:p>
            <a:pPr algn="r" indent="0" marL="0">
              <a:lnSpc>
                <a:spcPts val="2200"/>
              </a:lnSpc>
              <a:buNone/>
            </a:pPr>
            <a:r>
              <a:rPr lang="en-US" sz="2000" b="1" dirty="0">
                <a:solidFill>
                  <a:srgbClr val="6FD0C4"/>
                </a:solidFill>
                <a:latin typeface="Arial" pitchFamily="34" charset="0"/>
                <a:ea typeface="Arial" pitchFamily="34" charset="-122"/>
                <a:cs typeface="Arial" pitchFamily="34" charset="-120"/>
              </a:rPr>
              <a:t>‫4 דוגמאות‬</a:t>
            </a:r>
            <a:endParaRPr lang="en-US" sz="2000" dirty="0"/>
          </a:p>
        </p:txBody>
      </p:sp>
      <p:sp>
        <p:nvSpPr>
          <p:cNvPr id="37" name="Text 32"/>
          <p:cNvSpPr/>
          <p:nvPr/>
        </p:nvSpPr>
        <p:spPr>
          <a:xfrm>
            <a:off x="8657905" y="4987367"/>
            <a:ext cx="251818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‫בכל צעד: batch 2 × צבירה 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3 · search ו-finalists‬</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‫חיפוש שיטת הלימוד‬</a:t>
            </a:r>
            <a:endParaRPr lang="en-US" sz="3200" dirty="0"/>
          </a:p>
        </p:txBody>
      </p:sp>
      <p:sp>
        <p:nvSpPr>
          <p:cNvPr id="4" name="Shape 2"/>
          <p:cNvSpPr/>
          <p:nvPr/>
        </p:nvSpPr>
        <p:spPr>
          <a:xfrm>
            <a:off x="812782" y="1574775"/>
            <a:ext cx="2309181" cy="1520302"/>
          </a:xfrm>
          <a:prstGeom prst="roundRect">
            <a:avLst>
              <a:gd name="adj" fmla="val 8354"/>
            </a:avLst>
          </a:prstGeom>
          <a:solidFill>
            <a:srgbClr val="0F2233"/>
          </a:solidFill>
          <a:ln/>
        </p:spPr>
      </p:sp>
      <p:sp>
        <p:nvSpPr>
          <p:cNvPr id="5" name="Text 3"/>
          <p:cNvSpPr/>
          <p:nvPr/>
        </p:nvSpPr>
        <p:spPr>
          <a:xfrm>
            <a:off x="904993" y="1752563"/>
            <a:ext cx="2064624"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6FD0C4"/>
                </a:solidFill>
                <a:latin typeface="Arial" pitchFamily="34" charset="0"/>
                <a:ea typeface="Arial" pitchFamily="34" charset="-122"/>
                <a:cs typeface="Arial" pitchFamily="34" charset="-120"/>
              </a:rPr>
              <a:t>4</a:t>
            </a:r>
            <a:endParaRPr lang="en-US" sz="2800" dirty="0"/>
          </a:p>
        </p:txBody>
      </p:sp>
      <p:sp>
        <p:nvSpPr>
          <p:cNvPr id="6" name="Text 4"/>
          <p:cNvSpPr/>
          <p:nvPr/>
        </p:nvSpPr>
        <p:spPr>
          <a:xfrm>
            <a:off x="904993" y="2171626"/>
            <a:ext cx="2064624"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F6F4EE"/>
                </a:solidFill>
                <a:latin typeface="Arial" pitchFamily="34" charset="0"/>
                <a:ea typeface="Arial" pitchFamily="34" charset="-122"/>
                <a:cs typeface="Arial" pitchFamily="34" charset="-120"/>
              </a:rPr>
              <a:t>‫אימון מלא‬</a:t>
            </a:r>
            <a:endParaRPr lang="en-US" sz="1600" dirty="0"/>
          </a:p>
        </p:txBody>
      </p:sp>
      <p:sp>
        <p:nvSpPr>
          <p:cNvPr id="7" name="Text 5"/>
          <p:cNvSpPr/>
          <p:nvPr/>
        </p:nvSpPr>
        <p:spPr>
          <a:xfrm>
            <a:off x="904993" y="2478931"/>
            <a:ext cx="2064624"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‫על כל ה-Train, וציון WER על כל ה-Val (875 קטעים)‬</a:t>
            </a:r>
            <a:endParaRPr lang="en-US" sz="1200" dirty="0"/>
          </a:p>
        </p:txBody>
      </p:sp>
      <p:pic>
        <p:nvPicPr>
          <p:cNvPr id="8" name="Image 0" descr="arrow-left">    </p:cNvPr>
          <p:cNvPicPr>
            <a:picLocks noChangeAspect="1"/>
          </p:cNvPicPr>
          <p:nvPr/>
        </p:nvPicPr>
        <p:blipFill>
          <a:blip r:embed="rId1"/>
          <a:srcRect l="0" r="0" t="-5" b="-5"/>
          <a:stretch/>
        </p:blipFill>
        <p:spPr>
          <a:xfrm>
            <a:off x="3198091" y="2246040"/>
            <a:ext cx="279346" cy="177782"/>
          </a:xfrm>
          <a:prstGeom prst="rect">
            <a:avLst/>
          </a:prstGeom>
        </p:spPr>
      </p:pic>
      <p:sp>
        <p:nvSpPr>
          <p:cNvPr id="9" name="Shape 6"/>
          <p:cNvSpPr/>
          <p:nvPr/>
        </p:nvSpPr>
        <p:spPr>
          <a:xfrm>
            <a:off x="3556739" y="1577950"/>
            <a:ext cx="2314467" cy="1513952"/>
          </a:xfrm>
          <a:prstGeom prst="roundRect">
            <a:avLst>
              <a:gd name="adj" fmla="val 8179"/>
            </a:avLst>
          </a:prstGeom>
          <a:solidFill>
            <a:srgbClr val="FFFDF8"/>
          </a:solidFill>
          <a:ln w="6350">
            <a:solidFill>
              <a:srgbClr val="E2DDD0"/>
            </a:solidFill>
            <a:prstDash val="solid"/>
          </a:ln>
        </p:spPr>
      </p:sp>
      <p:sp>
        <p:nvSpPr>
          <p:cNvPr id="10" name="Text 7"/>
          <p:cNvSpPr/>
          <p:nvPr/>
        </p:nvSpPr>
        <p:spPr>
          <a:xfrm>
            <a:off x="3651546" y="1758330"/>
            <a:ext cx="2064717"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3</a:t>
            </a:r>
            <a:endParaRPr lang="en-US" sz="2800" dirty="0"/>
          </a:p>
        </p:txBody>
      </p:sp>
      <p:sp>
        <p:nvSpPr>
          <p:cNvPr id="11" name="Text 8"/>
          <p:cNvSpPr/>
          <p:nvPr/>
        </p:nvSpPr>
        <p:spPr>
          <a:xfrm>
            <a:off x="3651546" y="2177393"/>
            <a:ext cx="2064717"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‫הטובים עולים‬</a:t>
            </a:r>
            <a:endParaRPr lang="en-US" sz="1600" dirty="0"/>
          </a:p>
        </p:txBody>
      </p:sp>
      <p:sp>
        <p:nvSpPr>
          <p:cNvPr id="12" name="Text 9"/>
          <p:cNvSpPr/>
          <p:nvPr/>
        </p:nvSpPr>
        <p:spPr>
          <a:xfrm>
            <a:off x="3651546" y="2484698"/>
            <a:ext cx="2064717"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‫שניים בלבד מגיעים לגמר (finalists.k = 2)‬</a:t>
            </a:r>
            <a:endParaRPr lang="en-US" sz="1200" dirty="0"/>
          </a:p>
        </p:txBody>
      </p:sp>
      <p:pic>
        <p:nvPicPr>
          <p:cNvPr id="13" name="Image 1" descr="arrow-left">    </p:cNvPr>
          <p:cNvPicPr>
            <a:picLocks noChangeAspect="1"/>
          </p:cNvPicPr>
          <p:nvPr/>
        </p:nvPicPr>
        <p:blipFill>
          <a:blip r:embed="rId2"/>
          <a:srcRect l="0" r="0" t="-5" b="-5"/>
          <a:stretch/>
        </p:blipFill>
        <p:spPr>
          <a:xfrm>
            <a:off x="5950509" y="2246040"/>
            <a:ext cx="279346" cy="177782"/>
          </a:xfrm>
          <a:prstGeom prst="rect">
            <a:avLst/>
          </a:prstGeom>
        </p:spPr>
      </p:pic>
      <p:sp>
        <p:nvSpPr>
          <p:cNvPr id="14" name="Shape 10"/>
          <p:cNvSpPr/>
          <p:nvPr/>
        </p:nvSpPr>
        <p:spPr>
          <a:xfrm>
            <a:off x="6309158" y="1577950"/>
            <a:ext cx="2314467" cy="1513952"/>
          </a:xfrm>
          <a:prstGeom prst="roundRect">
            <a:avLst>
              <a:gd name="adj" fmla="val 8179"/>
            </a:avLst>
          </a:prstGeom>
          <a:solidFill>
            <a:srgbClr val="FFFDF8"/>
          </a:solidFill>
          <a:ln w="6350">
            <a:solidFill>
              <a:srgbClr val="E2DDD0"/>
            </a:solidFill>
            <a:prstDash val="solid"/>
          </a:ln>
        </p:spPr>
      </p:sp>
      <p:sp>
        <p:nvSpPr>
          <p:cNvPr id="15" name="Text 11"/>
          <p:cNvSpPr/>
          <p:nvPr/>
        </p:nvSpPr>
        <p:spPr>
          <a:xfrm>
            <a:off x="6403964" y="1758330"/>
            <a:ext cx="2064717"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2</a:t>
            </a:r>
            <a:endParaRPr lang="en-US" sz="2800" dirty="0"/>
          </a:p>
        </p:txBody>
      </p:sp>
      <p:sp>
        <p:nvSpPr>
          <p:cNvPr id="16" name="Text 12"/>
          <p:cNvSpPr/>
          <p:nvPr/>
        </p:nvSpPr>
        <p:spPr>
          <a:xfrm>
            <a:off x="6403964" y="2177393"/>
            <a:ext cx="2064717"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‫ניסוי קצר‬</a:t>
            </a:r>
            <a:endParaRPr lang="en-US" sz="1600" dirty="0"/>
          </a:p>
        </p:txBody>
      </p:sp>
      <p:sp>
        <p:nvSpPr>
          <p:cNvPr id="17" name="Text 13"/>
          <p:cNvSpPr/>
          <p:nvPr/>
        </p:nvSpPr>
        <p:spPr>
          <a:xfrm>
            <a:off x="6403964" y="2484698"/>
            <a:ext cx="2064717"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‫כל מועמד על כ-61 קטעים בלבד. הציון: Val loss‬</a:t>
            </a:r>
            <a:endParaRPr lang="en-US" sz="1200" dirty="0"/>
          </a:p>
        </p:txBody>
      </p:sp>
      <p:pic>
        <p:nvPicPr>
          <p:cNvPr id="18" name="Image 2" descr="arrow-left">    </p:cNvPr>
          <p:cNvPicPr>
            <a:picLocks noChangeAspect="1"/>
          </p:cNvPicPr>
          <p:nvPr/>
        </p:nvPicPr>
        <p:blipFill>
          <a:blip r:embed="rId3"/>
          <a:srcRect l="0" r="0" t="-5" b="-5"/>
          <a:stretch/>
        </p:blipFill>
        <p:spPr>
          <a:xfrm>
            <a:off x="8702927" y="2246040"/>
            <a:ext cx="279346" cy="177782"/>
          </a:xfrm>
          <a:prstGeom prst="rect">
            <a:avLst/>
          </a:prstGeom>
        </p:spPr>
      </p:pic>
      <p:sp>
        <p:nvSpPr>
          <p:cNvPr id="19" name="Shape 14"/>
          <p:cNvSpPr/>
          <p:nvPr/>
        </p:nvSpPr>
        <p:spPr>
          <a:xfrm>
            <a:off x="9061576" y="1577950"/>
            <a:ext cx="2314467" cy="1513952"/>
          </a:xfrm>
          <a:prstGeom prst="roundRect">
            <a:avLst>
              <a:gd name="adj" fmla="val 8179"/>
            </a:avLst>
          </a:prstGeom>
          <a:solidFill>
            <a:srgbClr val="FFFDF8"/>
          </a:solidFill>
          <a:ln w="6350">
            <a:solidFill>
              <a:srgbClr val="E2DDD0"/>
            </a:solidFill>
            <a:prstDash val="solid"/>
          </a:ln>
        </p:spPr>
      </p:sp>
      <p:sp>
        <p:nvSpPr>
          <p:cNvPr id="20" name="Text 15"/>
          <p:cNvSpPr/>
          <p:nvPr/>
        </p:nvSpPr>
        <p:spPr>
          <a:xfrm>
            <a:off x="9156382" y="1758330"/>
            <a:ext cx="2064717"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1</a:t>
            </a:r>
            <a:endParaRPr lang="en-US" sz="2800" dirty="0"/>
          </a:p>
        </p:txBody>
      </p:sp>
      <p:sp>
        <p:nvSpPr>
          <p:cNvPr id="21" name="Text 16"/>
          <p:cNvSpPr/>
          <p:nvPr/>
        </p:nvSpPr>
        <p:spPr>
          <a:xfrm>
            <a:off x="9156382" y="2177393"/>
            <a:ext cx="2064717"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‫מועמדים‬</a:t>
            </a:r>
            <a:endParaRPr lang="en-US" sz="1600" dirty="0"/>
          </a:p>
        </p:txBody>
      </p:sp>
      <p:sp>
        <p:nvSpPr>
          <p:cNvPr id="22" name="Text 17"/>
          <p:cNvSpPr/>
          <p:nvPr/>
        </p:nvSpPr>
        <p:spPr>
          <a:xfrm>
            <a:off x="9156382" y="2484698"/>
            <a:ext cx="2064717"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‫קצב למידה בין 5e-6 ל-5e-5, ארבע נקודות על הסקאלה‬</a:t>
            </a:r>
            <a:endParaRPr lang="en-US" sz="1200" dirty="0"/>
          </a:p>
        </p:txBody>
      </p:sp>
      <p:sp>
        <p:nvSpPr>
          <p:cNvPr id="23" name="Text 18"/>
          <p:cNvSpPr/>
          <p:nvPr/>
        </p:nvSpPr>
        <p:spPr>
          <a:xfrm>
            <a:off x="495789" y="3272867"/>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C6670"/>
                </a:solidFill>
                <a:latin typeface="Arial" pitchFamily="34" charset="0"/>
                <a:ea typeface="Arial" pitchFamily="34" charset="-122"/>
                <a:cs typeface="Arial" pitchFamily="34" charset="-120"/>
              </a:rPr>
              <a:t>‫שישה פרמטרים שאפשר לחפש עליהם‬</a:t>
            </a:r>
            <a:endParaRPr lang="en-US" sz="1200" dirty="0"/>
          </a:p>
        </p:txBody>
      </p:sp>
      <p:sp>
        <p:nvSpPr>
          <p:cNvPr id="24" name="Text 19"/>
          <p:cNvSpPr/>
          <p:nvPr/>
        </p:nvSpPr>
        <p:spPr>
          <a:xfrm>
            <a:off x="815957" y="3667224"/>
            <a:ext cx="1448197" cy="340374"/>
          </a:xfrm>
          <a:prstGeom prst="roundRect">
            <a:avLst>
              <a:gd name="adj" fmla="val 50000"/>
            </a:avLst>
          </a:prstGeom>
          <a:solidFill>
            <a:srgbClr val="E1EEEB"/>
          </a:solidFill>
          <a:ln w="6350">
            <a:solidFill>
              <a:srgbClr val="1F6F6F"/>
            </a:solidFill>
            <a:prstDash val="solid"/>
          </a:ln>
        </p:spPr>
        <p:txBody>
          <a:bodyPr wrap="none" lIns="0" tIns="0" rIns="0" bIns="0" rtlCol="0" anchor="ctr">
            <a:normAutofit/>
          </a:bodyPr>
          <a:lstStyle/>
          <a:p>
            <a:pPr algn="ctr" indent="0" marL="0">
              <a:lnSpc>
                <a:spcPts val="1440"/>
              </a:lnSpc>
              <a:buNone/>
            </a:pPr>
            <a:r>
              <a:rPr lang="en-US" sz="1200" dirty="0">
                <a:solidFill>
                  <a:srgbClr val="0F2233"/>
                </a:solidFill>
                <a:latin typeface="Courier New" pitchFamily="49" charset="0"/>
                <a:ea typeface="Courier New" pitchFamily="49" charset="-122"/>
                <a:cs typeface="Courier New" pitchFamily="49" charset="-120"/>
              </a:rPr>
              <a:t>max_grad_norm</a:t>
            </a:r>
            <a:endParaRPr lang="en-US" sz="1200" dirty="0"/>
          </a:p>
        </p:txBody>
      </p:sp>
      <p:sp>
        <p:nvSpPr>
          <p:cNvPr id="25" name="Text 20"/>
          <p:cNvSpPr/>
          <p:nvPr/>
        </p:nvSpPr>
        <p:spPr>
          <a:xfrm>
            <a:off x="2346632" y="3667224"/>
            <a:ext cx="1356735" cy="340374"/>
          </a:xfrm>
          <a:prstGeom prst="roundRect">
            <a:avLst>
              <a:gd name="adj" fmla="val 50000"/>
            </a:avLst>
          </a:prstGeom>
          <a:solidFill>
            <a:srgbClr val="E1EEEB"/>
          </a:solidFill>
          <a:ln w="6350">
            <a:solidFill>
              <a:srgbClr val="1F6F6F"/>
            </a:solidFill>
            <a:prstDash val="solid"/>
          </a:ln>
        </p:spPr>
        <p:txBody>
          <a:bodyPr wrap="none" lIns="0" tIns="0" rIns="0" bIns="0" rtlCol="0" anchor="ctr">
            <a:normAutofit/>
          </a:bodyPr>
          <a:lstStyle/>
          <a:p>
            <a:pPr algn="ctr" indent="0" marL="0">
              <a:lnSpc>
                <a:spcPts val="1440"/>
              </a:lnSpc>
              <a:buNone/>
            </a:pPr>
            <a:r>
              <a:rPr lang="en-US" sz="1200" dirty="0">
                <a:solidFill>
                  <a:srgbClr val="0F2233"/>
                </a:solidFill>
                <a:latin typeface="Courier New" pitchFamily="49" charset="0"/>
                <a:ea typeface="Courier New" pitchFamily="49" charset="-122"/>
                <a:cs typeface="Courier New" pitchFamily="49" charset="-120"/>
              </a:rPr>
              <a:t>weight_decay</a:t>
            </a:r>
            <a:endParaRPr lang="en-US" sz="1200" dirty="0"/>
          </a:p>
        </p:txBody>
      </p:sp>
      <p:sp>
        <p:nvSpPr>
          <p:cNvPr id="26" name="Text 21"/>
          <p:cNvSpPr/>
          <p:nvPr/>
        </p:nvSpPr>
        <p:spPr>
          <a:xfrm>
            <a:off x="3785844" y="3667224"/>
            <a:ext cx="1356735" cy="340374"/>
          </a:xfrm>
          <a:prstGeom prst="roundRect">
            <a:avLst>
              <a:gd name="adj" fmla="val 50000"/>
            </a:avLst>
          </a:prstGeom>
          <a:solidFill>
            <a:srgbClr val="E1EEEB"/>
          </a:solidFill>
          <a:ln w="6350">
            <a:solidFill>
              <a:srgbClr val="1F6F6F"/>
            </a:solidFill>
            <a:prstDash val="solid"/>
          </a:ln>
        </p:spPr>
        <p:txBody>
          <a:bodyPr wrap="none" lIns="0" tIns="0" rIns="0" bIns="0" rtlCol="0" anchor="ctr">
            <a:normAutofit/>
          </a:bodyPr>
          <a:lstStyle/>
          <a:p>
            <a:pPr algn="ctr" indent="0" marL="0">
              <a:lnSpc>
                <a:spcPts val="1440"/>
              </a:lnSpc>
              <a:buNone/>
            </a:pPr>
            <a:r>
              <a:rPr lang="en-US" sz="1200" dirty="0">
                <a:solidFill>
                  <a:srgbClr val="0F2233"/>
                </a:solidFill>
                <a:latin typeface="Courier New" pitchFamily="49" charset="0"/>
                <a:ea typeface="Courier New" pitchFamily="49" charset="-122"/>
                <a:cs typeface="Courier New" pitchFamily="49" charset="-120"/>
              </a:rPr>
              <a:t>warmup_steps</a:t>
            </a:r>
            <a:endParaRPr lang="en-US" sz="1200" dirty="0"/>
          </a:p>
        </p:txBody>
      </p:sp>
      <p:sp>
        <p:nvSpPr>
          <p:cNvPr id="27" name="Text 22"/>
          <p:cNvSpPr/>
          <p:nvPr/>
        </p:nvSpPr>
        <p:spPr>
          <a:xfrm>
            <a:off x="5225058" y="3667224"/>
            <a:ext cx="1173812" cy="340374"/>
          </a:xfrm>
          <a:prstGeom prst="roundRect">
            <a:avLst>
              <a:gd name="adj" fmla="val 50000"/>
            </a:avLst>
          </a:prstGeom>
          <a:solidFill>
            <a:srgbClr val="E1EEEB"/>
          </a:solidFill>
          <a:ln w="6350">
            <a:solidFill>
              <a:srgbClr val="1F6F6F"/>
            </a:solidFill>
            <a:prstDash val="solid"/>
          </a:ln>
        </p:spPr>
        <p:txBody>
          <a:bodyPr wrap="none" lIns="0" tIns="0" rIns="0" bIns="0" rtlCol="0" anchor="ctr">
            <a:normAutofit/>
          </a:bodyPr>
          <a:lstStyle/>
          <a:p>
            <a:pPr algn="ctr" indent="0" marL="0">
              <a:lnSpc>
                <a:spcPts val="1440"/>
              </a:lnSpc>
              <a:buNone/>
            </a:pPr>
            <a:r>
              <a:rPr lang="en-US" sz="1200" dirty="0">
                <a:solidFill>
                  <a:srgbClr val="0F2233"/>
                </a:solidFill>
                <a:latin typeface="Courier New" pitchFamily="49" charset="0"/>
                <a:ea typeface="Courier New" pitchFamily="49" charset="-122"/>
                <a:cs typeface="Courier New" pitchFamily="49" charset="-120"/>
              </a:rPr>
              <a:t>batch_size</a:t>
            </a:r>
            <a:endParaRPr lang="en-US" sz="1200" dirty="0"/>
          </a:p>
        </p:txBody>
      </p:sp>
      <p:sp>
        <p:nvSpPr>
          <p:cNvPr id="28" name="Text 23"/>
          <p:cNvSpPr/>
          <p:nvPr/>
        </p:nvSpPr>
        <p:spPr>
          <a:xfrm>
            <a:off x="6481347" y="3667224"/>
            <a:ext cx="1722492" cy="340374"/>
          </a:xfrm>
          <a:prstGeom prst="roundRect">
            <a:avLst>
              <a:gd name="adj" fmla="val 50000"/>
            </a:avLst>
          </a:prstGeom>
          <a:solidFill>
            <a:srgbClr val="E1EEEB"/>
          </a:solidFill>
          <a:ln w="6350">
            <a:solidFill>
              <a:srgbClr val="1F6F6F"/>
            </a:solidFill>
            <a:prstDash val="solid"/>
          </a:ln>
        </p:spPr>
        <p:txBody>
          <a:bodyPr wrap="none" lIns="0" tIns="0" rIns="0" bIns="0" rtlCol="0" anchor="ctr">
            <a:normAutofit/>
          </a:bodyPr>
          <a:lstStyle/>
          <a:p>
            <a:pPr algn="ctr" indent="0" marL="0">
              <a:lnSpc>
                <a:spcPts val="1440"/>
              </a:lnSpc>
              <a:buNone/>
            </a:pPr>
            <a:r>
              <a:rPr lang="en-US" sz="1200" dirty="0">
                <a:solidFill>
                  <a:srgbClr val="0F2233"/>
                </a:solidFill>
                <a:latin typeface="Courier New" pitchFamily="49" charset="0"/>
                <a:ea typeface="Courier New" pitchFamily="49" charset="-122"/>
                <a:cs typeface="Courier New" pitchFamily="49" charset="-120"/>
              </a:rPr>
              <a:t>grad_accum_steps</a:t>
            </a:r>
            <a:endParaRPr lang="en-US" sz="1200" dirty="0"/>
          </a:p>
        </p:txBody>
      </p:sp>
      <p:sp>
        <p:nvSpPr>
          <p:cNvPr id="29" name="Text 24"/>
          <p:cNvSpPr/>
          <p:nvPr/>
        </p:nvSpPr>
        <p:spPr>
          <a:xfrm>
            <a:off x="8286317" y="3667224"/>
            <a:ext cx="1448197" cy="340374"/>
          </a:xfrm>
          <a:prstGeom prst="roundRect">
            <a:avLst>
              <a:gd name="adj" fmla="val 50000"/>
            </a:avLst>
          </a:prstGeom>
          <a:solidFill>
            <a:srgbClr val="E1EEEB"/>
          </a:solidFill>
          <a:ln w="6350">
            <a:solidFill>
              <a:srgbClr val="1F6F6F"/>
            </a:solidFill>
            <a:prstDash val="solid"/>
          </a:ln>
        </p:spPr>
        <p:txBody>
          <a:bodyPr wrap="none" lIns="0" tIns="0" rIns="0" bIns="0" rtlCol="0" anchor="ctr">
            <a:normAutofit/>
          </a:bodyPr>
          <a:lstStyle/>
          <a:p>
            <a:pPr algn="ctr" indent="0" marL="0">
              <a:lnSpc>
                <a:spcPts val="1440"/>
              </a:lnSpc>
              <a:buNone/>
            </a:pPr>
            <a:r>
              <a:rPr lang="en-US" sz="1200" dirty="0">
                <a:solidFill>
                  <a:srgbClr val="0F2233"/>
                </a:solidFill>
                <a:latin typeface="Courier New" pitchFamily="49" charset="0"/>
                <a:ea typeface="Courier New" pitchFamily="49" charset="-122"/>
                <a:cs typeface="Courier New" pitchFamily="49" charset="-120"/>
              </a:rPr>
              <a:t>learning_rate</a:t>
            </a:r>
            <a:endParaRPr lang="en-US" sz="1200" dirty="0"/>
          </a:p>
        </p:txBody>
      </p:sp>
      <p:sp>
        <p:nvSpPr>
          <p:cNvPr id="30" name="Text 25"/>
          <p:cNvSpPr/>
          <p:nvPr/>
        </p:nvSpPr>
        <p:spPr>
          <a:xfrm>
            <a:off x="815957" y="4191732"/>
            <a:ext cx="3414171" cy="686016"/>
          </a:xfrm>
          <a:prstGeom prst="roundRect">
            <a:avLst>
              <a:gd name="adj" fmla="val 14347"/>
            </a:avLst>
          </a:prstGeom>
          <a:solidFill>
            <a:srgbClr val="FFFDF8"/>
          </a:solidFill>
          <a:ln w="6350">
            <a:solidFill>
              <a:srgbClr val="E2DDD0"/>
            </a:solidFill>
            <a:prstDash val="solid"/>
          </a:ln>
        </p:spPr>
        <p:txBody>
          <a:bodyPr wrap="square" lIns="33045"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‫כל מדידת WER מלאה על Val לוקחת כ-26 דקות למודל‬</a:t>
            </a:r>
            <a:endParaRPr lang="en-US" sz="1200" dirty="0"/>
          </a:p>
        </p:txBody>
      </p:sp>
      <p:sp>
        <p:nvSpPr>
          <p:cNvPr id="31" name="Text 26"/>
          <p:cNvSpPr/>
          <p:nvPr/>
        </p:nvSpPr>
        <p:spPr>
          <a:xfrm>
            <a:off x="4388824" y="4191732"/>
            <a:ext cx="3414261" cy="686016"/>
          </a:xfrm>
          <a:prstGeom prst="roundRect">
            <a:avLst>
              <a:gd name="adj" fmla="val 14347"/>
            </a:avLst>
          </a:prstGeom>
          <a:solidFill>
            <a:srgbClr val="FFFDF8"/>
          </a:solidFill>
          <a:ln w="6350">
            <a:solidFill>
              <a:srgbClr val="E2DDD0"/>
            </a:solidFill>
            <a:prstDash val="solid"/>
          </a:ln>
        </p:spPr>
        <p:txBody>
          <a:bodyPr wrap="square" lIns="33042"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‫בקבצי ההגדרות שלכם: 4 ניסיונות, 2 עולים לגמר‬</a:t>
            </a:r>
            <a:endParaRPr lang="en-US" sz="1200" dirty="0"/>
          </a:p>
        </p:txBody>
      </p:sp>
      <p:sp>
        <p:nvSpPr>
          <p:cNvPr id="32" name="Text 27"/>
          <p:cNvSpPr/>
          <p:nvPr/>
        </p:nvSpPr>
        <p:spPr>
          <a:xfrm>
            <a:off x="7961781" y="4191732"/>
            <a:ext cx="3414261" cy="686016"/>
          </a:xfrm>
          <a:prstGeom prst="roundRect">
            <a:avLst>
              <a:gd name="adj" fmla="val 14347"/>
            </a:avLst>
          </a:prstGeom>
          <a:solidFill>
            <a:srgbClr val="FFFDF8"/>
          </a:solidFill>
          <a:ln w="6350">
            <a:solidFill>
              <a:srgbClr val="E2DDD0"/>
            </a:solidFill>
            <a:prstDash val="solid"/>
          </a:ln>
        </p:spPr>
        <p:txBody>
          <a:bodyPr wrap="none" lIns="0" tIns="100770" rIns="0" bIns="75370" rtlCol="0" anchor="t">
            <a:normAutofit/>
          </a:bodyPr>
          <a:lstStyle/>
          <a:p>
            <a:pPr algn="ctr" indent="0" marL="0">
              <a:lnSpc>
                <a:spcPts val="1680"/>
              </a:lnSpc>
              <a:buNone/>
            </a:pPr>
            <a:r>
              <a:rPr lang="en-US" sz="1200" dirty="0">
                <a:solidFill>
                  <a:srgbClr val="46525C"/>
                </a:solidFill>
                <a:latin typeface="Arial" pitchFamily="34" charset="0"/>
                <a:ea typeface="Arial" pitchFamily="34" charset="-122"/>
                <a:cs typeface="Arial" pitchFamily="34" charset="-120"/>
              </a:rPr>
              <a:t>‫אסטרטגיה: grid כברירת מחדל, ואפשר optuna_tpe‬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‫למה כך‬</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‫למה מאמנים פעמיים: טיוטה ואז גמר‬</a:t>
            </a:r>
            <a:endParaRPr lang="en-US" sz="3200" dirty="0"/>
          </a:p>
        </p:txBody>
      </p:sp>
      <p:sp>
        <p:nvSpPr>
          <p:cNvPr id="4" name="Shape 2"/>
          <p:cNvSpPr/>
          <p:nvPr/>
        </p:nvSpPr>
        <p:spPr>
          <a:xfrm>
            <a:off x="812782" y="1574775"/>
            <a:ext cx="4966891" cy="1912306"/>
          </a:xfrm>
          <a:prstGeom prst="roundRect">
            <a:avLst>
              <a:gd name="adj" fmla="val 6641"/>
            </a:avLst>
          </a:prstGeom>
          <a:solidFill>
            <a:srgbClr val="0F2233"/>
          </a:solidFill>
          <a:ln/>
        </p:spPr>
      </p:sp>
      <p:sp>
        <p:nvSpPr>
          <p:cNvPr id="5" name="Text 3"/>
          <p:cNvSpPr/>
          <p:nvPr/>
        </p:nvSpPr>
        <p:spPr>
          <a:xfrm>
            <a:off x="879091" y="1752563"/>
            <a:ext cx="4697454"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6FD0C4"/>
                </a:solidFill>
                <a:latin typeface="Arial" pitchFamily="34" charset="0"/>
                <a:ea typeface="Arial" pitchFamily="34" charset="-122"/>
                <a:cs typeface="Arial" pitchFamily="34" charset="-120"/>
              </a:rPr>
              <a:t>‫גמר (פיינליסטים)‬</a:t>
            </a:r>
            <a:endParaRPr lang="en-US" sz="2000" dirty="0"/>
          </a:p>
        </p:txBody>
      </p:sp>
      <p:sp>
        <p:nvSpPr>
          <p:cNvPr id="6" name="Text 4"/>
          <p:cNvSpPr/>
          <p:nvPr/>
        </p:nvSpPr>
        <p:spPr>
          <a:xfrm>
            <a:off x="879091" y="2133464"/>
            <a:ext cx="4697454" cy="25648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6F4EE"/>
                </a:solidFill>
                <a:latin typeface="Arial" pitchFamily="34" charset="0"/>
                <a:ea typeface="Arial" pitchFamily="34" charset="-122"/>
                <a:cs typeface="Arial" pitchFamily="34" charset="-120"/>
              </a:rPr>
              <a:t>‫שוב עותק חדש של המודל המקורי‬</a:t>
            </a:r>
            <a:endParaRPr lang="en-US" sz="1300" dirty="0"/>
          </a:p>
        </p:txBody>
      </p:sp>
      <p:sp>
        <p:nvSpPr>
          <p:cNvPr id="7" name="Text 5"/>
          <p:cNvSpPr/>
          <p:nvPr/>
        </p:nvSpPr>
        <p:spPr>
          <a:xfrm>
            <a:off x="879091" y="2440682"/>
            <a:ext cx="4697454" cy="25648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6F4EE"/>
                </a:solidFill>
                <a:latin typeface="Arial" pitchFamily="34" charset="0"/>
                <a:ea typeface="Arial" pitchFamily="34" charset="-122"/>
                <a:cs typeface="Arial" pitchFamily="34" charset="-120"/>
              </a:rPr>
              <a:t>‫כל קטעי ה-Train‬</a:t>
            </a:r>
            <a:endParaRPr lang="en-US" sz="1300" dirty="0"/>
          </a:p>
        </p:txBody>
      </p:sp>
      <p:sp>
        <p:nvSpPr>
          <p:cNvPr id="8" name="Text 6"/>
          <p:cNvSpPr/>
          <p:nvPr/>
        </p:nvSpPr>
        <p:spPr>
          <a:xfrm>
            <a:off x="879091" y="2747900"/>
            <a:ext cx="4697454" cy="25648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6F4EE"/>
                </a:solidFill>
                <a:latin typeface="Arial" pitchFamily="34" charset="0"/>
                <a:ea typeface="Arial" pitchFamily="34" charset="-122"/>
                <a:cs typeface="Arial" pitchFamily="34" charset="-120"/>
              </a:rPr>
              <a:t>‫הציון: WER על כל ה-Val‬</a:t>
            </a:r>
            <a:endParaRPr lang="en-US" sz="1300" dirty="0"/>
          </a:p>
        </p:txBody>
      </p:sp>
      <p:sp>
        <p:nvSpPr>
          <p:cNvPr id="9" name="Text 7"/>
          <p:cNvSpPr/>
          <p:nvPr/>
        </p:nvSpPr>
        <p:spPr>
          <a:xfrm>
            <a:off x="879091" y="3055119"/>
            <a:ext cx="4697454" cy="256489"/>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6FD0C4"/>
                </a:solidFill>
                <a:latin typeface="Arial" pitchFamily="34" charset="0"/>
                <a:ea typeface="Arial" pitchFamily="34" charset="-122"/>
                <a:cs typeface="Arial" pitchFamily="34" charset="-120"/>
              </a:rPr>
              <a:t>‫כ-390 שניות לכל פיינליסט‬</a:t>
            </a:r>
            <a:endParaRPr lang="en-US" sz="1300" dirty="0"/>
          </a:p>
        </p:txBody>
      </p:sp>
      <p:pic>
        <p:nvPicPr>
          <p:cNvPr id="10" name="Image 0" descr="arrow-left">    </p:cNvPr>
          <p:cNvPicPr>
            <a:picLocks noChangeAspect="1"/>
          </p:cNvPicPr>
          <p:nvPr/>
        </p:nvPicPr>
        <p:blipFill>
          <a:blip r:embed="rId1"/>
          <a:srcRect l="0" r="0" t="-3" b="-3"/>
          <a:stretch/>
        </p:blipFill>
        <p:spPr>
          <a:xfrm>
            <a:off x="5932018" y="2435634"/>
            <a:ext cx="304782" cy="190500"/>
          </a:xfrm>
          <a:prstGeom prst="rect">
            <a:avLst/>
          </a:prstGeom>
        </p:spPr>
      </p:pic>
      <p:sp>
        <p:nvSpPr>
          <p:cNvPr id="11" name="Shape 8"/>
          <p:cNvSpPr/>
          <p:nvPr/>
        </p:nvSpPr>
        <p:spPr>
          <a:xfrm>
            <a:off x="6395496" y="1581125"/>
            <a:ext cx="4977371" cy="1899606"/>
          </a:xfrm>
          <a:prstGeom prst="roundRect">
            <a:avLst>
              <a:gd name="adj" fmla="val 6351"/>
            </a:avLst>
          </a:prstGeom>
          <a:solidFill>
            <a:srgbClr val="FFFDF8"/>
          </a:solidFill>
          <a:ln w="12700">
            <a:solidFill>
              <a:srgbClr val="1F6F6F"/>
            </a:solidFill>
            <a:prstDash val="solid"/>
          </a:ln>
        </p:spPr>
      </p:sp>
      <p:sp>
        <p:nvSpPr>
          <p:cNvPr id="12" name="Text 9"/>
          <p:cNvSpPr/>
          <p:nvPr/>
        </p:nvSpPr>
        <p:spPr>
          <a:xfrm>
            <a:off x="6466998" y="1764109"/>
            <a:ext cx="4697547"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1F6F6F"/>
                </a:solidFill>
                <a:latin typeface="Arial" pitchFamily="34" charset="0"/>
                <a:ea typeface="Arial" pitchFamily="34" charset="-122"/>
                <a:cs typeface="Arial" pitchFamily="34" charset="-120"/>
              </a:rPr>
              <a:t>‫טיוטה (חיפוש)‬</a:t>
            </a:r>
            <a:endParaRPr lang="en-US" sz="2000" dirty="0"/>
          </a:p>
        </p:txBody>
      </p:sp>
      <p:sp>
        <p:nvSpPr>
          <p:cNvPr id="13" name="Text 10"/>
          <p:cNvSpPr/>
          <p:nvPr/>
        </p:nvSpPr>
        <p:spPr>
          <a:xfrm>
            <a:off x="6466998" y="2145010"/>
            <a:ext cx="4697547" cy="25648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‫עותק חדש של המודל המקורי‬</a:t>
            </a:r>
            <a:endParaRPr lang="en-US" sz="1300" dirty="0"/>
          </a:p>
        </p:txBody>
      </p:sp>
      <p:sp>
        <p:nvSpPr>
          <p:cNvPr id="14" name="Text 11"/>
          <p:cNvSpPr/>
          <p:nvPr/>
        </p:nvSpPr>
        <p:spPr>
          <a:xfrm>
            <a:off x="6466998" y="2452229"/>
            <a:ext cx="4697547" cy="25648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‫כ-61 קטעים בלבד‬</a:t>
            </a:r>
            <a:endParaRPr lang="en-US" sz="1300" dirty="0"/>
          </a:p>
        </p:txBody>
      </p:sp>
      <p:sp>
        <p:nvSpPr>
          <p:cNvPr id="15" name="Text 12"/>
          <p:cNvSpPr/>
          <p:nvPr/>
        </p:nvSpPr>
        <p:spPr>
          <a:xfrm>
            <a:off x="6466998" y="2759447"/>
            <a:ext cx="4697547" cy="25648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‫הציון: Val loss, מהיר וזול‬</a:t>
            </a:r>
            <a:endParaRPr lang="en-US" sz="1300" dirty="0"/>
          </a:p>
        </p:txBody>
      </p:sp>
      <p:sp>
        <p:nvSpPr>
          <p:cNvPr id="16" name="Text 13"/>
          <p:cNvSpPr/>
          <p:nvPr/>
        </p:nvSpPr>
        <p:spPr>
          <a:xfrm>
            <a:off x="6466998" y="3066666"/>
            <a:ext cx="4697547" cy="256489"/>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F6F6F"/>
                </a:solidFill>
                <a:latin typeface="Arial" pitchFamily="34" charset="0"/>
                <a:ea typeface="Arial" pitchFamily="34" charset="-122"/>
                <a:cs typeface="Arial" pitchFamily="34" charset="-120"/>
              </a:rPr>
              <a:t>‫כ-200 שניות לכל מועמד‬</a:t>
            </a:r>
            <a:endParaRPr lang="en-US" sz="1300" dirty="0"/>
          </a:p>
        </p:txBody>
      </p:sp>
      <p:sp>
        <p:nvSpPr>
          <p:cNvPr id="17" name="Text 14"/>
          <p:cNvSpPr/>
          <p:nvPr/>
        </p:nvSpPr>
        <p:spPr>
          <a:xfrm>
            <a:off x="815957" y="3668043"/>
            <a:ext cx="3431129" cy="686016"/>
          </a:xfrm>
          <a:prstGeom prst="roundRect">
            <a:avLst>
              <a:gd name="adj" fmla="val 14347"/>
            </a:avLst>
          </a:prstGeom>
          <a:solidFill>
            <a:srgbClr val="FFFDF8"/>
          </a:solidFill>
          <a:ln w="6350">
            <a:solidFill>
              <a:srgbClr val="E2DDD0"/>
            </a:solidFill>
            <a:prstDash val="solid"/>
          </a:ln>
        </p:spPr>
        <p:txBody>
          <a:bodyPr wrap="square" lIns="32536"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‫החולשה: loss עלול לדרג אחרת מ-WER. לכן ה-WER של הגמר הוא שמכריע‬</a:t>
            </a:r>
            <a:endParaRPr lang="en-US" sz="1200" dirty="0"/>
          </a:p>
        </p:txBody>
      </p:sp>
      <p:sp>
        <p:nvSpPr>
          <p:cNvPr id="18" name="Text 15"/>
          <p:cNvSpPr/>
          <p:nvPr/>
        </p:nvSpPr>
        <p:spPr>
          <a:xfrm>
            <a:off x="4380435" y="3668043"/>
            <a:ext cx="3431129" cy="686016"/>
          </a:xfrm>
          <a:prstGeom prst="roundRect">
            <a:avLst>
              <a:gd name="adj" fmla="val 14347"/>
            </a:avLst>
          </a:prstGeom>
          <a:solidFill>
            <a:srgbClr val="FFFDF8"/>
          </a:solidFill>
          <a:ln w="6350">
            <a:solidFill>
              <a:srgbClr val="E2DDD0"/>
            </a:solidFill>
            <a:prstDash val="solid"/>
          </a:ln>
        </p:spPr>
        <p:txBody>
          <a:bodyPr wrap="square" lIns="32536"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‫WER לכל טיוטה היה מכפיל את זמן החיפוש: כ-195 שניות נוספות לכל מועמד‬</a:t>
            </a:r>
            <a:endParaRPr lang="en-US" sz="1200" dirty="0"/>
          </a:p>
        </p:txBody>
      </p:sp>
      <p:sp>
        <p:nvSpPr>
          <p:cNvPr id="19" name="Text 16"/>
          <p:cNvSpPr/>
          <p:nvPr/>
        </p:nvSpPr>
        <p:spPr>
          <a:xfrm>
            <a:off x="7944914" y="3668043"/>
            <a:ext cx="3431129" cy="686016"/>
          </a:xfrm>
          <a:prstGeom prst="roundRect">
            <a:avLst>
              <a:gd name="adj" fmla="val 14347"/>
            </a:avLst>
          </a:prstGeom>
          <a:solidFill>
            <a:srgbClr val="FFFDF8"/>
          </a:solidFill>
          <a:ln w="6350">
            <a:solidFill>
              <a:srgbClr val="E2DDD0"/>
            </a:solidFill>
            <a:prstDash val="solid"/>
          </a:ln>
        </p:spPr>
        <p:txBody>
          <a:bodyPr wrap="square" lIns="32536"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‫הטיוטה אינה המודל הסופי, ולכן ה-WER שלה לא מייצג אותו‬</a:t>
            </a:r>
            <a:endParaRPr lang="en-US" sz="1200" dirty="0"/>
          </a:p>
        </p:txBody>
      </p:sp>
      <p:sp>
        <p:nvSpPr>
          <p:cNvPr id="20" name="Text 17"/>
          <p:cNvSpPr/>
          <p:nvPr/>
        </p:nvSpPr>
        <p:spPr>
          <a:xfrm>
            <a:off x="812782" y="4535016"/>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‫סינון זול, ואחריו אישור יקר‬</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‫היפר-פרמטרים‬</a:t>
            </a:r>
            <a:endParaRPr lang="en-US" sz="1200" dirty="0"/>
          </a:p>
        </p:txBody>
      </p:sp>
      <p:sp>
        <p:nvSpPr>
          <p:cNvPr id="3" name="Text 1"/>
          <p:cNvSpPr/>
          <p:nvPr>
            <p:ph type="title"/>
          </p:nvPr>
        </p:nvSpPr>
        <p:spPr>
          <a:xfrm>
            <a:off x="495789" y="92453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‫מה נבדק בחיפוש, ובאיזה טווח‬</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535446"/>
          <a:ext cx="10554890" cy="2506626"/>
        </p:xfrm>
        <a:graphic>
          <a:graphicData uri="http://schemas.openxmlformats.org/drawingml/2006/table">
            <a:tbl>
              <a:tblPr/>
              <a:tblGrid>
                <a:gridCol w="3166467"/>
                <a:gridCol w="1266587"/>
                <a:gridCol w="3166467"/>
                <a:gridCol w="2955369"/>
              </a:tblGrid>
              <a:tr h="358089">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‫בחיפוש‬</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‫ברירת מחדל‬</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‫מה הוא שולט‬</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‫פרמטר‬</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‫נבדק: 5e-6 עד 5e-5 (3 נקודות; בפריסטים 4)‬</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1e-5</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‫גודל כל עדכון‬</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learning_rate</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‫נבדק: 2 או 4‬</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‫כמה מעברים נסכמים לצעד‬</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grad_accum_steps</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‫אפשר להוסיף לחיפוש בהגדרות‬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‫קטעים במעבר אחד‬</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batch_size</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‫אפשר להוסיף לחיפוש בהגדרות‬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‫צעדים שבהם הקצב עולה מאפס‬</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warmup_steps</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‫אפשר להוסיף לחיפוש בהגדרות‬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0.0</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‫בלם נגד שינון‬</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weight_decay</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‫אפשר להוסיף לחיפוש בהגדרות‬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‫תקרה לגודל עדכון‬</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max_grad_norm</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5" name="Text 2"/>
          <p:cNvSpPr/>
          <p:nvPr/>
        </p:nvSpPr>
        <p:spPr>
          <a:xfrm>
            <a:off x="815957" y="4197598"/>
            <a:ext cx="5213368" cy="635144"/>
          </a:xfrm>
          <a:prstGeom prst="roundRect">
            <a:avLst>
              <a:gd name="adj" fmla="val 15496"/>
            </a:avLst>
          </a:prstGeom>
          <a:solidFill>
            <a:srgbClr val="FFFDF8"/>
          </a:solidFill>
          <a:ln w="6350">
            <a:solidFill>
              <a:srgbClr val="E2DDD0"/>
            </a:solidFill>
            <a:prstDash val="solid"/>
          </a:ln>
        </p:spPr>
        <p:txBody>
          <a:bodyPr wrap="square" lIns="0"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‫אורך האימון (max_steps) נקבע בהגדרות ואינו חלק מהחיפוש. אלו שישה הפרמטרים היחידים שאפשר לחפש‬</a:t>
            </a:r>
            <a:endParaRPr lang="en-US" sz="1200" dirty="0"/>
          </a:p>
        </p:txBody>
      </p:sp>
      <p:sp>
        <p:nvSpPr>
          <p:cNvPr id="6" name="Text 3"/>
          <p:cNvSpPr/>
          <p:nvPr/>
        </p:nvSpPr>
        <p:spPr>
          <a:xfrm>
            <a:off x="6162675" y="4197598"/>
            <a:ext cx="5213368" cy="635144"/>
          </a:xfrm>
          <a:prstGeom prst="roundRect">
            <a:avLst>
              <a:gd name="adj" fmla="val 15496"/>
            </a:avLst>
          </a:prstGeom>
          <a:solidFill>
            <a:srgbClr val="FFFDF8"/>
          </a:solidFill>
          <a:ln w="6350">
            <a:solidFill>
              <a:srgbClr val="E2DDD0"/>
            </a:solidFill>
            <a:prstDash val="solid"/>
          </a:ln>
        </p:spPr>
        <p:txBody>
          <a:bodyPr wrap="square" lIns="0"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‫ברירת מחדל: 6 ניסויים, שהם 3 קצבי למידה × 2 ערכי צבירה. בפריסטים: 4 קצבי למידה בלבד‬</a:t>
            </a:r>
            <a:endParaRPr lang="en-US" sz="1200" dirty="0"/>
          </a:p>
        </p:txBody>
      </p:sp>
      <p:sp>
        <p:nvSpPr>
          <p:cNvPr id="7" name="Text 4"/>
          <p:cNvSpPr/>
          <p:nvPr/>
        </p:nvSpPr>
        <p:spPr>
          <a:xfrm>
            <a:off x="812782" y="4988260"/>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‫הטווח נבחר על ידינו. אם הטוב ביותר בקצה הטווח, מרחיבים אותו‬</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‫קצב למידה‬</a:t>
            </a:r>
            <a:endParaRPr lang="en-US" sz="1200" dirty="0"/>
          </a:p>
        </p:txBody>
      </p:sp>
      <p:sp>
        <p:nvSpPr>
          <p:cNvPr id="3" name="Text 1"/>
          <p:cNvSpPr/>
          <p:nvPr>
            <p:ph type="title"/>
          </p:nvPr>
        </p:nvSpPr>
        <p:spPr>
          <a:xfrm>
            <a:off x="495789" y="92453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‫מה קרה כשבדקנו ארבעה קצבי למידה‬</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535446"/>
          <a:ext cx="10554890" cy="1923491"/>
        </p:xfrm>
        <a:graphic>
          <a:graphicData uri="http://schemas.openxmlformats.org/drawingml/2006/table">
            <a:tbl>
              <a:tblPr/>
              <a:tblGrid>
                <a:gridCol w="4855249"/>
                <a:gridCol w="2533174"/>
                <a:gridCol w="3166467"/>
              </a:tblGrid>
              <a:tr h="384698">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‫מה קרה אחר כך‬</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‫Val loss בניסוי‬</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‫קצב למידה‬</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‫לא נכנס לפיינליסטים‬</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1.7741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5e-6</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‫פיינליסט. Val WER 1.0498‬</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1.6248</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1.08e-5</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‫פיינליסט ומנצח. Val WER 1.0279‬</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1.4618</a:t>
                      </a:r>
                      <a:endParaRPr lang="en-US" sz="1400" dirty="0">
                        <a:latin typeface="Arial" charset="0"/>
                        <a:ea typeface="Arial" charset="0"/>
                        <a:cs typeface="Arial" charset="0"/>
                      </a:endParaRPr>
                    </a:p>
                  </a:txBody>
                  <a:tcPr marL="62230" marR="62230" marT="62230" marB="62230"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2.32e-5</a:t>
                      </a:r>
                      <a:endParaRPr lang="en-US" sz="1400" dirty="0">
                        <a:latin typeface="Arial" charset="0"/>
                        <a:ea typeface="Arial" charset="0"/>
                        <a:cs typeface="Arial" charset="0"/>
                      </a:endParaRPr>
                    </a:p>
                  </a:txBody>
                  <a:tcPr marL="62230" marR="62230" marT="62230" marB="62230"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‫לא דורג: תקלה בשינוי שם תיקייה ב-Windows‬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B5AD"/>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4B5AD"/>
                      </a:solidFill>
                      <a:prstDash val="solid"/>
                      <a:round/>
                      <a:headEnd type="none" w="med" len="med"/>
                      <a:tailEnd type="none" w="med" len="med"/>
                    </a:lnB>
                    <a:solidFill>
                      <a:srgbClr val="F6E3D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‫1.2865 (בקובץ)‬</a:t>
                      </a:r>
                      <a:endParaRPr lang="en-US" sz="1400" dirty="0">
                        <a:latin typeface="Arial" charset="0"/>
                        <a:ea typeface="Arial" charset="0"/>
                        <a:cs typeface="Arial" charset="0"/>
                      </a:endParaRPr>
                    </a:p>
                  </a:txBody>
                  <a:tcPr marL="62230" marR="62230" marT="62230" marB="62230" anchor="t">
                    <a:lnL w="12700" cap="flat" cmpd="sng" algn="ctr">
                      <a:solidFill>
                        <a:srgbClr val="C4B5AD"/>
                      </a:solidFill>
                      <a:prstDash val="solid"/>
                      <a:round/>
                      <a:headEnd type="none" w="med" len="med"/>
                      <a:tailEnd type="none" w="med" len="med"/>
                    </a:lnL>
                    <a:lnR w="12700" cap="flat" cmpd="sng" algn="ctr">
                      <a:solidFill>
                        <a:srgbClr val="C4B5AD"/>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4B5AD"/>
                      </a:solidFill>
                      <a:prstDash val="solid"/>
                      <a:round/>
                      <a:headEnd type="none" w="med" len="med"/>
                      <a:tailEnd type="none" w="med" len="med"/>
                    </a:lnB>
                    <a:solidFill>
                      <a:srgbClr val="F6E3D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5e-5</a:t>
                      </a:r>
                      <a:endParaRPr lang="en-US" sz="1400" dirty="0">
                        <a:latin typeface="Arial" charset="0"/>
                        <a:ea typeface="Arial" charset="0"/>
                        <a:cs typeface="Arial" charset="0"/>
                      </a:endParaRPr>
                    </a:p>
                  </a:txBody>
                  <a:tcPr marL="62230" marR="62230" marT="62230" marB="62230" anchor="t">
                    <a:lnL w="12700" cap="flat" cmpd="sng" algn="ctr">
                      <a:solidFill>
                        <a:srgbClr val="C4B5AD"/>
                      </a:solidFill>
                      <a:prstDash val="solid"/>
                      <a:round/>
                      <a:headEnd type="none" w="med" len="med"/>
                      <a:tailEnd type="none" w="med" len="med"/>
                    </a:lnL>
                    <a:lnR w="12700" cap="flat" cmpd="sng" algn="ctr">
                      <a:solidFill>
                        <a:srgbClr val="C4B5AD"/>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4B5AD"/>
                      </a:solidFill>
                      <a:prstDash val="solid"/>
                      <a:round/>
                      <a:headEnd type="none" w="med" len="med"/>
                      <a:tailEnd type="none" w="med" len="med"/>
                    </a:lnB>
                    <a:solidFill>
                      <a:srgbClr val="F6E3D8"/>
                    </a:solidFill>
                  </a:tcPr>
                </a:tc>
              </a:tr>
            </a:tbl>
          </a:graphicData>
        </a:graphic>
      </p:graphicFrame>
      <p:sp>
        <p:nvSpPr>
          <p:cNvPr id="5" name="Text 2"/>
          <p:cNvSpPr/>
          <p:nvPr/>
        </p:nvSpPr>
        <p:spPr>
          <a:xfrm>
            <a:off x="495789" y="361129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670"/>
                </a:solidFill>
                <a:latin typeface="Arial" pitchFamily="34" charset="0"/>
                <a:ea typeface="Arial" pitchFamily="34" charset="-122"/>
                <a:cs typeface="Arial" pitchFamily="34" charset="-120"/>
              </a:rPr>
              <a:t>‫בייסליין: Val WER 1.1318. כל אימון היה 20 צעדים. הניסויים אומנו על 61 קטעים ונמדדו על 101 קטעי Val‬</a:t>
            </a:r>
            <a:endParaRPr lang="en-US" sz="1200" dirty="0"/>
          </a:p>
        </p:txBody>
      </p:sp>
      <p:sp>
        <p:nvSpPr>
          <p:cNvPr id="6" name="Shape 3"/>
          <p:cNvSpPr/>
          <p:nvPr/>
        </p:nvSpPr>
        <p:spPr>
          <a:xfrm>
            <a:off x="812782" y="3977047"/>
            <a:ext cx="3422055" cy="1036475"/>
          </a:xfrm>
          <a:prstGeom prst="roundRect">
            <a:avLst>
              <a:gd name="adj" fmla="val 12253"/>
            </a:avLst>
          </a:prstGeom>
          <a:solidFill>
            <a:srgbClr val="0F2233"/>
          </a:solidFill>
          <a:ln/>
        </p:spPr>
      </p:sp>
      <p:sp>
        <p:nvSpPr>
          <p:cNvPr id="7" name="Text 4"/>
          <p:cNvSpPr/>
          <p:nvPr/>
        </p:nvSpPr>
        <p:spPr>
          <a:xfrm>
            <a:off x="898569" y="4129385"/>
            <a:ext cx="315848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6FD0C4"/>
                </a:solidFill>
                <a:latin typeface="Arial" pitchFamily="34" charset="0"/>
                <a:ea typeface="Arial" pitchFamily="34" charset="-122"/>
                <a:cs typeface="Arial" pitchFamily="34" charset="-120"/>
              </a:rPr>
              <a:t>‫מודל גדול‬</a:t>
            </a:r>
            <a:endParaRPr lang="en-US" sz="1400" dirty="0"/>
          </a:p>
        </p:txBody>
      </p:sp>
      <p:sp>
        <p:nvSpPr>
          <p:cNvPr id="8" name="Text 5"/>
          <p:cNvSpPr/>
          <p:nvPr/>
        </p:nvSpPr>
        <p:spPr>
          <a:xfrm>
            <a:off x="898569" y="4411266"/>
            <a:ext cx="315848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‫טווח מוצע להתחלה: 1e-6 עד 1e-5. המלצה כללית, שנבדקת בחיפוש‬</a:t>
            </a:r>
            <a:endParaRPr lang="en-US" sz="1200" dirty="0"/>
          </a:p>
        </p:txBody>
      </p:sp>
      <p:sp>
        <p:nvSpPr>
          <p:cNvPr id="9" name="Shape 6"/>
          <p:cNvSpPr/>
          <p:nvPr/>
        </p:nvSpPr>
        <p:spPr>
          <a:xfrm>
            <a:off x="4368186" y="3983397"/>
            <a:ext cx="3432536" cy="1023775"/>
          </a:xfrm>
          <a:prstGeom prst="roundRect">
            <a:avLst>
              <a:gd name="adj" fmla="val 11785"/>
            </a:avLst>
          </a:prstGeom>
          <a:solidFill>
            <a:srgbClr val="F6E3D8"/>
          </a:solidFill>
          <a:ln w="12700">
            <a:solidFill>
              <a:srgbClr val="B8481A"/>
            </a:solidFill>
            <a:prstDash val="solid"/>
          </a:ln>
        </p:spPr>
      </p:sp>
      <p:sp>
        <p:nvSpPr>
          <p:cNvPr id="10" name="Text 7"/>
          <p:cNvSpPr/>
          <p:nvPr/>
        </p:nvSpPr>
        <p:spPr>
          <a:xfrm>
            <a:off x="4459167" y="4140932"/>
            <a:ext cx="3158578"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‫מה לא נכון להסיק‬</a:t>
            </a:r>
            <a:endParaRPr lang="en-US" sz="1400" dirty="0"/>
          </a:p>
        </p:txBody>
      </p:sp>
      <p:sp>
        <p:nvSpPr>
          <p:cNvPr id="11" name="Text 8"/>
          <p:cNvSpPr/>
          <p:nvPr/>
        </p:nvSpPr>
        <p:spPr>
          <a:xfrm>
            <a:off x="4459167" y="4422812"/>
            <a:ext cx="3158578"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‫שהקצב הגבוה הוא הטוב. הטוב ביותר היה בקצה הטווח, ועם יותר צעדים הקצב הטוב בדרך כלל יורד‬</a:t>
            </a:r>
            <a:endParaRPr lang="en-US" sz="1200" dirty="0"/>
          </a:p>
        </p:txBody>
      </p:sp>
      <p:sp>
        <p:nvSpPr>
          <p:cNvPr id="12" name="Shape 9"/>
          <p:cNvSpPr/>
          <p:nvPr/>
        </p:nvSpPr>
        <p:spPr>
          <a:xfrm>
            <a:off x="7940422" y="3983397"/>
            <a:ext cx="3432446" cy="1023775"/>
          </a:xfrm>
          <a:prstGeom prst="roundRect">
            <a:avLst>
              <a:gd name="adj" fmla="val 11785"/>
            </a:avLst>
          </a:prstGeom>
          <a:solidFill>
            <a:srgbClr val="E1EEEB"/>
          </a:solidFill>
          <a:ln w="12700">
            <a:solidFill>
              <a:srgbClr val="1F6F6F"/>
            </a:solidFill>
            <a:prstDash val="solid"/>
          </a:ln>
        </p:spPr>
      </p:sp>
      <p:sp>
        <p:nvSpPr>
          <p:cNvPr id="13" name="Text 10"/>
          <p:cNvSpPr/>
          <p:nvPr/>
        </p:nvSpPr>
        <p:spPr>
          <a:xfrm>
            <a:off x="8031405" y="4140932"/>
            <a:ext cx="315848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‫מה רואים‬</a:t>
            </a:r>
            <a:endParaRPr lang="en-US" sz="1400" dirty="0"/>
          </a:p>
        </p:txBody>
      </p:sp>
      <p:sp>
        <p:nvSpPr>
          <p:cNvPr id="14" name="Text 11"/>
          <p:cNvSpPr/>
          <p:nvPr/>
        </p:nvSpPr>
        <p:spPr>
          <a:xfrm>
            <a:off x="8031405" y="4422812"/>
            <a:ext cx="315848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‫ככל שהקצב גבוה יותר, ה-loss נמוך יותר. ב-20 צעדים בלבד, קצב גבוה מפצה על מיעוט הצעדים‬</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‫הערכה סטטיסטית‬</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‫איך יודעים שהשיפור אמיתי ולא מזל‬</a:t>
            </a:r>
            <a:endParaRPr lang="en-US" sz="3200" dirty="0"/>
          </a:p>
        </p:txBody>
      </p:sp>
      <p:sp>
        <p:nvSpPr>
          <p:cNvPr id="4" name="Shape 2"/>
          <p:cNvSpPr/>
          <p:nvPr/>
        </p:nvSpPr>
        <p:spPr>
          <a:xfrm>
            <a:off x="812782" y="1574775"/>
            <a:ext cx="2328213" cy="1733712"/>
          </a:xfrm>
          <a:prstGeom prst="roundRect">
            <a:avLst>
              <a:gd name="adj" fmla="val 7325"/>
            </a:avLst>
          </a:prstGeom>
          <a:solidFill>
            <a:srgbClr val="0F2233"/>
          </a:solidFill>
          <a:ln/>
        </p:spPr>
      </p:sp>
      <p:sp>
        <p:nvSpPr>
          <p:cNvPr id="5" name="Text 3"/>
          <p:cNvSpPr/>
          <p:nvPr/>
        </p:nvSpPr>
        <p:spPr>
          <a:xfrm>
            <a:off x="904422" y="1752563"/>
            <a:ext cx="2084227"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6FD0C4"/>
                </a:solidFill>
                <a:latin typeface="Arial" pitchFamily="34" charset="0"/>
                <a:ea typeface="Arial" pitchFamily="34" charset="-122"/>
                <a:cs typeface="Arial" pitchFamily="34" charset="-120"/>
              </a:rPr>
              <a:t>4</a:t>
            </a:r>
            <a:endParaRPr lang="en-US" sz="2800" dirty="0"/>
          </a:p>
        </p:txBody>
      </p:sp>
      <p:sp>
        <p:nvSpPr>
          <p:cNvPr id="6" name="Text 4"/>
          <p:cNvSpPr/>
          <p:nvPr/>
        </p:nvSpPr>
        <p:spPr>
          <a:xfrm>
            <a:off x="904422" y="2171626"/>
            <a:ext cx="2084227"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F6F4EE"/>
                </a:solidFill>
                <a:latin typeface="Arial" pitchFamily="34" charset="0"/>
                <a:ea typeface="Arial" pitchFamily="34" charset="-122"/>
                <a:cs typeface="Arial" pitchFamily="34" charset="-120"/>
              </a:rPr>
              <a:t>‫טווח לפער‬</a:t>
            </a:r>
            <a:endParaRPr lang="en-US" sz="1600" dirty="0"/>
          </a:p>
        </p:txBody>
      </p:sp>
      <p:sp>
        <p:nvSpPr>
          <p:cNvPr id="7" name="Text 5"/>
          <p:cNvSpPr/>
          <p:nvPr/>
        </p:nvSpPr>
        <p:spPr>
          <a:xfrm>
            <a:off x="904422" y="2478931"/>
            <a:ext cx="2084227"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‫מתקבל טווח ברמת ביטחון של 90%, חד-צדדי‬</a:t>
            </a:r>
            <a:endParaRPr lang="en-US" sz="1200" dirty="0"/>
          </a:p>
        </p:txBody>
      </p:sp>
      <p:pic>
        <p:nvPicPr>
          <p:cNvPr id="8" name="Image 0" descr="arrow-left">    </p:cNvPr>
          <p:cNvPicPr>
            <a:picLocks noChangeAspect="1"/>
          </p:cNvPicPr>
          <p:nvPr/>
        </p:nvPicPr>
        <p:blipFill>
          <a:blip r:embed="rId1"/>
          <a:srcRect l="-11" r="-11" t="0" b="0"/>
          <a:stretch/>
        </p:blipFill>
        <p:spPr>
          <a:xfrm>
            <a:off x="3217123" y="2359050"/>
            <a:ext cx="254000" cy="165064"/>
          </a:xfrm>
          <a:prstGeom prst="rect">
            <a:avLst/>
          </a:prstGeom>
        </p:spPr>
      </p:pic>
      <p:sp>
        <p:nvSpPr>
          <p:cNvPr id="9" name="Shape 6"/>
          <p:cNvSpPr/>
          <p:nvPr/>
        </p:nvSpPr>
        <p:spPr>
          <a:xfrm>
            <a:off x="3550426" y="1577950"/>
            <a:ext cx="2333499" cy="1727362"/>
          </a:xfrm>
          <a:prstGeom prst="roundRect">
            <a:avLst>
              <a:gd name="adj" fmla="val 7168"/>
            </a:avLst>
          </a:prstGeom>
          <a:solidFill>
            <a:srgbClr val="FFFDF8"/>
          </a:solidFill>
          <a:ln w="6350">
            <a:solidFill>
              <a:srgbClr val="E2DDD0"/>
            </a:solidFill>
            <a:prstDash val="solid"/>
          </a:ln>
        </p:spPr>
      </p:sp>
      <p:sp>
        <p:nvSpPr>
          <p:cNvPr id="10" name="Text 7"/>
          <p:cNvSpPr/>
          <p:nvPr/>
        </p:nvSpPr>
        <p:spPr>
          <a:xfrm>
            <a:off x="3644661" y="1758330"/>
            <a:ext cx="2084320"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3</a:t>
            </a:r>
            <a:endParaRPr lang="en-US" sz="2800" dirty="0"/>
          </a:p>
        </p:txBody>
      </p:sp>
      <p:sp>
        <p:nvSpPr>
          <p:cNvPr id="11" name="Text 8"/>
          <p:cNvSpPr/>
          <p:nvPr/>
        </p:nvSpPr>
        <p:spPr>
          <a:xfrm>
            <a:off x="3644661" y="2177393"/>
            <a:ext cx="2084320"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‫דגימה חוזרת‬</a:t>
            </a:r>
            <a:endParaRPr lang="en-US" sz="1600" dirty="0"/>
          </a:p>
        </p:txBody>
      </p:sp>
      <p:sp>
        <p:nvSpPr>
          <p:cNvPr id="12" name="Text 9"/>
          <p:cNvSpPr/>
          <p:nvPr/>
        </p:nvSpPr>
        <p:spPr>
          <a:xfrm>
            <a:off x="3644661" y="2484698"/>
            <a:ext cx="2084320"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‫2000 פעם דוגמים שיעורים שלמים עם החזרה (bootstrap)‬</a:t>
            </a:r>
            <a:endParaRPr lang="en-US" sz="1200" dirty="0"/>
          </a:p>
        </p:txBody>
      </p:sp>
      <p:pic>
        <p:nvPicPr>
          <p:cNvPr id="13" name="Image 1" descr="arrow-left">    </p:cNvPr>
          <p:cNvPicPr>
            <a:picLocks noChangeAspect="1"/>
          </p:cNvPicPr>
          <p:nvPr/>
        </p:nvPicPr>
        <p:blipFill>
          <a:blip r:embed="rId2"/>
          <a:srcRect l="-11" r="-11" t="0" b="0"/>
          <a:stretch/>
        </p:blipFill>
        <p:spPr>
          <a:xfrm>
            <a:off x="5963227" y="2359050"/>
            <a:ext cx="254000" cy="165064"/>
          </a:xfrm>
          <a:prstGeom prst="rect">
            <a:avLst/>
          </a:prstGeom>
        </p:spPr>
      </p:pic>
      <p:sp>
        <p:nvSpPr>
          <p:cNvPr id="14" name="Shape 10"/>
          <p:cNvSpPr/>
          <p:nvPr/>
        </p:nvSpPr>
        <p:spPr>
          <a:xfrm>
            <a:off x="6296530" y="1577950"/>
            <a:ext cx="2333408" cy="1727362"/>
          </a:xfrm>
          <a:prstGeom prst="roundRect">
            <a:avLst>
              <a:gd name="adj" fmla="val 7168"/>
            </a:avLst>
          </a:prstGeom>
          <a:solidFill>
            <a:srgbClr val="FFFDF8"/>
          </a:solidFill>
          <a:ln w="6350">
            <a:solidFill>
              <a:srgbClr val="E2DDD0"/>
            </a:solidFill>
            <a:prstDash val="solid"/>
          </a:ln>
        </p:spPr>
      </p:sp>
      <p:sp>
        <p:nvSpPr>
          <p:cNvPr id="15" name="Text 11"/>
          <p:cNvSpPr/>
          <p:nvPr/>
        </p:nvSpPr>
        <p:spPr>
          <a:xfrm>
            <a:off x="6390768" y="1758330"/>
            <a:ext cx="2084227"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2</a:t>
            </a:r>
            <a:endParaRPr lang="en-US" sz="2800" dirty="0"/>
          </a:p>
        </p:txBody>
      </p:sp>
      <p:sp>
        <p:nvSpPr>
          <p:cNvPr id="16" name="Text 12"/>
          <p:cNvSpPr/>
          <p:nvPr/>
        </p:nvSpPr>
        <p:spPr>
          <a:xfrm>
            <a:off x="6390768" y="2177393"/>
            <a:ext cx="2084227"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‫פער לכל שיעור‬</a:t>
            </a:r>
            <a:endParaRPr lang="en-US" sz="1600" dirty="0"/>
          </a:p>
        </p:txBody>
      </p:sp>
      <p:sp>
        <p:nvSpPr>
          <p:cNvPr id="17" name="Text 13"/>
          <p:cNvSpPr/>
          <p:nvPr/>
        </p:nvSpPr>
        <p:spPr>
          <a:xfrm>
            <a:off x="6390768" y="2484698"/>
            <a:ext cx="2084227"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‫מחשבים הפרש WER: בייסליין פחות מועמד. חיובי = המועמד טוב יותר‬</a:t>
            </a:r>
            <a:endParaRPr lang="en-US" sz="1200" dirty="0"/>
          </a:p>
        </p:txBody>
      </p:sp>
      <p:pic>
        <p:nvPicPr>
          <p:cNvPr id="18" name="Image 2" descr="arrow-left">    </p:cNvPr>
          <p:cNvPicPr>
            <a:picLocks noChangeAspect="1"/>
          </p:cNvPicPr>
          <p:nvPr/>
        </p:nvPicPr>
        <p:blipFill>
          <a:blip r:embed="rId3"/>
          <a:srcRect l="-11" r="-11" t="0" b="0"/>
          <a:stretch/>
        </p:blipFill>
        <p:spPr>
          <a:xfrm>
            <a:off x="8709241" y="2359050"/>
            <a:ext cx="254000" cy="165064"/>
          </a:xfrm>
          <a:prstGeom prst="rect">
            <a:avLst/>
          </a:prstGeom>
        </p:spPr>
      </p:pic>
      <p:sp>
        <p:nvSpPr>
          <p:cNvPr id="19" name="Shape 14"/>
          <p:cNvSpPr/>
          <p:nvPr/>
        </p:nvSpPr>
        <p:spPr>
          <a:xfrm>
            <a:off x="9042544" y="1577950"/>
            <a:ext cx="2333499" cy="1727362"/>
          </a:xfrm>
          <a:prstGeom prst="roundRect">
            <a:avLst>
              <a:gd name="adj" fmla="val 7168"/>
            </a:avLst>
          </a:prstGeom>
          <a:solidFill>
            <a:srgbClr val="FFFDF8"/>
          </a:solidFill>
          <a:ln w="6350">
            <a:solidFill>
              <a:srgbClr val="E2DDD0"/>
            </a:solidFill>
            <a:prstDash val="solid"/>
          </a:ln>
        </p:spPr>
      </p:sp>
      <p:sp>
        <p:nvSpPr>
          <p:cNvPr id="20" name="Text 15"/>
          <p:cNvSpPr/>
          <p:nvPr/>
        </p:nvSpPr>
        <p:spPr>
          <a:xfrm>
            <a:off x="9136779" y="1758330"/>
            <a:ext cx="2084320" cy="380964"/>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1F6F6F"/>
                </a:solidFill>
                <a:latin typeface="Arial" pitchFamily="34" charset="0"/>
                <a:ea typeface="Arial" pitchFamily="34" charset="-122"/>
                <a:cs typeface="Arial" pitchFamily="34" charset="-120"/>
              </a:rPr>
              <a:t>1</a:t>
            </a:r>
            <a:endParaRPr lang="en-US" sz="2800" dirty="0"/>
          </a:p>
        </p:txBody>
      </p:sp>
      <p:sp>
        <p:nvSpPr>
          <p:cNvPr id="21" name="Text 16"/>
          <p:cNvSpPr/>
          <p:nvPr/>
        </p:nvSpPr>
        <p:spPr>
          <a:xfrm>
            <a:off x="9136779" y="2177393"/>
            <a:ext cx="2084320"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‫אותם קטעים‬</a:t>
            </a:r>
            <a:endParaRPr lang="en-US" sz="1600" dirty="0"/>
          </a:p>
        </p:txBody>
      </p:sp>
      <p:sp>
        <p:nvSpPr>
          <p:cNvPr id="22" name="Text 17"/>
          <p:cNvSpPr/>
          <p:nvPr/>
        </p:nvSpPr>
        <p:spPr>
          <a:xfrm>
            <a:off x="9136779" y="2484698"/>
            <a:ext cx="2084320"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‫המודל המקורי והמועמד מתמללים את אותם קטעי Val בדיוק (paired)‬</a:t>
            </a:r>
            <a:endParaRPr lang="en-US" sz="1200" dirty="0"/>
          </a:p>
        </p:txBody>
      </p:sp>
      <p:sp>
        <p:nvSpPr>
          <p:cNvPr id="23" name="Text 18"/>
          <p:cNvSpPr/>
          <p:nvPr/>
        </p:nvSpPr>
        <p:spPr>
          <a:xfrm>
            <a:off x="495789" y="3486274"/>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C6670"/>
                </a:solidFill>
                <a:latin typeface="Arial" pitchFamily="34" charset="0"/>
                <a:ea typeface="Arial" pitchFamily="34" charset="-122"/>
                <a:cs typeface="Arial" pitchFamily="34" charset="-120"/>
              </a:rPr>
              <a:t>‫שלוש תוצאות אפשריות‬</a:t>
            </a:r>
            <a:endParaRPr lang="en-US" sz="1200" dirty="0"/>
          </a:p>
        </p:txBody>
      </p:sp>
      <p:sp>
        <p:nvSpPr>
          <p:cNvPr id="24" name="Shape 19"/>
          <p:cNvSpPr/>
          <p:nvPr/>
        </p:nvSpPr>
        <p:spPr>
          <a:xfrm>
            <a:off x="819132" y="3883819"/>
            <a:ext cx="3407821" cy="910576"/>
          </a:xfrm>
          <a:prstGeom prst="roundRect">
            <a:avLst>
              <a:gd name="adj" fmla="val 13250"/>
            </a:avLst>
          </a:prstGeom>
          <a:solidFill>
            <a:srgbClr val="F6E3D8"/>
          </a:solidFill>
          <a:ln w="12700">
            <a:solidFill>
              <a:srgbClr val="B8481A"/>
            </a:solidFill>
            <a:prstDash val="solid"/>
          </a:ln>
        </p:spPr>
      </p:sp>
      <p:sp>
        <p:nvSpPr>
          <p:cNvPr id="25" name="Text 20"/>
          <p:cNvSpPr/>
          <p:nvPr/>
        </p:nvSpPr>
        <p:spPr>
          <a:xfrm>
            <a:off x="910853" y="4041353"/>
            <a:ext cx="3133122"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B8481A"/>
                </a:solidFill>
                <a:latin typeface="Arial" pitchFamily="34" charset="0"/>
                <a:ea typeface="Arial" pitchFamily="34" charset="-122"/>
                <a:cs typeface="Arial" pitchFamily="34" charset="-120"/>
              </a:rPr>
              <a:t>‫הורע‬</a:t>
            </a:r>
            <a:endParaRPr lang="en-US" sz="2000" dirty="0"/>
          </a:p>
        </p:txBody>
      </p:sp>
      <p:sp>
        <p:nvSpPr>
          <p:cNvPr id="26" name="Text 21"/>
          <p:cNvSpPr/>
          <p:nvPr/>
        </p:nvSpPr>
        <p:spPr>
          <a:xfrm>
            <a:off x="910853" y="4396916"/>
            <a:ext cx="3133122"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0F2233"/>
                </a:solidFill>
                <a:latin typeface="Arial" pitchFamily="34" charset="0"/>
                <a:ea typeface="Arial" pitchFamily="34" charset="-122"/>
                <a:cs typeface="Arial" pitchFamily="34" charset="-120"/>
              </a:rPr>
              <a:t>‫כל הטווח מתחת לאפס‬</a:t>
            </a:r>
            <a:endParaRPr lang="en-US" sz="1400" dirty="0"/>
          </a:p>
        </p:txBody>
      </p:sp>
      <p:sp>
        <p:nvSpPr>
          <p:cNvPr id="27" name="Shape 22"/>
          <p:cNvSpPr/>
          <p:nvPr/>
        </p:nvSpPr>
        <p:spPr>
          <a:xfrm>
            <a:off x="4391999" y="3883819"/>
            <a:ext cx="3407911" cy="910576"/>
          </a:xfrm>
          <a:prstGeom prst="roundRect">
            <a:avLst>
              <a:gd name="adj" fmla="val 13250"/>
            </a:avLst>
          </a:prstGeom>
          <a:solidFill>
            <a:srgbClr val="EFEBDF"/>
          </a:solidFill>
          <a:ln w="12700">
            <a:solidFill>
              <a:srgbClr val="5C6670"/>
            </a:solidFill>
            <a:prstDash val="solid"/>
          </a:ln>
        </p:spPr>
      </p:sp>
      <p:sp>
        <p:nvSpPr>
          <p:cNvPr id="28" name="Text 23"/>
          <p:cNvSpPr/>
          <p:nvPr/>
        </p:nvSpPr>
        <p:spPr>
          <a:xfrm>
            <a:off x="4483718" y="4041353"/>
            <a:ext cx="3133215"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46525C"/>
                </a:solidFill>
                <a:latin typeface="Arial" pitchFamily="34" charset="0"/>
                <a:ea typeface="Arial" pitchFamily="34" charset="-122"/>
                <a:cs typeface="Arial" pitchFamily="34" charset="-120"/>
              </a:rPr>
              <a:t>‫אין הבדל ברור‬</a:t>
            </a:r>
            <a:endParaRPr lang="en-US" sz="2000" dirty="0"/>
          </a:p>
        </p:txBody>
      </p:sp>
      <p:sp>
        <p:nvSpPr>
          <p:cNvPr id="29" name="Text 24"/>
          <p:cNvSpPr/>
          <p:nvPr/>
        </p:nvSpPr>
        <p:spPr>
          <a:xfrm>
            <a:off x="4483718" y="4396916"/>
            <a:ext cx="3133215"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0F2233"/>
                </a:solidFill>
                <a:latin typeface="Arial" pitchFamily="34" charset="0"/>
                <a:ea typeface="Arial" pitchFamily="34" charset="-122"/>
                <a:cs typeface="Arial" pitchFamily="34" charset="-120"/>
              </a:rPr>
              <a:t>‫הטווח חוצה את האפס‬</a:t>
            </a:r>
            <a:endParaRPr lang="en-US" sz="1400" dirty="0"/>
          </a:p>
        </p:txBody>
      </p:sp>
      <p:sp>
        <p:nvSpPr>
          <p:cNvPr id="30" name="Shape 25"/>
          <p:cNvSpPr/>
          <p:nvPr/>
        </p:nvSpPr>
        <p:spPr>
          <a:xfrm>
            <a:off x="7964956" y="3883819"/>
            <a:ext cx="3407911" cy="910576"/>
          </a:xfrm>
          <a:prstGeom prst="roundRect">
            <a:avLst>
              <a:gd name="adj" fmla="val 13250"/>
            </a:avLst>
          </a:prstGeom>
          <a:solidFill>
            <a:srgbClr val="E1EEEB"/>
          </a:solidFill>
          <a:ln w="12700">
            <a:solidFill>
              <a:srgbClr val="1F6F6F"/>
            </a:solidFill>
            <a:prstDash val="solid"/>
          </a:ln>
        </p:spPr>
      </p:sp>
      <p:sp>
        <p:nvSpPr>
          <p:cNvPr id="31" name="Text 26"/>
          <p:cNvSpPr/>
          <p:nvPr/>
        </p:nvSpPr>
        <p:spPr>
          <a:xfrm>
            <a:off x="8056675" y="4041353"/>
            <a:ext cx="3133215"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1F6F6F"/>
                </a:solidFill>
                <a:latin typeface="Arial" pitchFamily="34" charset="0"/>
                <a:ea typeface="Arial" pitchFamily="34" charset="-122"/>
                <a:cs typeface="Arial" pitchFamily="34" charset="-120"/>
              </a:rPr>
              <a:t>‫השתפר‬</a:t>
            </a:r>
            <a:endParaRPr lang="en-US" sz="2000" dirty="0"/>
          </a:p>
        </p:txBody>
      </p:sp>
      <p:sp>
        <p:nvSpPr>
          <p:cNvPr id="32" name="Text 27"/>
          <p:cNvSpPr/>
          <p:nvPr/>
        </p:nvSpPr>
        <p:spPr>
          <a:xfrm>
            <a:off x="8056675" y="4396916"/>
            <a:ext cx="3133215" cy="265329"/>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0F2233"/>
                </a:solidFill>
                <a:latin typeface="Arial" pitchFamily="34" charset="0"/>
                <a:ea typeface="Arial" pitchFamily="34" charset="-122"/>
                <a:cs typeface="Arial" pitchFamily="34" charset="-120"/>
              </a:rPr>
              <a:t>‫כל הטווח מעל אפס‬</a:t>
            </a:r>
            <a:endParaRPr lang="en-US" sz="1400" dirty="0"/>
          </a:p>
        </p:txBody>
      </p:sp>
      <p:sp>
        <p:nvSpPr>
          <p:cNvPr id="33" name="Text 28"/>
          <p:cNvSpPr/>
          <p:nvPr/>
        </p:nvSpPr>
        <p:spPr>
          <a:xfrm>
            <a:off x="815957" y="4981699"/>
            <a:ext cx="10560086" cy="686016"/>
          </a:xfrm>
          <a:prstGeom prst="roundRect">
            <a:avLst>
              <a:gd name="adj" fmla="val 14347"/>
            </a:avLst>
          </a:prstGeom>
          <a:solidFill>
            <a:srgbClr val="FFFDF8"/>
          </a:solidFill>
          <a:ln w="6350">
            <a:solidFill>
              <a:srgbClr val="E2DDD0"/>
            </a:solidFill>
            <a:prstDash val="solid"/>
          </a:ln>
        </p:spPr>
        <p:txBody>
          <a:bodyPr wrap="square" lIns="0"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‫דגימת שיעורים שלמים ולא קטעים בודדים מונעת הערכת יתר. עם פחות מ-5 קבוצות, המערכת חוזרת להפרש הפשוט ואומרת זאת בדוח. אותו כלל משמש גם את הבורר ואת learning-curve‬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4 · select_and_register‬</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‫ההחלטה: מנצח, או שהמקורי נשאר‬</a:t>
            </a:r>
            <a:endParaRPr lang="en-US" sz="3200" dirty="0"/>
          </a:p>
        </p:txBody>
      </p:sp>
      <p:sp>
        <p:nvSpPr>
          <p:cNvPr id="4" name="Text 2"/>
          <p:cNvSpPr/>
          <p:nvPr/>
        </p:nvSpPr>
        <p:spPr>
          <a:xfrm>
            <a:off x="9347127" y="3098775"/>
            <a:ext cx="2032000" cy="782205"/>
          </a:xfrm>
          <a:prstGeom prst="roundRect">
            <a:avLst>
              <a:gd name="adj" fmla="val 16236"/>
            </a:avLst>
          </a:prstGeom>
          <a:solidFill>
            <a:srgbClr val="0F2233"/>
          </a:solidFill>
          <a:ln/>
        </p:spPr>
        <p:txBody>
          <a:bodyPr wrap="square" lIns="63133" tIns="89803" rIns="63133" bIns="64403" rtlCol="0" anchor="t">
            <a:normAutofit/>
          </a:bodyPr>
          <a:lstStyle/>
          <a:p>
            <a:pPr algn="ctr" indent="0" marL="0">
              <a:lnSpc>
                <a:spcPts val="2080"/>
              </a:lnSpc>
              <a:buNone/>
            </a:pPr>
            <a:r>
              <a:rPr lang="en-US" sz="1600" b="1" dirty="0">
                <a:solidFill>
                  <a:srgbClr val="F6F4EE"/>
                </a:solidFill>
                <a:latin typeface="Arial" pitchFamily="34" charset="0"/>
                <a:ea typeface="Arial" pitchFamily="34" charset="-122"/>
                <a:cs typeface="Arial" pitchFamily="34" charset="-120"/>
              </a:rPr>
              <a:t>‫גמר: שני המועמדים מול הבייסליין, על Val‬</a:t>
            </a:r>
            <a:endParaRPr lang="en-US" sz="1600" dirty="0"/>
          </a:p>
        </p:txBody>
      </p:sp>
      <p:sp>
        <p:nvSpPr>
          <p:cNvPr id="5" name="Text 3"/>
          <p:cNvSpPr/>
          <p:nvPr/>
        </p:nvSpPr>
        <p:spPr>
          <a:xfrm>
            <a:off x="6613434" y="3108300"/>
            <a:ext cx="2012950" cy="1036457"/>
          </a:xfrm>
          <a:prstGeom prst="roundRect">
            <a:avLst>
              <a:gd name="adj" fmla="val 11334"/>
            </a:avLst>
          </a:prstGeom>
          <a:solidFill>
            <a:srgbClr val="FFFDF8"/>
          </a:solidFill>
          <a:ln w="19050">
            <a:solidFill>
              <a:srgbClr val="B8481A"/>
            </a:solidFill>
            <a:prstDash val="solid"/>
          </a:ln>
        </p:spPr>
        <p:txBody>
          <a:bodyPr wrap="square" lIns="61154" tIns="87686" rIns="61154" bIns="62286" rtlCol="0" anchor="t">
            <a:normAutofit/>
          </a:bodyPr>
          <a:lstStyle/>
          <a:p>
            <a:pPr algn="ctr" indent="0" marL="0">
              <a:lnSpc>
                <a:spcPts val="2080"/>
              </a:lnSpc>
              <a:buNone/>
            </a:pPr>
            <a:r>
              <a:rPr lang="en-US" sz="1600" b="1" dirty="0">
                <a:solidFill>
                  <a:srgbClr val="0F2233"/>
                </a:solidFill>
                <a:latin typeface="Arial" pitchFamily="34" charset="0"/>
                <a:ea typeface="Arial" pitchFamily="34" charset="-122"/>
                <a:cs typeface="Arial" pitchFamily="34" charset="-120"/>
              </a:rPr>
              <a:t>‫האם כל הטווח מעל אפס, ברמת ביטחון 90%?‬</a:t>
            </a:r>
            <a:endParaRPr lang="en-US" sz="1600" dirty="0"/>
          </a:p>
        </p:txBody>
      </p:sp>
      <p:sp>
        <p:nvSpPr>
          <p:cNvPr id="6" name="Text 4"/>
          <p:cNvSpPr/>
          <p:nvPr/>
        </p:nvSpPr>
        <p:spPr>
          <a:xfrm>
            <a:off x="3860782" y="1828775"/>
            <a:ext cx="2032000" cy="518102"/>
          </a:xfrm>
          <a:prstGeom prst="roundRect">
            <a:avLst>
              <a:gd name="adj" fmla="val 24513"/>
            </a:avLst>
          </a:prstGeom>
          <a:solidFill>
            <a:srgbClr val="1F6F6F"/>
          </a:solidFill>
          <a:ln/>
        </p:spPr>
        <p:txBody>
          <a:bodyPr wrap="square" lIns="63133" tIns="89803" rIns="63133" bIns="64403" rtlCol="0" anchor="t">
            <a:normAutofit/>
          </a:bodyPr>
          <a:lstStyle/>
          <a:p>
            <a:pPr algn="ctr" indent="0" marL="0">
              <a:lnSpc>
                <a:spcPts val="2080"/>
              </a:lnSpc>
              <a:buNone/>
            </a:pPr>
            <a:r>
              <a:rPr lang="en-US" sz="1600" b="1" dirty="0">
                <a:solidFill>
                  <a:srgbClr val="FFFDF8"/>
                </a:solidFill>
                <a:latin typeface="Arial" pitchFamily="34" charset="0"/>
                <a:ea typeface="Arial" pitchFamily="34" charset="-122"/>
                <a:cs typeface="Arial" pitchFamily="34" charset="-120"/>
              </a:rPr>
              <a:t>‫יש מנצח‬</a:t>
            </a:r>
            <a:endParaRPr lang="en-US" sz="1600" dirty="0"/>
          </a:p>
        </p:txBody>
      </p:sp>
      <p:sp>
        <p:nvSpPr>
          <p:cNvPr id="7" name="Text 5"/>
          <p:cNvSpPr/>
          <p:nvPr/>
        </p:nvSpPr>
        <p:spPr>
          <a:xfrm>
            <a:off x="3870307" y="4505300"/>
            <a:ext cx="2012950" cy="772355"/>
          </a:xfrm>
          <a:prstGeom prst="roundRect">
            <a:avLst>
              <a:gd name="adj" fmla="val 15210"/>
            </a:avLst>
          </a:prstGeom>
          <a:solidFill>
            <a:srgbClr val="F6E3D8"/>
          </a:solidFill>
          <a:ln w="19050">
            <a:solidFill>
              <a:srgbClr val="B8481A"/>
            </a:solidFill>
            <a:prstDash val="solid"/>
          </a:ln>
        </p:spPr>
        <p:txBody>
          <a:bodyPr wrap="square" lIns="61154" tIns="87686" rIns="61154" bIns="62286" rtlCol="0" anchor="t">
            <a:normAutofit/>
          </a:bodyPr>
          <a:lstStyle/>
          <a:p>
            <a:pPr algn="ctr" indent="0" marL="0">
              <a:lnSpc>
                <a:spcPts val="2080"/>
              </a:lnSpc>
              <a:buNone/>
            </a:pPr>
            <a:r>
              <a:rPr lang="en-US" sz="1600" b="1" dirty="0">
                <a:solidFill>
                  <a:srgbClr val="0F2233"/>
                </a:solidFill>
                <a:latin typeface="Arial" pitchFamily="34" charset="0"/>
                <a:ea typeface="Arial" pitchFamily="34" charset="-122"/>
                <a:cs typeface="Arial" pitchFamily="34" charset="-120"/>
              </a:rPr>
              <a:t>‫הבייסליין נשאר. תוצאה לגיטימית‬</a:t>
            </a:r>
            <a:endParaRPr lang="en-US" sz="1600" dirty="0"/>
          </a:p>
        </p:txBody>
      </p:sp>
      <p:sp>
        <p:nvSpPr>
          <p:cNvPr id="8" name="Text 6"/>
          <p:cNvSpPr/>
          <p:nvPr/>
        </p:nvSpPr>
        <p:spPr>
          <a:xfrm>
            <a:off x="812782" y="1828775"/>
            <a:ext cx="2413000" cy="782205"/>
          </a:xfrm>
          <a:prstGeom prst="roundRect">
            <a:avLst>
              <a:gd name="adj" fmla="val 16236"/>
            </a:avLst>
          </a:prstGeom>
          <a:solidFill>
            <a:srgbClr val="0F2233"/>
          </a:solidFill>
          <a:ln/>
        </p:spPr>
        <p:txBody>
          <a:bodyPr wrap="square" lIns="57418" tIns="89803" rIns="57418" bIns="64403" rtlCol="0" anchor="t">
            <a:normAutofit/>
          </a:bodyPr>
          <a:lstStyle/>
          <a:p>
            <a:pPr algn="ctr" indent="0" marL="0">
              <a:lnSpc>
                <a:spcPts val="2080"/>
              </a:lnSpc>
              <a:buNone/>
            </a:pPr>
            <a:r>
              <a:rPr lang="en-US" sz="1600" b="1" dirty="0">
                <a:solidFill>
                  <a:srgbClr val="F6F4EE"/>
                </a:solidFill>
                <a:latin typeface="Arial" pitchFamily="34" charset="0"/>
                <a:ea typeface="Arial" pitchFamily="34" charset="-122"/>
                <a:cs typeface="Arial" pitchFamily="34" charset="-120"/>
              </a:rPr>
              <a:t>‫Test פעם אחת בלבד, למנצח‬</a:t>
            </a:r>
            <a:endParaRPr lang="en-US" sz="1600" dirty="0"/>
          </a:p>
        </p:txBody>
      </p:sp>
      <p:sp>
        <p:nvSpPr>
          <p:cNvPr id="9" name="Text 7"/>
          <p:cNvSpPr/>
          <p:nvPr/>
        </p:nvSpPr>
        <p:spPr>
          <a:xfrm>
            <a:off x="822307" y="3108300"/>
            <a:ext cx="2393950" cy="772355"/>
          </a:xfrm>
          <a:prstGeom prst="roundRect">
            <a:avLst>
              <a:gd name="adj" fmla="val 15210"/>
            </a:avLst>
          </a:prstGeom>
          <a:solidFill>
            <a:srgbClr val="E1EEEB"/>
          </a:solidFill>
          <a:ln w="19050">
            <a:solidFill>
              <a:srgbClr val="1F6F6F"/>
            </a:solidFill>
            <a:prstDash val="solid"/>
          </a:ln>
        </p:spPr>
        <p:txBody>
          <a:bodyPr wrap="square" lIns="55439" tIns="87686" rIns="55439" bIns="62286" rtlCol="0" anchor="t">
            <a:normAutofit/>
          </a:bodyPr>
          <a:lstStyle/>
          <a:p>
            <a:pPr algn="ctr" indent="0" marL="0">
              <a:lnSpc>
                <a:spcPts val="2080"/>
              </a:lnSpc>
              <a:buNone/>
            </a:pPr>
            <a:r>
              <a:rPr lang="en-US" sz="1600" b="1" dirty="0">
                <a:solidFill>
                  <a:srgbClr val="0F2233"/>
                </a:solidFill>
                <a:latin typeface="Arial" pitchFamily="34" charset="0"/>
                <a:ea typeface="Arial" pitchFamily="34" charset="-122"/>
                <a:cs typeface="Arial" pitchFamily="34" charset="-120"/>
              </a:rPr>
              <a:t>‫רישום ב-registry, ייצוא ובדיקת טעינה‬</a:t>
            </a:r>
            <a:endParaRPr lang="en-US" sz="1600" dirty="0"/>
          </a:p>
        </p:txBody>
      </p:sp>
      <p:pic>
        <p:nvPicPr>
          <p:cNvPr id="10" name="Image 0" descr="connector">    </p:cNvPr>
          <p:cNvPicPr>
            <a:picLocks noChangeAspect="1"/>
          </p:cNvPicPr>
          <p:nvPr/>
        </p:nvPicPr>
        <p:blipFill>
          <a:blip r:embed="rId1"/>
          <a:srcRect l="0" r="0" t="-4" b="-4"/>
          <a:stretch/>
        </p:blipFill>
        <p:spPr>
          <a:xfrm>
            <a:off x="8572409" y="3543275"/>
            <a:ext cx="838128" cy="127000"/>
          </a:xfrm>
          <a:prstGeom prst="rect">
            <a:avLst/>
          </a:prstGeom>
        </p:spPr>
      </p:pic>
      <p:pic>
        <p:nvPicPr>
          <p:cNvPr id="11" name="Image 1" descr="connector">    </p:cNvPr>
          <p:cNvPicPr>
            <a:picLocks noChangeAspect="1"/>
          </p:cNvPicPr>
          <p:nvPr/>
        </p:nvPicPr>
        <p:blipFill>
          <a:blip r:embed="rId2"/>
          <a:srcRect l="0" r="0" t="-2" b="-2"/>
          <a:stretch/>
        </p:blipFill>
        <p:spPr>
          <a:xfrm>
            <a:off x="4813282" y="2654275"/>
            <a:ext cx="1854128" cy="1016000"/>
          </a:xfrm>
          <a:prstGeom prst="rect">
            <a:avLst/>
          </a:prstGeom>
        </p:spPr>
      </p:pic>
      <p:pic>
        <p:nvPicPr>
          <p:cNvPr id="12" name="Image 2" descr="connector">    </p:cNvPr>
          <p:cNvPicPr>
            <a:picLocks noChangeAspect="1"/>
          </p:cNvPicPr>
          <p:nvPr/>
        </p:nvPicPr>
        <p:blipFill>
          <a:blip r:embed="rId3"/>
          <a:srcRect l="0" r="0" t="-2" b="-2"/>
          <a:stretch/>
        </p:blipFill>
        <p:spPr>
          <a:xfrm>
            <a:off x="5829282" y="4051275"/>
            <a:ext cx="1854128" cy="952500"/>
          </a:xfrm>
          <a:prstGeom prst="rect">
            <a:avLst/>
          </a:prstGeom>
        </p:spPr>
      </p:pic>
      <p:pic>
        <p:nvPicPr>
          <p:cNvPr id="13" name="Image 3" descr="connector">    </p:cNvPr>
          <p:cNvPicPr>
            <a:picLocks noChangeAspect="1"/>
          </p:cNvPicPr>
          <p:nvPr/>
        </p:nvPicPr>
        <p:blipFill>
          <a:blip r:embed="rId4"/>
          <a:srcRect l="0" r="0" t="0" b="0"/>
          <a:stretch/>
        </p:blipFill>
        <p:spPr>
          <a:xfrm>
            <a:off x="3162282" y="2209775"/>
            <a:ext cx="762000" cy="127000"/>
          </a:xfrm>
          <a:prstGeom prst="rect">
            <a:avLst/>
          </a:prstGeom>
        </p:spPr>
      </p:pic>
      <p:pic>
        <p:nvPicPr>
          <p:cNvPr id="14" name="Image 4" descr="connector">    </p:cNvPr>
          <p:cNvPicPr>
            <a:picLocks noChangeAspect="1"/>
          </p:cNvPicPr>
          <p:nvPr/>
        </p:nvPicPr>
        <p:blipFill>
          <a:blip r:embed="rId5"/>
          <a:srcRect l="0" r="0" t="0" b="0"/>
          <a:stretch/>
        </p:blipFill>
        <p:spPr>
          <a:xfrm>
            <a:off x="1955782" y="2654275"/>
            <a:ext cx="127000" cy="508000"/>
          </a:xfrm>
          <a:prstGeom prst="rect">
            <a:avLst/>
          </a:prstGeom>
        </p:spPr>
      </p:pic>
      <p:sp>
        <p:nvSpPr>
          <p:cNvPr id="15" name="Text 8"/>
          <p:cNvSpPr/>
          <p:nvPr/>
        </p:nvSpPr>
        <p:spPr>
          <a:xfrm>
            <a:off x="5803882" y="3301901"/>
            <a:ext cx="622300"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F6F6F"/>
                </a:solidFill>
                <a:latin typeface="Arial" pitchFamily="34" charset="0"/>
                <a:ea typeface="Arial" pitchFamily="34" charset="-122"/>
                <a:cs typeface="Arial" pitchFamily="34" charset="-120"/>
              </a:rPr>
              <a:t>‫כן‬</a:t>
            </a:r>
            <a:endParaRPr lang="en-US" sz="1400" dirty="0"/>
          </a:p>
        </p:txBody>
      </p:sp>
      <p:sp>
        <p:nvSpPr>
          <p:cNvPr id="16" name="Text 9"/>
          <p:cNvSpPr/>
          <p:nvPr/>
        </p:nvSpPr>
        <p:spPr>
          <a:xfrm>
            <a:off x="7721509" y="4317901"/>
            <a:ext cx="622300"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B8481A"/>
                </a:solidFill>
                <a:latin typeface="Arial" pitchFamily="34" charset="0"/>
                <a:ea typeface="Arial" pitchFamily="34" charset="-122"/>
                <a:cs typeface="Arial" pitchFamily="34" charset="-120"/>
              </a:rPr>
              <a:t>‫לא‬</a:t>
            </a:r>
            <a:endParaRPr lang="en-US" sz="1400" dirty="0"/>
          </a:p>
        </p:txBody>
      </p:sp>
      <p:sp>
        <p:nvSpPr>
          <p:cNvPr id="17" name="Text 10"/>
          <p:cNvSpPr/>
          <p:nvPr/>
        </p:nvSpPr>
        <p:spPr>
          <a:xfrm>
            <a:off x="815957" y="5565738"/>
            <a:ext cx="10560086" cy="472606"/>
          </a:xfrm>
          <a:prstGeom prst="roundRect">
            <a:avLst>
              <a:gd name="adj" fmla="val 20826"/>
            </a:avLst>
          </a:prstGeom>
          <a:solidFill>
            <a:srgbClr val="FFFDF8"/>
          </a:solidFill>
          <a:ln w="6350">
            <a:solidFill>
              <a:srgbClr val="E2DDD0"/>
            </a:solidFill>
            <a:prstDash val="solid"/>
          </a:ln>
        </p:spPr>
        <p:txBody>
          <a:bodyPr wrap="square" lIns="0"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‫ה-Test לעולם לא משמש לבחירה בין מועמדים. הוא נבדק פעם אחת, נשמר בקובץ, ואם הוא לא מאשר את המנצח זה מסומן בדוח. קוד היציאה הוא 0 גם כשהבייסליין נשאר‬</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‫למה כך‬</a:t>
            </a:r>
            <a:endParaRPr lang="en-US" sz="1200" dirty="0"/>
          </a:p>
        </p:txBody>
      </p:sp>
      <p:sp>
        <p:nvSpPr>
          <p:cNvPr id="3" name="Text 1"/>
          <p:cNvSpPr/>
          <p:nvPr>
            <p:ph type="title"/>
          </p:nvPr>
        </p:nvSpPr>
        <p:spPr>
          <a:xfrm>
            <a:off x="495789" y="924533"/>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‫מי המודל הכי טוב: ארבעה כללים לפי הסדר‬</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535446"/>
          <a:ext cx="10554890" cy="1923491"/>
        </p:xfrm>
        <a:graphic>
          <a:graphicData uri="http://schemas.openxmlformats.org/drawingml/2006/table">
            <a:tbl>
              <a:tblPr/>
              <a:tblGrid>
                <a:gridCol w="3377565"/>
                <a:gridCol w="6121836"/>
                <a:gridCol w="1055489"/>
              </a:tblGrid>
              <a:tr h="384698">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‫למה‬</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‫הכלל‬</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960"/>
                        </a:lnSpc>
                        <a:buNone/>
                      </a:pPr>
                      <a:r>
                        <a:rPr lang="en-US" sz="1400" b="1" dirty="0">
                          <a:solidFill>
                            <a:srgbClr val="F6F4EE"/>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‫לא בוחרים מזל‬</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‫כשר רק מי ששיפר את המקורי בצורה מוכחת (90%, לפי קבוצות)‬</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‫זה המדד שמעניין אותנו‬</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‫מבין הכשרים, Val WER הנמוך ביותר‬</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‫הפרש כזה הוא רעש‬</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‫הפרש של עד 0.001 הוא תיקו, ומכריע Val loss נמוך‬</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‫לא מכוונים אל המבחן‬</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‫Test פעם אחת, למנצח ולמקורי בלבד‬</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5" name="Shape 2"/>
          <p:cNvSpPr/>
          <p:nvPr/>
        </p:nvSpPr>
        <p:spPr>
          <a:xfrm>
            <a:off x="819132" y="3617640"/>
            <a:ext cx="5207018" cy="784929"/>
          </a:xfrm>
          <a:prstGeom prst="roundRect">
            <a:avLst>
              <a:gd name="adj" fmla="val 15371"/>
            </a:avLst>
          </a:prstGeom>
          <a:solidFill>
            <a:srgbClr val="F6E3D8"/>
          </a:solidFill>
          <a:ln w="12700">
            <a:solidFill>
              <a:srgbClr val="B8481A"/>
            </a:solidFill>
            <a:prstDash val="solid"/>
          </a:ln>
        </p:spPr>
      </p:sp>
      <p:sp>
        <p:nvSpPr>
          <p:cNvPr id="6" name="Text 3"/>
          <p:cNvSpPr/>
          <p:nvPr/>
        </p:nvSpPr>
        <p:spPr>
          <a:xfrm>
            <a:off x="856877" y="3762462"/>
            <a:ext cx="49862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‫אם אין כשר‬</a:t>
            </a:r>
            <a:endParaRPr lang="en-US" sz="1400" dirty="0"/>
          </a:p>
        </p:txBody>
      </p:sp>
      <p:sp>
        <p:nvSpPr>
          <p:cNvPr id="7" name="Text 4"/>
          <p:cNvSpPr/>
          <p:nvPr/>
        </p:nvSpPr>
        <p:spPr>
          <a:xfrm>
            <a:off x="856877" y="4044330"/>
            <a:ext cx="498629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‫המקורי נשאר וה-Test לא נפתח. זו תוצאה תקינה‬</a:t>
            </a:r>
            <a:endParaRPr lang="en-US" sz="1200" dirty="0"/>
          </a:p>
        </p:txBody>
      </p:sp>
      <p:sp>
        <p:nvSpPr>
          <p:cNvPr id="8" name="Shape 5"/>
          <p:cNvSpPr/>
          <p:nvPr/>
        </p:nvSpPr>
        <p:spPr>
          <a:xfrm>
            <a:off x="6165850" y="3617640"/>
            <a:ext cx="5207018" cy="784929"/>
          </a:xfrm>
          <a:prstGeom prst="roundRect">
            <a:avLst>
              <a:gd name="adj" fmla="val 15371"/>
            </a:avLst>
          </a:prstGeom>
          <a:solidFill>
            <a:srgbClr val="E1EEEB"/>
          </a:solidFill>
          <a:ln w="12700">
            <a:solidFill>
              <a:srgbClr val="1F6F6F"/>
            </a:solidFill>
            <a:prstDash val="solid"/>
          </a:ln>
        </p:spPr>
      </p:sp>
      <p:sp>
        <p:nvSpPr>
          <p:cNvPr id="9" name="Text 6"/>
          <p:cNvSpPr/>
          <p:nvPr/>
        </p:nvSpPr>
        <p:spPr>
          <a:xfrm>
            <a:off x="6203595" y="3762462"/>
            <a:ext cx="49862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‫בריצת ההדמיה‬</a:t>
            </a:r>
            <a:endParaRPr lang="en-US" sz="1400" dirty="0"/>
          </a:p>
        </p:txBody>
      </p:sp>
      <p:sp>
        <p:nvSpPr>
          <p:cNvPr id="10" name="Text 7"/>
          <p:cNvSpPr/>
          <p:nvPr/>
        </p:nvSpPr>
        <p:spPr>
          <a:xfrm>
            <a:off x="6203595" y="4044330"/>
            <a:ext cx="498629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‫ניסוי 2: Val WER 1.0279 מול 1.1318. אושר ב-Test: 1.0599 מול 1.1728‬</a:t>
            </a:r>
            <a:endParaRPr lang="en-US" sz="1200" dirty="0"/>
          </a:p>
        </p:txBody>
      </p:sp>
      <p:sp>
        <p:nvSpPr>
          <p:cNvPr id="11" name="Text 8"/>
          <p:cNvSpPr/>
          <p:nvPr/>
        </p:nvSpPr>
        <p:spPr>
          <a:xfrm>
            <a:off x="812782" y="4561260"/>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‫המנצח הוא הטוב ביותר מבין מה שנוסה, לא הטוב ביותר האפשרי‬</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‫מה יוצא‬</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‫הפלט: מה מקבלים ואיפה‬</a:t>
            </a:r>
            <a:endParaRPr lang="en-US" sz="3200" dirty="0"/>
          </a:p>
        </p:txBody>
      </p:sp>
      <p:sp>
        <p:nvSpPr>
          <p:cNvPr id="4" name="Text 2"/>
          <p:cNvSpPr/>
          <p:nvPr/>
        </p:nvSpPr>
        <p:spPr>
          <a:xfrm>
            <a:off x="495789" y="1574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670"/>
                </a:solidFill>
                <a:latin typeface="Arial" pitchFamily="34" charset="0"/>
                <a:ea typeface="Arial" pitchFamily="34" charset="-122"/>
                <a:cs typeface="Arial" pitchFamily="34" charset="-120"/>
              </a:rPr>
              <a:t>‫exp_NNNN הוא תיקיית הניסוי experiments\exp_NNNN, ו-model_NNNN הוא הרישום registry\model_NNNN‬</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27" y="1977515"/>
          <a:ext cx="10554890" cy="2692887"/>
        </p:xfrm>
        <a:graphic>
          <a:graphicData uri="http://schemas.openxmlformats.org/drawingml/2006/table">
            <a:tbl>
              <a:tblPr/>
              <a:tblGrid>
                <a:gridCol w="4221956"/>
                <a:gridCol w="4221956"/>
                <a:gridCol w="2110978"/>
              </a:tblGrid>
              <a:tr h="384698">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‫מה זה‬</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960"/>
                        </a:lnSpc>
                        <a:buNone/>
                      </a:pPr>
                      <a:r>
                        <a:rPr lang="en-US" sz="1400" b="1" dirty="0">
                          <a:solidFill>
                            <a:srgbClr val="F6F4EE"/>
                          </a:solidFill>
                          <a:latin typeface="Arial" pitchFamily="34" charset="0"/>
                          <a:ea typeface="Arial" pitchFamily="34" charset="-122"/>
                          <a:cs typeface="Arial" pitchFamily="34" charset="-120"/>
                        </a:rPr>
                        <a:t>‫איפה‬</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‫מה‬</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‫תיקיית Whisper מוכנה לשימוש (safetensors)‬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registry\model_NNNN\model\</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‫המודל המנצח‬</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‫דף אחד בדפדפן: פסק דין, גרפים, רשימת האזנה‬</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exp_NNNN\reports\report.html</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‫דוח‬</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‫מי המודל, מאיפה הגיע, ובדיקת שלמות‬</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model_NNNN\MODEL_CARD.md</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‫כרטיס מודל‬</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‫כל מה שקרה, גם כשהמסך נסגר‬</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exp_NNNN\logs\run.log</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‫לוג‬</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‫מדדים חיים שנפתחים באקסל‬</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exp_NNNN\metrics\...\metrics.csv</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‫מדדים‬</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‫כ-600 MB לכל ניסוי של whisper-tiny‬</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960"/>
                        </a:lnSpc>
                        <a:buNone/>
                      </a:pPr>
                      <a:r>
                        <a:rPr lang="en-US" sz="1400" dirty="0">
                          <a:solidFill>
                            <a:srgbClr val="0F2233"/>
                          </a:solidFill>
                          <a:latin typeface="Arial" pitchFamily="34" charset="0"/>
                          <a:ea typeface="Arial" pitchFamily="34" charset="-122"/>
                          <a:cs typeface="Arial" pitchFamily="34" charset="-120"/>
                        </a:rPr>
                        <a:t>exp_NNNN\candidates\</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‫מודלי הניסויים‬</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6" name="Shape 3"/>
          <p:cNvSpPr/>
          <p:nvPr/>
        </p:nvSpPr>
        <p:spPr>
          <a:xfrm>
            <a:off x="819132" y="4854538"/>
            <a:ext cx="5194300" cy="746955"/>
          </a:xfrm>
          <a:prstGeom prst="roundRect">
            <a:avLst>
              <a:gd name="adj" fmla="val 16152"/>
            </a:avLst>
          </a:prstGeom>
          <a:solidFill>
            <a:srgbClr val="F6E3D8"/>
          </a:solidFill>
          <a:ln w="12700">
            <a:solidFill>
              <a:srgbClr val="B8481A"/>
            </a:solidFill>
            <a:prstDash val="solid"/>
          </a:ln>
        </p:spPr>
      </p:sp>
      <p:sp>
        <p:nvSpPr>
          <p:cNvPr id="7" name="Text 4"/>
          <p:cNvSpPr/>
          <p:nvPr/>
        </p:nvSpPr>
        <p:spPr>
          <a:xfrm>
            <a:off x="857259" y="4986734"/>
            <a:ext cx="4973195"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B8481A"/>
                </a:solidFill>
                <a:latin typeface="Arial" pitchFamily="34" charset="0"/>
                <a:ea typeface="Arial" pitchFamily="34" charset="-122"/>
                <a:cs typeface="Arial" pitchFamily="34" charset="-120"/>
              </a:rPr>
              <a:t>‫מקום בדיסק‬</a:t>
            </a:r>
            <a:endParaRPr lang="en-US" sz="1400" dirty="0"/>
          </a:p>
        </p:txBody>
      </p:sp>
      <p:sp>
        <p:nvSpPr>
          <p:cNvPr id="8" name="Text 5"/>
          <p:cNvSpPr/>
          <p:nvPr/>
        </p:nvSpPr>
        <p:spPr>
          <a:xfrm>
            <a:off x="857259" y="5255878"/>
            <a:ext cx="497319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‫ריצה של 6 ניסויים דורשת בערך 3.7 עד 6.4 GB‬</a:t>
            </a:r>
            <a:endParaRPr lang="en-US" sz="1200" dirty="0"/>
          </a:p>
        </p:txBody>
      </p:sp>
      <p:sp>
        <p:nvSpPr>
          <p:cNvPr id="9" name="Shape 6"/>
          <p:cNvSpPr/>
          <p:nvPr/>
        </p:nvSpPr>
        <p:spPr>
          <a:xfrm>
            <a:off x="6178478" y="4854538"/>
            <a:ext cx="5194390" cy="746955"/>
          </a:xfrm>
          <a:prstGeom prst="roundRect">
            <a:avLst>
              <a:gd name="adj" fmla="val 16152"/>
            </a:avLst>
          </a:prstGeom>
          <a:solidFill>
            <a:srgbClr val="E1EEEB"/>
          </a:solidFill>
          <a:ln w="12700">
            <a:solidFill>
              <a:srgbClr val="1F6F6F"/>
            </a:solidFill>
            <a:prstDash val="solid"/>
          </a:ln>
        </p:spPr>
      </p:sp>
      <p:sp>
        <p:nvSpPr>
          <p:cNvPr id="10" name="Text 7"/>
          <p:cNvSpPr/>
          <p:nvPr/>
        </p:nvSpPr>
        <p:spPr>
          <a:xfrm>
            <a:off x="6216602" y="4986734"/>
            <a:ext cx="4973288"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‫פסק דין בדוח‬</a:t>
            </a:r>
            <a:endParaRPr lang="en-US" sz="1400" dirty="0"/>
          </a:p>
        </p:txBody>
      </p:sp>
      <p:sp>
        <p:nvSpPr>
          <p:cNvPr id="11" name="Text 8"/>
          <p:cNvSpPr/>
          <p:nvPr/>
        </p:nvSpPr>
        <p:spPr>
          <a:xfrm>
            <a:off x="6216602" y="5255878"/>
            <a:ext cx="497328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F2233"/>
                </a:solidFill>
                <a:latin typeface="Arial" pitchFamily="34" charset="0"/>
                <a:ea typeface="Arial" pitchFamily="34" charset="-122"/>
                <a:cs typeface="Arial" pitchFamily="34" charset="-120"/>
              </a:rPr>
              <a:t>‫שיפור מוכח, שיפור שלא הוכח, או הבייסליין נשאר‬</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‫דוגמה מריצת ההדמיה האמיתית עם whisper-tiny‬</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‫איך מתקבלת תוצאה, וביחס למה‬</a:t>
            </a:r>
            <a:endParaRPr lang="en-US" sz="3200" dirty="0"/>
          </a:p>
        </p:txBody>
      </p:sp>
      <p:sp>
        <p:nvSpPr>
          <p:cNvPr id="4" name="Shape 2"/>
          <p:cNvSpPr/>
          <p:nvPr/>
        </p:nvSpPr>
        <p:spPr>
          <a:xfrm>
            <a:off x="812782" y="1574775"/>
            <a:ext cx="3243551" cy="986956"/>
          </a:xfrm>
          <a:prstGeom prst="roundRect">
            <a:avLst>
              <a:gd name="adj" fmla="val 12868"/>
            </a:avLst>
          </a:prstGeom>
          <a:solidFill>
            <a:srgbClr val="0F2233"/>
          </a:solidFill>
          <a:ln/>
        </p:spPr>
      </p:sp>
      <p:sp>
        <p:nvSpPr>
          <p:cNvPr id="5" name="Text 3"/>
          <p:cNvSpPr/>
          <p:nvPr/>
        </p:nvSpPr>
        <p:spPr>
          <a:xfrm>
            <a:off x="876962" y="1701775"/>
            <a:ext cx="3027025"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6FD0C4"/>
                </a:solidFill>
                <a:latin typeface="Arial" pitchFamily="34" charset="0"/>
                <a:ea typeface="Arial" pitchFamily="34" charset="-122"/>
                <a:cs typeface="Arial" pitchFamily="34" charset="-120"/>
              </a:rPr>
              <a:t>3 ·</a:t>
            </a:r>
            <a:r>
              <a:rPr lang="en-US" sz="1600" b="1" dirty="0">
                <a:solidFill>
                  <a:srgbClr val="F6F4EE"/>
                </a:solidFill>
                <a:latin typeface="Arial" pitchFamily="34" charset="0"/>
                <a:ea typeface="Arial" pitchFamily="34" charset="-122"/>
                <a:cs typeface="Arial" pitchFamily="34" charset="-120"/>
              </a:rPr>
              <a:t> ‫מול היעד‬</a:t>
            </a:r>
            <a:endParaRPr lang="en-US" sz="1600" dirty="0"/>
          </a:p>
        </p:txBody>
      </p:sp>
      <p:sp>
        <p:nvSpPr>
          <p:cNvPr id="6" name="Text 4"/>
          <p:cNvSpPr/>
          <p:nvPr/>
        </p:nvSpPr>
        <p:spPr>
          <a:xfrm>
            <a:off x="876962" y="1996368"/>
            <a:ext cx="3027025"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‫היעד: ירידה יחסית של 10%. בריצת ההדמיה התקבלו 9.2%‬</a:t>
            </a:r>
            <a:endParaRPr lang="en-US" sz="1200" dirty="0"/>
          </a:p>
        </p:txBody>
      </p:sp>
      <p:pic>
        <p:nvPicPr>
          <p:cNvPr id="7" name="Image 0" descr="arrow-left">    </p:cNvPr>
          <p:cNvPicPr>
            <a:picLocks noChangeAspect="1"/>
          </p:cNvPicPr>
          <p:nvPr/>
        </p:nvPicPr>
        <p:blipFill>
          <a:blip r:embed="rId1"/>
          <a:srcRect l="-11" r="-11" t="0" b="0"/>
          <a:stretch/>
        </p:blipFill>
        <p:spPr>
          <a:xfrm>
            <a:off x="4132461" y="1985727"/>
            <a:ext cx="254000" cy="165064"/>
          </a:xfrm>
          <a:prstGeom prst="rect">
            <a:avLst/>
          </a:prstGeom>
        </p:spPr>
      </p:pic>
      <p:sp>
        <p:nvSpPr>
          <p:cNvPr id="8" name="Shape 5"/>
          <p:cNvSpPr/>
          <p:nvPr/>
        </p:nvSpPr>
        <p:spPr>
          <a:xfrm>
            <a:off x="4465763" y="1577950"/>
            <a:ext cx="3248837" cy="980606"/>
          </a:xfrm>
          <a:prstGeom prst="roundRect">
            <a:avLst>
              <a:gd name="adj" fmla="val 12627"/>
            </a:avLst>
          </a:prstGeom>
          <a:solidFill>
            <a:srgbClr val="FFFDF8"/>
          </a:solidFill>
          <a:ln w="6350">
            <a:solidFill>
              <a:srgbClr val="E2DDD0"/>
            </a:solidFill>
            <a:prstDash val="solid"/>
          </a:ln>
        </p:spPr>
      </p:sp>
      <p:sp>
        <p:nvSpPr>
          <p:cNvPr id="9" name="Text 6"/>
          <p:cNvSpPr/>
          <p:nvPr/>
        </p:nvSpPr>
        <p:spPr>
          <a:xfrm>
            <a:off x="4532539" y="1707555"/>
            <a:ext cx="302711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1F6F6F"/>
                </a:solidFill>
                <a:latin typeface="Arial" pitchFamily="34" charset="0"/>
                <a:ea typeface="Arial" pitchFamily="34" charset="-122"/>
                <a:cs typeface="Arial" pitchFamily="34" charset="-120"/>
              </a:rPr>
              <a:t>2 ·</a:t>
            </a:r>
            <a:r>
              <a:rPr lang="en-US" sz="1600" b="1" dirty="0">
                <a:solidFill>
                  <a:srgbClr val="0F2233"/>
                </a:solidFill>
                <a:latin typeface="Arial" pitchFamily="34" charset="0"/>
                <a:ea typeface="Arial" pitchFamily="34" charset="-122"/>
                <a:cs typeface="Arial" pitchFamily="34" charset="-120"/>
              </a:rPr>
              <a:t> ‫אחרי אימון‬</a:t>
            </a:r>
            <a:endParaRPr lang="en-US" sz="1600" dirty="0"/>
          </a:p>
        </p:txBody>
      </p:sp>
      <p:sp>
        <p:nvSpPr>
          <p:cNvPr id="10" name="Text 7"/>
          <p:cNvSpPr/>
          <p:nvPr/>
        </p:nvSpPr>
        <p:spPr>
          <a:xfrm>
            <a:off x="4532539" y="2002135"/>
            <a:ext cx="3027118"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‫המנצח מתמלל בדיוק את אותם קטעים. התוצאה: WER 1.0279‬</a:t>
            </a:r>
            <a:endParaRPr lang="en-US" sz="1200" dirty="0"/>
          </a:p>
        </p:txBody>
      </p:sp>
      <p:pic>
        <p:nvPicPr>
          <p:cNvPr id="11" name="Image 1" descr="arrow-left">    </p:cNvPr>
          <p:cNvPicPr>
            <a:picLocks noChangeAspect="1"/>
          </p:cNvPicPr>
          <p:nvPr/>
        </p:nvPicPr>
        <p:blipFill>
          <a:blip r:embed="rId2"/>
          <a:srcRect l="-11" r="-11" t="0" b="0"/>
          <a:stretch/>
        </p:blipFill>
        <p:spPr>
          <a:xfrm>
            <a:off x="7793903" y="1985727"/>
            <a:ext cx="254000" cy="165064"/>
          </a:xfrm>
          <a:prstGeom prst="rect">
            <a:avLst/>
          </a:prstGeom>
        </p:spPr>
      </p:pic>
      <p:sp>
        <p:nvSpPr>
          <p:cNvPr id="12" name="Shape 8"/>
          <p:cNvSpPr/>
          <p:nvPr/>
        </p:nvSpPr>
        <p:spPr>
          <a:xfrm>
            <a:off x="8127206" y="1577950"/>
            <a:ext cx="3248837" cy="980606"/>
          </a:xfrm>
          <a:prstGeom prst="roundRect">
            <a:avLst>
              <a:gd name="adj" fmla="val 12627"/>
            </a:avLst>
          </a:prstGeom>
          <a:solidFill>
            <a:srgbClr val="FFFDF8"/>
          </a:solidFill>
          <a:ln w="6350">
            <a:solidFill>
              <a:srgbClr val="E2DDD0"/>
            </a:solidFill>
            <a:prstDash val="solid"/>
          </a:ln>
        </p:spPr>
      </p:sp>
      <p:sp>
        <p:nvSpPr>
          <p:cNvPr id="13" name="Text 9"/>
          <p:cNvSpPr/>
          <p:nvPr/>
        </p:nvSpPr>
        <p:spPr>
          <a:xfrm>
            <a:off x="8193981" y="1707555"/>
            <a:ext cx="302711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1F6F6F"/>
                </a:solidFill>
                <a:latin typeface="Arial" pitchFamily="34" charset="0"/>
                <a:ea typeface="Arial" pitchFamily="34" charset="-122"/>
                <a:cs typeface="Arial" pitchFamily="34" charset="-120"/>
              </a:rPr>
              <a:t>1 ·</a:t>
            </a:r>
            <a:r>
              <a:rPr lang="en-US" sz="1600" b="1" dirty="0">
                <a:solidFill>
                  <a:srgbClr val="0F2233"/>
                </a:solidFill>
                <a:latin typeface="Arial" pitchFamily="34" charset="0"/>
                <a:ea typeface="Arial" pitchFamily="34" charset="-122"/>
                <a:cs typeface="Arial" pitchFamily="34" charset="-120"/>
              </a:rPr>
              <a:t> ‫בייסליין‬</a:t>
            </a:r>
            <a:endParaRPr lang="en-US" sz="1600" dirty="0"/>
          </a:p>
        </p:txBody>
      </p:sp>
      <p:sp>
        <p:nvSpPr>
          <p:cNvPr id="14" name="Text 10"/>
          <p:cNvSpPr/>
          <p:nvPr/>
        </p:nvSpPr>
        <p:spPr>
          <a:xfrm>
            <a:off x="8193981" y="2002135"/>
            <a:ext cx="3027118"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‫המודל המקורי, בלי אימון, מתמלל את כל קטעי Val. התוצאה: WER 1.1318‬</a:t>
            </a:r>
            <a:endParaRPr lang="en-US" sz="1200" dirty="0"/>
          </a:p>
        </p:txBody>
      </p:sp>
      <p:sp>
        <p:nvSpPr>
          <p:cNvPr id="15" name="Shape 11"/>
          <p:cNvSpPr/>
          <p:nvPr/>
        </p:nvSpPr>
        <p:spPr>
          <a:xfrm>
            <a:off x="812782" y="2739517"/>
            <a:ext cx="10566436" cy="589269"/>
          </a:xfrm>
          <a:prstGeom prst="roundRect">
            <a:avLst>
              <a:gd name="adj" fmla="val 21552"/>
            </a:avLst>
          </a:prstGeom>
          <a:solidFill>
            <a:srgbClr val="1F6F6F"/>
          </a:solidFill>
          <a:ln/>
        </p:spPr>
      </p:sp>
      <p:sp>
        <p:nvSpPr>
          <p:cNvPr id="16" name="Text 12"/>
          <p:cNvSpPr/>
          <p:nvPr/>
        </p:nvSpPr>
        <p:spPr>
          <a:xfrm>
            <a:off x="943016" y="2866517"/>
            <a:ext cx="6751951" cy="360669"/>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FFFDF8"/>
                </a:solidFill>
                <a:latin typeface="Arial" pitchFamily="34" charset="0"/>
                <a:ea typeface="Arial" pitchFamily="34" charset="-122"/>
                <a:cs typeface="Arial" pitchFamily="34" charset="-120"/>
              </a:rPr>
              <a:t>(1.1318 − 1.0279) / 1.1318 = 9.2%</a:t>
            </a:r>
            <a:endParaRPr lang="en-US" sz="2200" dirty="0"/>
          </a:p>
        </p:txBody>
      </p:sp>
      <p:sp>
        <p:nvSpPr>
          <p:cNvPr id="17" name="Text 13"/>
          <p:cNvSpPr/>
          <p:nvPr/>
        </p:nvSpPr>
        <p:spPr>
          <a:xfrm>
            <a:off x="7694967" y="2918557"/>
            <a:ext cx="3455686"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FFDF8"/>
                </a:solidFill>
                <a:latin typeface="Arial" pitchFamily="34" charset="0"/>
                <a:ea typeface="Arial" pitchFamily="34" charset="-122"/>
                <a:cs typeface="Arial" pitchFamily="34" charset="-120"/>
              </a:rPr>
              <a:t>‫ירידה יחסית ב-WER = ההפרש חלקי הבייסליין‬</a:t>
            </a:r>
            <a:endParaRPr lang="en-US" sz="1400" dirty="0"/>
          </a:p>
        </p:txBody>
      </p:sp>
      <p:sp>
        <p:nvSpPr>
          <p:cNvPr id="18" name="Shape 14"/>
          <p:cNvSpPr/>
          <p:nvPr/>
        </p:nvSpPr>
        <p:spPr>
          <a:xfrm>
            <a:off x="815957" y="3509739"/>
            <a:ext cx="10560086" cy="1363951"/>
          </a:xfrm>
          <a:prstGeom prst="roundRect">
            <a:avLst>
              <a:gd name="adj" fmla="val 9078"/>
            </a:avLst>
          </a:prstGeom>
          <a:solidFill>
            <a:srgbClr val="FFFDF8"/>
          </a:solidFill>
          <a:ln w="6350">
            <a:solidFill>
              <a:srgbClr val="E2DDD0"/>
            </a:solidFill>
            <a:prstDash val="solid"/>
          </a:ln>
        </p:spPr>
      </p:sp>
      <p:sp>
        <p:nvSpPr>
          <p:cNvPr id="19" name="Text 15"/>
          <p:cNvSpPr/>
          <p:nvPr/>
        </p:nvSpPr>
        <p:spPr>
          <a:xfrm>
            <a:off x="1021683" y="3646909"/>
            <a:ext cx="6454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6525C"/>
                </a:solidFill>
                <a:latin typeface="Arial" pitchFamily="34" charset="0"/>
                <a:ea typeface="Arial" pitchFamily="34" charset="-122"/>
                <a:cs typeface="Arial" pitchFamily="34" charset="-120"/>
              </a:rPr>
              <a:t>1.1318</a:t>
            </a:r>
            <a:endParaRPr lang="en-US" sz="1400" dirty="0"/>
          </a:p>
        </p:txBody>
      </p:sp>
      <p:sp>
        <p:nvSpPr>
          <p:cNvPr id="20" name="Shape 16"/>
          <p:cNvSpPr/>
          <p:nvPr/>
        </p:nvSpPr>
        <p:spPr>
          <a:xfrm>
            <a:off x="1667146" y="3639331"/>
            <a:ext cx="4654532" cy="228564"/>
          </a:xfrm>
          <a:prstGeom prst="roundRect">
            <a:avLst>
              <a:gd name="adj" fmla="val 22226"/>
            </a:avLst>
          </a:prstGeom>
          <a:solidFill>
            <a:srgbClr val="9AA7B2"/>
          </a:solidFill>
          <a:ln/>
        </p:spPr>
      </p:sp>
      <p:sp>
        <p:nvSpPr>
          <p:cNvPr id="21" name="Text 17"/>
          <p:cNvSpPr/>
          <p:nvPr/>
        </p:nvSpPr>
        <p:spPr>
          <a:xfrm>
            <a:off x="6358471" y="3646909"/>
            <a:ext cx="222377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0F2233"/>
                </a:solidFill>
                <a:latin typeface="Arial" pitchFamily="34" charset="0"/>
                <a:ea typeface="Arial" pitchFamily="34" charset="-122"/>
                <a:cs typeface="Arial" pitchFamily="34" charset="-120"/>
              </a:rPr>
              <a:t>‫Val · לפני (בייסליין)‬</a:t>
            </a:r>
            <a:endParaRPr lang="en-US" sz="1400" dirty="0"/>
          </a:p>
        </p:txBody>
      </p:sp>
      <p:sp>
        <p:nvSpPr>
          <p:cNvPr id="22" name="Text 18"/>
          <p:cNvSpPr/>
          <p:nvPr/>
        </p:nvSpPr>
        <p:spPr>
          <a:xfrm>
            <a:off x="1021683" y="3938972"/>
            <a:ext cx="6454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F"/>
                </a:solidFill>
                <a:latin typeface="Arial" pitchFamily="34" charset="0"/>
                <a:ea typeface="Arial" pitchFamily="34" charset="-122"/>
                <a:cs typeface="Arial" pitchFamily="34" charset="-120"/>
              </a:rPr>
              <a:t>1.0279</a:t>
            </a:r>
            <a:endParaRPr lang="en-US" sz="1400" dirty="0"/>
          </a:p>
        </p:txBody>
      </p:sp>
      <p:sp>
        <p:nvSpPr>
          <p:cNvPr id="23" name="Shape 19"/>
          <p:cNvSpPr/>
          <p:nvPr/>
        </p:nvSpPr>
        <p:spPr>
          <a:xfrm>
            <a:off x="1667146" y="3931407"/>
            <a:ext cx="4229064" cy="228564"/>
          </a:xfrm>
          <a:prstGeom prst="roundRect">
            <a:avLst>
              <a:gd name="adj" fmla="val 22226"/>
            </a:avLst>
          </a:prstGeom>
          <a:solidFill>
            <a:srgbClr val="1F6F6F"/>
          </a:solidFill>
          <a:ln/>
        </p:spPr>
      </p:sp>
      <p:sp>
        <p:nvSpPr>
          <p:cNvPr id="24" name="Text 20"/>
          <p:cNvSpPr/>
          <p:nvPr/>
        </p:nvSpPr>
        <p:spPr>
          <a:xfrm>
            <a:off x="5933003" y="3938972"/>
            <a:ext cx="222377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0F2233"/>
                </a:solidFill>
                <a:latin typeface="Arial" pitchFamily="34" charset="0"/>
                <a:ea typeface="Arial" pitchFamily="34" charset="-122"/>
                <a:cs typeface="Arial" pitchFamily="34" charset="-120"/>
              </a:rPr>
              <a:t>‫Val · אחרי אימון‬</a:t>
            </a:r>
            <a:endParaRPr lang="en-US" sz="1400" dirty="0"/>
          </a:p>
        </p:txBody>
      </p:sp>
      <p:sp>
        <p:nvSpPr>
          <p:cNvPr id="25" name="Text 21"/>
          <p:cNvSpPr/>
          <p:nvPr/>
        </p:nvSpPr>
        <p:spPr>
          <a:xfrm>
            <a:off x="1021683" y="4231047"/>
            <a:ext cx="6454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6525C"/>
                </a:solidFill>
                <a:latin typeface="Arial" pitchFamily="34" charset="0"/>
                <a:ea typeface="Arial" pitchFamily="34" charset="-122"/>
                <a:cs typeface="Arial" pitchFamily="34" charset="-120"/>
              </a:rPr>
              <a:t>1.1728</a:t>
            </a:r>
            <a:endParaRPr lang="en-US" sz="1400" dirty="0"/>
          </a:p>
        </p:txBody>
      </p:sp>
      <p:sp>
        <p:nvSpPr>
          <p:cNvPr id="26" name="Shape 22"/>
          <p:cNvSpPr/>
          <p:nvPr/>
        </p:nvSpPr>
        <p:spPr>
          <a:xfrm>
            <a:off x="1667146" y="4223469"/>
            <a:ext cx="4826000" cy="228564"/>
          </a:xfrm>
          <a:prstGeom prst="roundRect">
            <a:avLst>
              <a:gd name="adj" fmla="val 22226"/>
            </a:avLst>
          </a:prstGeom>
          <a:solidFill>
            <a:srgbClr val="9AA7B2"/>
          </a:solidFill>
          <a:ln/>
        </p:spPr>
      </p:sp>
      <p:sp>
        <p:nvSpPr>
          <p:cNvPr id="27" name="Text 23"/>
          <p:cNvSpPr/>
          <p:nvPr/>
        </p:nvSpPr>
        <p:spPr>
          <a:xfrm>
            <a:off x="6529939" y="4231047"/>
            <a:ext cx="222377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0F2233"/>
                </a:solidFill>
                <a:latin typeface="Arial" pitchFamily="34" charset="0"/>
                <a:ea typeface="Arial" pitchFamily="34" charset="-122"/>
                <a:cs typeface="Arial" pitchFamily="34" charset="-120"/>
              </a:rPr>
              <a:t>‫Test · לפני (בייסליין)‬</a:t>
            </a:r>
            <a:endParaRPr lang="en-US" sz="1400" dirty="0"/>
          </a:p>
        </p:txBody>
      </p:sp>
      <p:sp>
        <p:nvSpPr>
          <p:cNvPr id="28" name="Text 24"/>
          <p:cNvSpPr/>
          <p:nvPr/>
        </p:nvSpPr>
        <p:spPr>
          <a:xfrm>
            <a:off x="1021683" y="4523110"/>
            <a:ext cx="6454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F"/>
                </a:solidFill>
                <a:latin typeface="Arial" pitchFamily="34" charset="0"/>
                <a:ea typeface="Arial" pitchFamily="34" charset="-122"/>
                <a:cs typeface="Arial" pitchFamily="34" charset="-120"/>
              </a:rPr>
              <a:t>1.0599</a:t>
            </a:r>
            <a:endParaRPr lang="en-US" sz="1400" dirty="0"/>
          </a:p>
        </p:txBody>
      </p:sp>
      <p:sp>
        <p:nvSpPr>
          <p:cNvPr id="29" name="Shape 25"/>
          <p:cNvSpPr/>
          <p:nvPr/>
        </p:nvSpPr>
        <p:spPr>
          <a:xfrm>
            <a:off x="1667146" y="4515532"/>
            <a:ext cx="4362378" cy="228564"/>
          </a:xfrm>
          <a:prstGeom prst="roundRect">
            <a:avLst>
              <a:gd name="adj" fmla="val 22226"/>
            </a:avLst>
          </a:prstGeom>
          <a:solidFill>
            <a:srgbClr val="1F6F6F"/>
          </a:solidFill>
          <a:ln/>
        </p:spPr>
      </p:sp>
      <p:sp>
        <p:nvSpPr>
          <p:cNvPr id="30" name="Text 26"/>
          <p:cNvSpPr/>
          <p:nvPr/>
        </p:nvSpPr>
        <p:spPr>
          <a:xfrm>
            <a:off x="6066317" y="4523110"/>
            <a:ext cx="222377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0F2233"/>
                </a:solidFill>
                <a:latin typeface="Arial" pitchFamily="34" charset="0"/>
                <a:ea typeface="Arial" pitchFamily="34" charset="-122"/>
                <a:cs typeface="Arial" pitchFamily="34" charset="-120"/>
              </a:rPr>
              <a:t>‫Test · אחרי אימון‬</a:t>
            </a:r>
            <a:endParaRPr lang="en-US" sz="1400" dirty="0"/>
          </a:p>
        </p:txBody>
      </p:sp>
      <p:sp>
        <p:nvSpPr>
          <p:cNvPr id="31" name="Text 27"/>
          <p:cNvSpPr/>
          <p:nvPr/>
        </p:nvSpPr>
        <p:spPr>
          <a:xfrm>
            <a:off x="495789" y="50546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‫יחסי ולא מוחלט, כי הבייסליין שונה בין מודלים ובין נתונים. אותם קטעים, כדי שההשוואה תהיה הוגנת. Val מחליט, ו-Test מאשר פעם אחת: שם הירידה היא כ-9.6%‬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‫מה אפשר לאמן‬</a:t>
            </a:r>
            <a:endParaRPr lang="en-US" sz="1200" dirty="0"/>
          </a:p>
        </p:txBody>
      </p:sp>
      <p:sp>
        <p:nvSpPr>
          <p:cNvPr id="3" name="Text 1"/>
          <p:cNvSpPr/>
          <p:nvPr>
            <p:ph type="title"/>
          </p:nvPr>
        </p:nvSpPr>
        <p:spPr>
          <a:xfrm>
            <a:off x="495789" y="949982"/>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‫אפשרויות: איזה מודל, כמה זמן, כמה מקום‬</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586333"/>
          <a:ext cx="10554890" cy="2148537"/>
        </p:xfrm>
        <a:graphic>
          <a:graphicData uri="http://schemas.openxmlformats.org/drawingml/2006/table">
            <a:tbl>
              <a:tblPr/>
              <a:tblGrid>
                <a:gridCol w="2955369"/>
                <a:gridCol w="1477685"/>
                <a:gridCol w="2533174"/>
                <a:gridCol w="1266587"/>
                <a:gridCol w="2322076"/>
              </a:tblGrid>
              <a:tr h="358089">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‫סטטוס‬</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‫מקום לניסוי‬</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‫מהירות על CPU‬</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820"/>
                        </a:lnSpc>
                        <a:buNone/>
                      </a:pPr>
                      <a:r>
                        <a:rPr lang="en-US" sz="1300" b="1" dirty="0">
                          <a:solidFill>
                            <a:srgbClr val="F6F4EE"/>
                          </a:solidFill>
                          <a:latin typeface="Arial" pitchFamily="34" charset="0"/>
                          <a:ea typeface="Arial" pitchFamily="34" charset="-122"/>
                          <a:cs typeface="Arial" pitchFamily="34" charset="-120"/>
                        </a:rPr>
                        <a:t>‫פרמטרים‬</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820"/>
                        </a:lnSpc>
                        <a:buNone/>
                      </a:pPr>
                      <a:r>
                        <a:rPr lang="en-US" sz="1300" b="1" dirty="0">
                          <a:solidFill>
                            <a:srgbClr val="F6F4EE"/>
                          </a:solidFill>
                          <a:latin typeface="Arial" pitchFamily="34" charset="0"/>
                          <a:ea typeface="Arial" pitchFamily="34" charset="-122"/>
                          <a:cs typeface="Arial" pitchFamily="34" charset="-120"/>
                        </a:rPr>
                        <a:t>‫מודל‬</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‫נבדק בפועל‬</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‫כ-600 MB‬</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‫5.4 שניות לצעד, נמדד‬</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37.8M</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whisper-tiny</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‫אומדן, לא נבדק‬</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‫כ-1.2 GB‬</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‫כפול בערך‬</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≈73M</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whisper-base</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4BEBB"/>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‫אומדן. 6 ניסויים לא ייכנסו ב-19 GB‬</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‫כ-3.9 GB‬</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‫פי 6 בערך‬</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≈242M</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whisper-small</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‫לא מומלץ‬</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‫לא מעשי ל-fine-tune מלא על CPU‬</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medium / large</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‫נתמך אם בפורמט safetensors. לא נוסה‬</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‫לפי הגודל‬</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ivrit-ai</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5" name="Text 2"/>
          <p:cNvSpPr/>
          <p:nvPr/>
        </p:nvSpPr>
        <p:spPr>
          <a:xfrm>
            <a:off x="815957" y="3915829"/>
            <a:ext cx="3414171" cy="686016"/>
          </a:xfrm>
          <a:prstGeom prst="roundRect">
            <a:avLst>
              <a:gd name="adj" fmla="val 14347"/>
            </a:avLst>
          </a:prstGeom>
          <a:solidFill>
            <a:srgbClr val="FFFDF8"/>
          </a:solidFill>
          <a:ln w="6350">
            <a:solidFill>
              <a:srgbClr val="E2DDD0"/>
            </a:solidFill>
            <a:prstDash val="solid"/>
          </a:ln>
        </p:spPr>
        <p:txBody>
          <a:bodyPr wrap="square" lIns="33045"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‫המערכת תומכת בכל Whisper רב-לשוני מקומי. הגודל הוא החלטה שלכם‬</a:t>
            </a:r>
            <a:endParaRPr lang="en-US" sz="1200" dirty="0"/>
          </a:p>
        </p:txBody>
      </p:sp>
      <p:sp>
        <p:nvSpPr>
          <p:cNvPr id="6" name="Text 3"/>
          <p:cNvSpPr/>
          <p:nvPr/>
        </p:nvSpPr>
        <p:spPr>
          <a:xfrm>
            <a:off x="4388824" y="3915829"/>
            <a:ext cx="3414261" cy="686016"/>
          </a:xfrm>
          <a:prstGeom prst="roundRect">
            <a:avLst>
              <a:gd name="adj" fmla="val 14347"/>
            </a:avLst>
          </a:prstGeom>
          <a:solidFill>
            <a:srgbClr val="FFFDF8"/>
          </a:solidFill>
          <a:ln w="6350">
            <a:solidFill>
              <a:srgbClr val="E2DDD0"/>
            </a:solidFill>
            <a:prstDash val="solid"/>
          </a:ln>
        </p:spPr>
        <p:txBody>
          <a:bodyPr wrap="square" lIns="33042"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‫לפני מודל גדול יותר מריצים benchmark פעמיים ובודקים זמן לצעד, זיכרון ומקום‬</a:t>
            </a:r>
            <a:endParaRPr lang="en-US" sz="1200" dirty="0"/>
          </a:p>
        </p:txBody>
      </p:sp>
      <p:sp>
        <p:nvSpPr>
          <p:cNvPr id="7" name="Text 4"/>
          <p:cNvSpPr/>
          <p:nvPr/>
        </p:nvSpPr>
        <p:spPr>
          <a:xfrm>
            <a:off x="7961781" y="3915829"/>
            <a:ext cx="3414261" cy="686016"/>
          </a:xfrm>
          <a:prstGeom prst="roundRect">
            <a:avLst>
              <a:gd name="adj" fmla="val 14347"/>
            </a:avLst>
          </a:prstGeom>
          <a:solidFill>
            <a:srgbClr val="FFFDF8"/>
          </a:solidFill>
          <a:ln w="6350">
            <a:solidFill>
              <a:srgbClr val="E2DDD0"/>
            </a:solidFill>
            <a:prstDash val="solid"/>
          </a:ln>
        </p:spPr>
        <p:txBody>
          <a:bodyPr wrap="square" lIns="33042"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‫משווים כל מודל לבייסליין של עצמו. אי אפשר להשוות מספרים מוחלטים בין מודלים‬</a:t>
            </a:r>
            <a:endParaRPr lang="en-US" sz="1200" dirty="0"/>
          </a:p>
        </p:txBody>
      </p:sp>
      <p:sp>
        <p:nvSpPr>
          <p:cNvPr id="8" name="Text 5"/>
          <p:cNvSpPr/>
          <p:nvPr/>
        </p:nvSpPr>
        <p:spPr>
          <a:xfrm>
            <a:off x="812782" y="4782803"/>
            <a:ext cx="10566436" cy="467410"/>
          </a:xfrm>
          <a:prstGeom prst="roundRect">
            <a:avLst>
              <a:gd name="adj" fmla="val 21737"/>
            </a:avLst>
          </a:prstGeom>
          <a:solidFill>
            <a:srgbClr val="0F2233"/>
          </a:solidFill>
          <a:ln/>
        </p:spPr>
        <p:txBody>
          <a:bodyPr wrap="square" lIns="148042" tIns="97242" rIns="0" bIns="71842" rtlCol="0" anchor="t">
            <a:normAutofit/>
          </a:bodyPr>
          <a:lstStyle/>
          <a:p>
            <a:pPr algn="l"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benchmark --config $cfg --set model.path=models/whisper-base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‫החשיבה ההנדסית‬</a:t>
            </a:r>
            <a:endParaRPr lang="en-US" sz="1200" dirty="0"/>
          </a:p>
        </p:txBody>
      </p:sp>
      <p:sp>
        <p:nvSpPr>
          <p:cNvPr id="3" name="Text 1"/>
          <p:cNvSpPr/>
          <p:nvPr>
            <p:ph type="title"/>
          </p:nvPr>
        </p:nvSpPr>
        <p:spPr>
          <a:xfrm>
            <a:off x="495789" y="949982"/>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‫שמונה דברים שמשפיעים על איכות התמלול‬</a:t>
            </a:r>
            <a:endParaRPr lang="en-US" sz="3200" dirty="0"/>
          </a:p>
        </p:txBody>
      </p:sp>
      <p:sp>
        <p:nvSpPr>
          <p:cNvPr id="4" name="Shape 2"/>
          <p:cNvSpPr/>
          <p:nvPr/>
        </p:nvSpPr>
        <p:spPr>
          <a:xfrm>
            <a:off x="815957" y="1577963"/>
            <a:ext cx="2520932" cy="1574926"/>
          </a:xfrm>
          <a:prstGeom prst="roundRect">
            <a:avLst>
              <a:gd name="adj" fmla="val 7862"/>
            </a:avLst>
          </a:prstGeom>
          <a:solidFill>
            <a:srgbClr val="FFFDF8"/>
          </a:solidFill>
          <a:ln w="6350">
            <a:solidFill>
              <a:srgbClr val="E2DDD0"/>
            </a:solidFill>
            <a:prstDash val="solid"/>
          </a:ln>
        </p:spPr>
      </p:sp>
      <p:sp>
        <p:nvSpPr>
          <p:cNvPr id="5" name="Text 3"/>
          <p:cNvSpPr/>
          <p:nvPr/>
        </p:nvSpPr>
        <p:spPr>
          <a:xfrm>
            <a:off x="931531" y="1732905"/>
            <a:ext cx="2224978"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4</a:t>
            </a:r>
            <a:endParaRPr lang="en-US" sz="2000" dirty="0"/>
          </a:p>
        </p:txBody>
      </p:sp>
      <p:sp>
        <p:nvSpPr>
          <p:cNvPr id="6" name="Text 4"/>
          <p:cNvSpPr/>
          <p:nvPr/>
        </p:nvSpPr>
        <p:spPr>
          <a:xfrm>
            <a:off x="931531" y="2050405"/>
            <a:ext cx="222497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‫גודל המודל‬</a:t>
            </a:r>
            <a:endParaRPr lang="en-US" sz="1600" dirty="0"/>
          </a:p>
        </p:txBody>
      </p:sp>
      <p:sp>
        <p:nvSpPr>
          <p:cNvPr id="7" name="Text 5"/>
          <p:cNvSpPr/>
          <p:nvPr/>
        </p:nvSpPr>
        <p:spPr>
          <a:xfrm>
            <a:off x="931531" y="2357710"/>
            <a:ext cx="2224978"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‫גדול יותר הוא בדרך כלל טוב יותר, אבל איטי בהרבה על CPU‬</a:t>
            </a:r>
            <a:endParaRPr lang="en-US" sz="1200" dirty="0"/>
          </a:p>
        </p:txBody>
      </p:sp>
      <p:sp>
        <p:nvSpPr>
          <p:cNvPr id="8" name="Shape 6"/>
          <p:cNvSpPr/>
          <p:nvPr/>
        </p:nvSpPr>
        <p:spPr>
          <a:xfrm>
            <a:off x="3495585" y="1577963"/>
            <a:ext cx="2521022" cy="1574926"/>
          </a:xfrm>
          <a:prstGeom prst="roundRect">
            <a:avLst>
              <a:gd name="adj" fmla="val 7862"/>
            </a:avLst>
          </a:prstGeom>
          <a:solidFill>
            <a:srgbClr val="FFFDF8"/>
          </a:solidFill>
          <a:ln w="6350">
            <a:solidFill>
              <a:srgbClr val="E2DDD0"/>
            </a:solidFill>
            <a:prstDash val="solid"/>
          </a:ln>
        </p:spPr>
      </p:sp>
      <p:sp>
        <p:nvSpPr>
          <p:cNvPr id="9" name="Text 7"/>
          <p:cNvSpPr/>
          <p:nvPr/>
        </p:nvSpPr>
        <p:spPr>
          <a:xfrm>
            <a:off x="3611157" y="1732905"/>
            <a:ext cx="222507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3</a:t>
            </a:r>
            <a:endParaRPr lang="en-US" sz="2000" dirty="0"/>
          </a:p>
        </p:txBody>
      </p:sp>
      <p:sp>
        <p:nvSpPr>
          <p:cNvPr id="10" name="Text 8"/>
          <p:cNvSpPr/>
          <p:nvPr/>
        </p:nvSpPr>
        <p:spPr>
          <a:xfrm>
            <a:off x="3611157" y="2050405"/>
            <a:ext cx="222507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‫התאמה לתחום‬</a:t>
            </a:r>
            <a:endParaRPr lang="en-US" sz="1600" dirty="0"/>
          </a:p>
        </p:txBody>
      </p:sp>
      <p:sp>
        <p:nvSpPr>
          <p:cNvPr id="11" name="Text 9"/>
          <p:cNvSpPr/>
          <p:nvPr/>
        </p:nvSpPr>
        <p:spPr>
          <a:xfrm>
            <a:off x="3611157" y="2357710"/>
            <a:ext cx="222507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‫ככל שהמונחים רחוקים ממה שהמודל מכיר, פוטנציאל השיפור גדול יותר‬</a:t>
            </a:r>
            <a:endParaRPr lang="en-US" sz="1200" dirty="0"/>
          </a:p>
        </p:txBody>
      </p:sp>
      <p:sp>
        <p:nvSpPr>
          <p:cNvPr id="12" name="Shape 10"/>
          <p:cNvSpPr/>
          <p:nvPr/>
        </p:nvSpPr>
        <p:spPr>
          <a:xfrm>
            <a:off x="6175303" y="1577963"/>
            <a:ext cx="2521022" cy="1574926"/>
          </a:xfrm>
          <a:prstGeom prst="roundRect">
            <a:avLst>
              <a:gd name="adj" fmla="val 7862"/>
            </a:avLst>
          </a:prstGeom>
          <a:solidFill>
            <a:srgbClr val="FFFDF8"/>
          </a:solidFill>
          <a:ln w="6350">
            <a:solidFill>
              <a:srgbClr val="E2DDD0"/>
            </a:solidFill>
            <a:prstDash val="solid"/>
          </a:ln>
        </p:spPr>
      </p:sp>
      <p:sp>
        <p:nvSpPr>
          <p:cNvPr id="13" name="Text 11"/>
          <p:cNvSpPr/>
          <p:nvPr/>
        </p:nvSpPr>
        <p:spPr>
          <a:xfrm>
            <a:off x="6290874" y="1732905"/>
            <a:ext cx="222507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2</a:t>
            </a:r>
            <a:endParaRPr lang="en-US" sz="2000" dirty="0"/>
          </a:p>
        </p:txBody>
      </p:sp>
      <p:sp>
        <p:nvSpPr>
          <p:cNvPr id="14" name="Text 12"/>
          <p:cNvSpPr/>
          <p:nvPr/>
        </p:nvSpPr>
        <p:spPr>
          <a:xfrm>
            <a:off x="6290874" y="2050405"/>
            <a:ext cx="222507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‫כמות נתונים‬</a:t>
            </a:r>
            <a:endParaRPr lang="en-US" sz="1600" dirty="0"/>
          </a:p>
        </p:txBody>
      </p:sp>
      <p:sp>
        <p:nvSpPr>
          <p:cNvPr id="15" name="Text 13"/>
          <p:cNvSpPr/>
          <p:nvPr/>
        </p:nvSpPr>
        <p:spPr>
          <a:xfrm>
            <a:off x="6290874" y="2357710"/>
            <a:ext cx="2225071"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‫בעבודה צפויה כעשירית. learning-curve מראה אם עוד נתונים עדיין משפרים‬</a:t>
            </a:r>
            <a:endParaRPr lang="en-US" sz="1200" dirty="0"/>
          </a:p>
        </p:txBody>
      </p:sp>
      <p:sp>
        <p:nvSpPr>
          <p:cNvPr id="16" name="Shape 14"/>
          <p:cNvSpPr/>
          <p:nvPr/>
        </p:nvSpPr>
        <p:spPr>
          <a:xfrm>
            <a:off x="8855021" y="1577963"/>
            <a:ext cx="2521022" cy="1574926"/>
          </a:xfrm>
          <a:prstGeom prst="roundRect">
            <a:avLst>
              <a:gd name="adj" fmla="val 7862"/>
            </a:avLst>
          </a:prstGeom>
          <a:solidFill>
            <a:srgbClr val="FFFDF8"/>
          </a:solidFill>
          <a:ln w="6350">
            <a:solidFill>
              <a:srgbClr val="E2DDD0"/>
            </a:solidFill>
            <a:prstDash val="solid"/>
          </a:ln>
        </p:spPr>
      </p:sp>
      <p:sp>
        <p:nvSpPr>
          <p:cNvPr id="17" name="Text 15"/>
          <p:cNvSpPr/>
          <p:nvPr/>
        </p:nvSpPr>
        <p:spPr>
          <a:xfrm>
            <a:off x="8970593" y="1732905"/>
            <a:ext cx="222507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1F6F6F"/>
                </a:solidFill>
                <a:latin typeface="Arial" pitchFamily="34" charset="0"/>
                <a:ea typeface="Arial" pitchFamily="34" charset="-122"/>
                <a:cs typeface="Arial" pitchFamily="34" charset="-120"/>
              </a:rPr>
              <a:t>1</a:t>
            </a:r>
            <a:endParaRPr lang="en-US" sz="2000" dirty="0"/>
          </a:p>
        </p:txBody>
      </p:sp>
      <p:sp>
        <p:nvSpPr>
          <p:cNvPr id="18" name="Text 16"/>
          <p:cNvSpPr/>
          <p:nvPr/>
        </p:nvSpPr>
        <p:spPr>
          <a:xfrm>
            <a:off x="8970593" y="2050405"/>
            <a:ext cx="222507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‫איכות התמלילים‬</a:t>
            </a:r>
            <a:endParaRPr lang="en-US" sz="1600" dirty="0"/>
          </a:p>
        </p:txBody>
      </p:sp>
      <p:sp>
        <p:nvSpPr>
          <p:cNvPr id="19" name="Text 17"/>
          <p:cNvSpPr/>
          <p:nvPr/>
        </p:nvSpPr>
        <p:spPr>
          <a:xfrm>
            <a:off x="8970593" y="2357710"/>
            <a:ext cx="2225071"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‫תמלול שגוי מלמד את המודל טעויות. כדאי לבדוק ידנית מדגם של 50 עד 100 קטעים‬</a:t>
            </a:r>
            <a:endParaRPr lang="en-US" sz="1200" dirty="0"/>
          </a:p>
        </p:txBody>
      </p:sp>
      <p:sp>
        <p:nvSpPr>
          <p:cNvPr id="20" name="Shape 18"/>
          <p:cNvSpPr/>
          <p:nvPr/>
        </p:nvSpPr>
        <p:spPr>
          <a:xfrm>
            <a:off x="815957" y="3311587"/>
            <a:ext cx="2520932" cy="1574926"/>
          </a:xfrm>
          <a:prstGeom prst="roundRect">
            <a:avLst>
              <a:gd name="adj" fmla="val 7862"/>
            </a:avLst>
          </a:prstGeom>
          <a:solidFill>
            <a:srgbClr val="FFFDF8"/>
          </a:solidFill>
          <a:ln w="6350">
            <a:solidFill>
              <a:srgbClr val="E2DDD0"/>
            </a:solidFill>
            <a:prstDash val="solid"/>
          </a:ln>
        </p:spPr>
      </p:sp>
      <p:sp>
        <p:nvSpPr>
          <p:cNvPr id="21" name="Text 19"/>
          <p:cNvSpPr/>
          <p:nvPr/>
        </p:nvSpPr>
        <p:spPr>
          <a:xfrm>
            <a:off x="931531" y="3466529"/>
            <a:ext cx="2224978"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B8481A"/>
                </a:solidFill>
                <a:latin typeface="Arial" pitchFamily="34" charset="0"/>
                <a:ea typeface="Arial" pitchFamily="34" charset="-122"/>
                <a:cs typeface="Arial" pitchFamily="34" charset="-120"/>
              </a:rPr>
              <a:t>8</a:t>
            </a:r>
            <a:endParaRPr lang="en-US" sz="2000" dirty="0"/>
          </a:p>
        </p:txBody>
      </p:sp>
      <p:sp>
        <p:nvSpPr>
          <p:cNvPr id="22" name="Text 20"/>
          <p:cNvSpPr/>
          <p:nvPr/>
        </p:nvSpPr>
        <p:spPr>
          <a:xfrm>
            <a:off x="931531" y="3784029"/>
            <a:ext cx="2224978"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‫זמן חישוב‬</a:t>
            </a:r>
            <a:endParaRPr lang="en-US" sz="1600" dirty="0"/>
          </a:p>
        </p:txBody>
      </p:sp>
      <p:sp>
        <p:nvSpPr>
          <p:cNvPr id="23" name="Text 21"/>
          <p:cNvSpPr/>
          <p:nvPr/>
        </p:nvSpPr>
        <p:spPr>
          <a:xfrm>
            <a:off x="931531" y="4091335"/>
            <a:ext cx="2224978"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‫צעד לוקח כ-5.4 שניות ב-tiny וכ-84 ב-turbo, ולכן מספר הניסיונות מוגבל בשעות שיש על המחשב‬</a:t>
            </a:r>
            <a:endParaRPr lang="en-US" sz="1200" dirty="0"/>
          </a:p>
        </p:txBody>
      </p:sp>
      <p:sp>
        <p:nvSpPr>
          <p:cNvPr id="24" name="Shape 22"/>
          <p:cNvSpPr/>
          <p:nvPr/>
        </p:nvSpPr>
        <p:spPr>
          <a:xfrm>
            <a:off x="3495585" y="3311587"/>
            <a:ext cx="2521022" cy="1574926"/>
          </a:xfrm>
          <a:prstGeom prst="roundRect">
            <a:avLst>
              <a:gd name="adj" fmla="val 7862"/>
            </a:avLst>
          </a:prstGeom>
          <a:solidFill>
            <a:srgbClr val="FFFDF8"/>
          </a:solidFill>
          <a:ln w="6350">
            <a:solidFill>
              <a:srgbClr val="E2DDD0"/>
            </a:solidFill>
            <a:prstDash val="solid"/>
          </a:ln>
        </p:spPr>
      </p:sp>
      <p:sp>
        <p:nvSpPr>
          <p:cNvPr id="25" name="Text 23"/>
          <p:cNvSpPr/>
          <p:nvPr/>
        </p:nvSpPr>
        <p:spPr>
          <a:xfrm>
            <a:off x="3611157" y="3466529"/>
            <a:ext cx="222507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B8481A"/>
                </a:solidFill>
                <a:latin typeface="Arial" pitchFamily="34" charset="0"/>
                <a:ea typeface="Arial" pitchFamily="34" charset="-122"/>
                <a:cs typeface="Arial" pitchFamily="34" charset="-120"/>
              </a:rPr>
              <a:t>7</a:t>
            </a:r>
            <a:endParaRPr lang="en-US" sz="2000" dirty="0"/>
          </a:p>
        </p:txBody>
      </p:sp>
      <p:sp>
        <p:nvSpPr>
          <p:cNvPr id="26" name="Text 24"/>
          <p:cNvSpPr/>
          <p:nvPr/>
        </p:nvSpPr>
        <p:spPr>
          <a:xfrm>
            <a:off x="3611157" y="3784029"/>
            <a:ext cx="222507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‫צעדים והיפר-פרמטרים‬</a:t>
            </a:r>
            <a:endParaRPr lang="en-US" sz="1600" dirty="0"/>
          </a:p>
        </p:txBody>
      </p:sp>
      <p:sp>
        <p:nvSpPr>
          <p:cNvPr id="27" name="Text 25"/>
          <p:cNvSpPr/>
          <p:nvPr/>
        </p:nvSpPr>
        <p:spPr>
          <a:xfrm>
            <a:off x="3611157" y="4091335"/>
            <a:ext cx="2225071"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‫100 צעדים הם רק כ-6% מ-epoch. החיפוש האוטומטי בוחר קצב למידה‬</a:t>
            </a:r>
            <a:endParaRPr lang="en-US" sz="1200" dirty="0"/>
          </a:p>
        </p:txBody>
      </p:sp>
      <p:sp>
        <p:nvSpPr>
          <p:cNvPr id="28" name="Shape 26"/>
          <p:cNvSpPr/>
          <p:nvPr/>
        </p:nvSpPr>
        <p:spPr>
          <a:xfrm>
            <a:off x="6175303" y="3311587"/>
            <a:ext cx="2521022" cy="1574926"/>
          </a:xfrm>
          <a:prstGeom prst="roundRect">
            <a:avLst>
              <a:gd name="adj" fmla="val 7862"/>
            </a:avLst>
          </a:prstGeom>
          <a:solidFill>
            <a:srgbClr val="FFFDF8"/>
          </a:solidFill>
          <a:ln w="6350">
            <a:solidFill>
              <a:srgbClr val="E2DDD0"/>
            </a:solidFill>
            <a:prstDash val="solid"/>
          </a:ln>
        </p:spPr>
      </p:sp>
      <p:sp>
        <p:nvSpPr>
          <p:cNvPr id="29" name="Text 27"/>
          <p:cNvSpPr/>
          <p:nvPr/>
        </p:nvSpPr>
        <p:spPr>
          <a:xfrm>
            <a:off x="6290874" y="3466529"/>
            <a:ext cx="222507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B8481A"/>
                </a:solidFill>
                <a:latin typeface="Arial" pitchFamily="34" charset="0"/>
                <a:ea typeface="Arial" pitchFamily="34" charset="-122"/>
                <a:cs typeface="Arial" pitchFamily="34" charset="-120"/>
              </a:rPr>
              <a:t>6</a:t>
            </a:r>
            <a:endParaRPr lang="en-US" sz="2000" dirty="0"/>
          </a:p>
        </p:txBody>
      </p:sp>
      <p:sp>
        <p:nvSpPr>
          <p:cNvPr id="30" name="Text 28"/>
          <p:cNvSpPr/>
          <p:nvPr/>
        </p:nvSpPr>
        <p:spPr>
          <a:xfrm>
            <a:off x="6290874" y="3784029"/>
            <a:ext cx="222507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‫סט בדיקה מייצג‬</a:t>
            </a:r>
            <a:endParaRPr lang="en-US" sz="1600" dirty="0"/>
          </a:p>
        </p:txBody>
      </p:sp>
      <p:sp>
        <p:nvSpPr>
          <p:cNvPr id="31" name="Text 29"/>
          <p:cNvSpPr/>
          <p:nvPr/>
        </p:nvSpPr>
        <p:spPr>
          <a:xfrm>
            <a:off x="6290874" y="4091335"/>
            <a:ext cx="2225071"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‫Val ו-Test חייבים לשקף הקלטות אמיתיות: אותם רעשים, דוברים וסגנון‬</a:t>
            </a:r>
            <a:endParaRPr lang="en-US" sz="1200" dirty="0"/>
          </a:p>
        </p:txBody>
      </p:sp>
      <p:sp>
        <p:nvSpPr>
          <p:cNvPr id="32" name="Shape 30"/>
          <p:cNvSpPr/>
          <p:nvPr/>
        </p:nvSpPr>
        <p:spPr>
          <a:xfrm>
            <a:off x="8855021" y="3311587"/>
            <a:ext cx="2521022" cy="1574926"/>
          </a:xfrm>
          <a:prstGeom prst="roundRect">
            <a:avLst>
              <a:gd name="adj" fmla="val 7862"/>
            </a:avLst>
          </a:prstGeom>
          <a:solidFill>
            <a:srgbClr val="FFFDF8"/>
          </a:solidFill>
          <a:ln w="6350">
            <a:solidFill>
              <a:srgbClr val="E2DDD0"/>
            </a:solidFill>
            <a:prstDash val="solid"/>
          </a:ln>
        </p:spPr>
      </p:sp>
      <p:sp>
        <p:nvSpPr>
          <p:cNvPr id="33" name="Text 31"/>
          <p:cNvSpPr/>
          <p:nvPr/>
        </p:nvSpPr>
        <p:spPr>
          <a:xfrm>
            <a:off x="8970593" y="3466529"/>
            <a:ext cx="2225071"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B8481A"/>
                </a:solidFill>
                <a:latin typeface="Arial" pitchFamily="34" charset="0"/>
                <a:ea typeface="Arial" pitchFamily="34" charset="-122"/>
                <a:cs typeface="Arial" pitchFamily="34" charset="-120"/>
              </a:rPr>
              <a:t>5</a:t>
            </a:r>
            <a:endParaRPr lang="en-US" sz="2000" dirty="0"/>
          </a:p>
        </p:txBody>
      </p:sp>
      <p:sp>
        <p:nvSpPr>
          <p:cNvPr id="34" name="Text 32"/>
          <p:cNvSpPr/>
          <p:nvPr/>
        </p:nvSpPr>
        <p:spPr>
          <a:xfrm>
            <a:off x="8970593" y="3784029"/>
            <a:ext cx="2225071"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0F2233"/>
                </a:solidFill>
                <a:latin typeface="Arial" pitchFamily="34" charset="0"/>
                <a:ea typeface="Arial" pitchFamily="34" charset="-122"/>
                <a:cs typeface="Arial" pitchFamily="34" charset="-120"/>
              </a:rPr>
              <a:t>‫נרמול טקסט‬</a:t>
            </a:r>
            <a:endParaRPr lang="en-US" sz="1600" dirty="0"/>
          </a:p>
        </p:txBody>
      </p:sp>
      <p:sp>
        <p:nvSpPr>
          <p:cNvPr id="35" name="Text 33"/>
          <p:cNvSpPr/>
          <p:nvPr/>
        </p:nvSpPr>
        <p:spPr>
          <a:xfrm>
            <a:off x="8970593" y="4091335"/>
            <a:ext cx="2225071"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‫קובע מה נחשב שגיאה. שינוי כללים דורש גרסה חדשה, כי אי אפשר להשוות בין גרסאות‬</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‫עבודה עם התוצאות‬</a:t>
            </a:r>
            <a:endParaRPr lang="en-US" sz="1200" dirty="0"/>
          </a:p>
        </p:txBody>
      </p:sp>
      <p:sp>
        <p:nvSpPr>
          <p:cNvPr id="3" name="Text 1"/>
          <p:cNvSpPr/>
          <p:nvPr>
            <p:ph type="title"/>
          </p:nvPr>
        </p:nvSpPr>
        <p:spPr>
          <a:xfrm>
            <a:off x="495789" y="9245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‫איך מאמנים, מנתחים ומחליטים מה לשנות‬</a:t>
            </a:r>
            <a:endParaRPr lang="en-US" sz="3200" dirty="0"/>
          </a:p>
        </p:txBody>
      </p:sp>
      <p:sp>
        <p:nvSpPr>
          <p:cNvPr id="4" name="Text 2"/>
          <p:cNvSpPr/>
          <p:nvPr/>
        </p:nvSpPr>
        <p:spPr>
          <a:xfrm>
            <a:off x="812782" y="1523913"/>
            <a:ext cx="1828962" cy="443147"/>
          </a:xfrm>
          <a:prstGeom prst="roundRect">
            <a:avLst>
              <a:gd name="adj" fmla="val 28659"/>
            </a:avLst>
          </a:prstGeom>
          <a:solidFill>
            <a:srgbClr val="E9E5D8"/>
          </a:solidFill>
          <a:ln/>
        </p:spPr>
        <p:txBody>
          <a:bodyPr wrap="square" lIns="26303" tIns="77103" rIns="2630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‫מריצים שוב‬</a:t>
            </a:r>
            <a:endParaRPr lang="en-US" sz="1300" dirty="0"/>
          </a:p>
        </p:txBody>
      </p:sp>
      <p:pic>
        <p:nvPicPr>
          <p:cNvPr id="5" name="Image 0" descr="arrow-left">    </p:cNvPr>
          <p:cNvPicPr>
            <a:picLocks noChangeAspect="1"/>
          </p:cNvPicPr>
          <p:nvPr/>
        </p:nvPicPr>
        <p:blipFill>
          <a:blip r:embed="rId1"/>
          <a:srcRect l="-8" r="-8" t="0" b="0"/>
          <a:stretch/>
        </p:blipFill>
        <p:spPr>
          <a:xfrm>
            <a:off x="2717872" y="1675631"/>
            <a:ext cx="203128" cy="139628"/>
          </a:xfrm>
          <a:prstGeom prst="rect">
            <a:avLst/>
          </a:prstGeom>
        </p:spPr>
      </p:pic>
      <p:sp>
        <p:nvSpPr>
          <p:cNvPr id="6" name="Text 3"/>
          <p:cNvSpPr/>
          <p:nvPr/>
        </p:nvSpPr>
        <p:spPr>
          <a:xfrm>
            <a:off x="2997128" y="1523913"/>
            <a:ext cx="1829053" cy="443147"/>
          </a:xfrm>
          <a:prstGeom prst="roundRect">
            <a:avLst>
              <a:gd name="adj" fmla="val 28659"/>
            </a:avLst>
          </a:prstGeom>
          <a:solidFill>
            <a:srgbClr val="E1EEEB"/>
          </a:solidFill>
          <a:ln/>
        </p:spPr>
        <p:txBody>
          <a:bodyPr wrap="square" lIns="26303" tIns="77103" rIns="2630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‫משנים דבר אחד‬</a:t>
            </a:r>
            <a:endParaRPr lang="en-US" sz="1300" dirty="0"/>
          </a:p>
        </p:txBody>
      </p:sp>
      <p:pic>
        <p:nvPicPr>
          <p:cNvPr id="7" name="Image 1" descr="arrow-left">    </p:cNvPr>
          <p:cNvPicPr>
            <a:picLocks noChangeAspect="1"/>
          </p:cNvPicPr>
          <p:nvPr/>
        </p:nvPicPr>
        <p:blipFill>
          <a:blip r:embed="rId2"/>
          <a:srcRect l="-8" r="-8" t="0" b="0"/>
          <a:stretch/>
        </p:blipFill>
        <p:spPr>
          <a:xfrm>
            <a:off x="4902308" y="1675631"/>
            <a:ext cx="203128" cy="139628"/>
          </a:xfrm>
          <a:prstGeom prst="rect">
            <a:avLst/>
          </a:prstGeom>
        </p:spPr>
      </p:pic>
      <p:sp>
        <p:nvSpPr>
          <p:cNvPr id="8" name="Text 4"/>
          <p:cNvSpPr/>
          <p:nvPr/>
        </p:nvSpPr>
        <p:spPr>
          <a:xfrm>
            <a:off x="5181564" y="1523913"/>
            <a:ext cx="1828962" cy="443147"/>
          </a:xfrm>
          <a:prstGeom prst="roundRect">
            <a:avLst>
              <a:gd name="adj" fmla="val 28659"/>
            </a:avLst>
          </a:prstGeom>
          <a:solidFill>
            <a:srgbClr val="E9E5D8"/>
          </a:solidFill>
          <a:ln/>
        </p:spPr>
        <p:txBody>
          <a:bodyPr wrap="square" lIns="26303" tIns="77103" rIns="2630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‫מאבחנים‬</a:t>
            </a:r>
            <a:endParaRPr lang="en-US" sz="1300" dirty="0"/>
          </a:p>
        </p:txBody>
      </p:sp>
      <p:pic>
        <p:nvPicPr>
          <p:cNvPr id="9" name="Image 2" descr="arrow-left">    </p:cNvPr>
          <p:cNvPicPr>
            <a:picLocks noChangeAspect="1"/>
          </p:cNvPicPr>
          <p:nvPr/>
        </p:nvPicPr>
        <p:blipFill>
          <a:blip r:embed="rId3"/>
          <a:srcRect l="-8" r="-8" t="0" b="0"/>
          <a:stretch/>
        </p:blipFill>
        <p:spPr>
          <a:xfrm>
            <a:off x="7086653" y="1675631"/>
            <a:ext cx="203128" cy="139628"/>
          </a:xfrm>
          <a:prstGeom prst="rect">
            <a:avLst/>
          </a:prstGeom>
        </p:spPr>
      </p:pic>
      <p:sp>
        <p:nvSpPr>
          <p:cNvPr id="10" name="Text 5"/>
          <p:cNvSpPr/>
          <p:nvPr/>
        </p:nvSpPr>
        <p:spPr>
          <a:xfrm>
            <a:off x="7365909" y="1523913"/>
            <a:ext cx="1828962" cy="443147"/>
          </a:xfrm>
          <a:prstGeom prst="roundRect">
            <a:avLst>
              <a:gd name="adj" fmla="val 28659"/>
            </a:avLst>
          </a:prstGeom>
          <a:solidFill>
            <a:srgbClr val="E9E5D8"/>
          </a:solidFill>
          <a:ln/>
        </p:spPr>
        <p:txBody>
          <a:bodyPr wrap="square" lIns="26303" tIns="77103" rIns="2630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‫קוראים את הדוח‬</a:t>
            </a:r>
            <a:endParaRPr lang="en-US" sz="1300" dirty="0"/>
          </a:p>
        </p:txBody>
      </p:sp>
      <p:pic>
        <p:nvPicPr>
          <p:cNvPr id="11" name="Image 3" descr="arrow-left">    </p:cNvPr>
          <p:cNvPicPr>
            <a:picLocks noChangeAspect="1"/>
          </p:cNvPicPr>
          <p:nvPr/>
        </p:nvPicPr>
        <p:blipFill>
          <a:blip r:embed="rId4"/>
          <a:srcRect l="-8" r="-8" t="0" b="0"/>
          <a:stretch/>
        </p:blipFill>
        <p:spPr>
          <a:xfrm>
            <a:off x="9271000" y="1675631"/>
            <a:ext cx="203128" cy="139628"/>
          </a:xfrm>
          <a:prstGeom prst="rect">
            <a:avLst/>
          </a:prstGeom>
        </p:spPr>
      </p:pic>
      <p:sp>
        <p:nvSpPr>
          <p:cNvPr id="12" name="Text 6"/>
          <p:cNvSpPr/>
          <p:nvPr/>
        </p:nvSpPr>
        <p:spPr>
          <a:xfrm>
            <a:off x="9550255" y="1523913"/>
            <a:ext cx="1828962" cy="443147"/>
          </a:xfrm>
          <a:prstGeom prst="roundRect">
            <a:avLst>
              <a:gd name="adj" fmla="val 28659"/>
            </a:avLst>
          </a:prstGeom>
          <a:solidFill>
            <a:srgbClr val="E9E5D8"/>
          </a:solidFill>
          <a:ln/>
        </p:spPr>
        <p:txBody>
          <a:bodyPr wrap="square" lIns="26303" tIns="77103" rIns="26303" bIns="51703" rtlCol="0" anchor="t">
            <a:normAutofit/>
          </a:bodyPr>
          <a:lstStyle/>
          <a:p>
            <a:pPr algn="ctr" indent="0" marL="0">
              <a:lnSpc>
                <a:spcPts val="1690"/>
              </a:lnSpc>
              <a:buNone/>
            </a:pPr>
            <a:r>
              <a:rPr lang="en-US" sz="1300" b="1" dirty="0">
                <a:solidFill>
                  <a:srgbClr val="0F2233"/>
                </a:solidFill>
                <a:latin typeface="Arial" pitchFamily="34" charset="0"/>
                <a:ea typeface="Arial" pitchFamily="34" charset="-122"/>
                <a:cs typeface="Arial" pitchFamily="34" charset="-120"/>
              </a:rPr>
              <a:t>‫מריצים‬</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4327" y="2130957"/>
          <a:ext cx="10554890" cy="2692887"/>
        </p:xfrm>
        <a:graphic>
          <a:graphicData uri="http://schemas.openxmlformats.org/drawingml/2006/table">
            <a:tbl>
              <a:tblPr/>
              <a:tblGrid>
                <a:gridCol w="5277445"/>
                <a:gridCol w="5277445"/>
              </a:tblGrid>
              <a:tr h="384698">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‫מה משנים‬</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960"/>
                        </a:lnSpc>
                        <a:buNone/>
                      </a:pPr>
                      <a:r>
                        <a:rPr lang="en-US" sz="1400" b="1" dirty="0">
                          <a:solidFill>
                            <a:srgbClr val="F6F4EE"/>
                          </a:solidFill>
                          <a:latin typeface="Arial" pitchFamily="34" charset="0"/>
                          <a:ea typeface="Arial" pitchFamily="34" charset="-122"/>
                          <a:cs typeface="Arial" pitchFamily="34" charset="-120"/>
                        </a:rPr>
                        <a:t>‫מה רואים בדוח‬</a:t>
                      </a:r>
                      <a:endParaRPr lang="en-US" sz="1400" dirty="0">
                        <a:latin typeface="Arial" charset="0"/>
                        <a:ea typeface="Arial" charset="0"/>
                        <a:cs typeface="Arial" charset="0"/>
                      </a:endParaRPr>
                    </a:p>
                  </a:txBody>
                  <a:tcPr marL="62230" marR="62230" marT="62230" marB="62230"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‫יותר צעדים, או קצב גבוה יותר‬</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Val loss ‫יורד עד הסוף‬</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‫פחות צעדים, קצב נמוך, הקפאת האנקודר‬</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Val loss ‫עולה בזמן ש-train יורד‬</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‫קצב נמוך מדי, או בעיה בתוויות‬</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‫שני ה-loss שטוחים‬</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‫להרחיב את הטווח‬</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‫הטוב ביותר בקצה הטווח‬</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‫לבדוק פלט ריק או לולאות ברשימת ההאזנה‬</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loss ‫טוב אבל WER גרוע‬</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4698">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‫יותר קבוצות, או K-fold‬</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960"/>
                        </a:lnSpc>
                        <a:buNone/>
                      </a:pPr>
                      <a:r>
                        <a:rPr lang="en-US" sz="1400" dirty="0">
                          <a:solidFill>
                            <a:srgbClr val="0F2233"/>
                          </a:solidFill>
                          <a:latin typeface="Arial" pitchFamily="34" charset="0"/>
                          <a:ea typeface="Arial" pitchFamily="34" charset="-122"/>
                          <a:cs typeface="Arial" pitchFamily="34" charset="-120"/>
                        </a:rPr>
                        <a:t>‫"אין הבדל ברור" וטווח רחב‬</a:t>
                      </a:r>
                      <a:endParaRPr lang="en-US" sz="1400" dirty="0">
                        <a:latin typeface="Arial" charset="0"/>
                        <a:ea typeface="Arial" charset="0"/>
                        <a:cs typeface="Arial" charset="0"/>
                      </a:endParaRPr>
                    </a:p>
                  </a:txBody>
                  <a:tcPr marL="62230" marR="62230" marT="62230" marB="62230"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
        <p:nvSpPr>
          <p:cNvPr id="14" name="Text 7"/>
          <p:cNvSpPr/>
          <p:nvPr/>
        </p:nvSpPr>
        <p:spPr>
          <a:xfrm>
            <a:off x="812782" y="4976192"/>
            <a:ext cx="10566436" cy="502859"/>
          </a:xfrm>
          <a:prstGeom prst="roundRect">
            <a:avLst>
              <a:gd name="adj" fmla="val 25256"/>
            </a:avLst>
          </a:prstGeom>
          <a:solidFill>
            <a:srgbClr val="1F6F6F"/>
          </a:solidFill>
          <a:ln/>
        </p:spPr>
        <p:txBody>
          <a:bodyPr wrap="square" lIns="0" tIns="89803" rIns="166003" bIns="64403" rtlCol="0" anchor="t">
            <a:normAutofit/>
          </a:bodyPr>
          <a:lstStyle/>
          <a:p>
            <a:pPr algn="r" indent="0" marL="0">
              <a:lnSpc>
                <a:spcPts val="1960"/>
              </a:lnSpc>
              <a:buNone/>
            </a:pPr>
            <a:r>
              <a:rPr lang="en-US" sz="1400" b="1" dirty="0">
                <a:solidFill>
                  <a:srgbClr val="FFFDF8"/>
                </a:solidFill>
                <a:latin typeface="Arial" pitchFamily="34" charset="0"/>
                <a:ea typeface="Arial" pitchFamily="34" charset="-122"/>
                <a:cs typeface="Arial" pitchFamily="34" charset="-120"/>
              </a:rPr>
              <a:t>‫משנים דבר אחד בכל סבב, אחרת לא יודעים מה גרם לשינוי‬</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‫שימוש בפועל‬</a:t>
            </a:r>
            <a:endParaRPr lang="en-US" sz="1200" dirty="0"/>
          </a:p>
        </p:txBody>
      </p:sp>
      <p:sp>
        <p:nvSpPr>
          <p:cNvPr id="3" name="Text 1"/>
          <p:cNvSpPr/>
          <p:nvPr>
            <p:ph type="title"/>
          </p:nvPr>
        </p:nvSpPr>
        <p:spPr>
          <a:xfrm>
            <a:off x="495789" y="949982"/>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‫איך מריצים: חמש פקודות‬</a:t>
            </a:r>
            <a:endParaRPr lang="en-US" sz="3200" dirty="0"/>
          </a:p>
        </p:txBody>
      </p:sp>
      <p:sp>
        <p:nvSpPr>
          <p:cNvPr id="4" name="Shape 2"/>
          <p:cNvSpPr/>
          <p:nvPr/>
        </p:nvSpPr>
        <p:spPr>
          <a:xfrm>
            <a:off x="812782" y="1574788"/>
            <a:ext cx="10566436" cy="919487"/>
          </a:xfrm>
          <a:prstGeom prst="roundRect">
            <a:avLst>
              <a:gd name="adj" fmla="val 11050"/>
            </a:avLst>
          </a:prstGeom>
          <a:solidFill>
            <a:srgbClr val="0F2233"/>
          </a:solidFill>
          <a:ln/>
        </p:spPr>
      </p:sp>
      <p:sp>
        <p:nvSpPr>
          <p:cNvPr id="5" name="Text 3"/>
          <p:cNvSpPr/>
          <p:nvPr/>
        </p:nvSpPr>
        <p:spPr>
          <a:xfrm>
            <a:off x="990564" y="1689075"/>
            <a:ext cx="10517198"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cd &lt;project-folder&gt;</a:t>
            </a:r>
            <a:endParaRPr lang="en-US" sz="1200" dirty="0"/>
          </a:p>
        </p:txBody>
      </p:sp>
      <p:sp>
        <p:nvSpPr>
          <p:cNvPr id="6" name="Text 4"/>
          <p:cNvSpPr/>
          <p:nvPr/>
        </p:nvSpPr>
        <p:spPr>
          <a:xfrm>
            <a:off x="990564" y="1927820"/>
            <a:ext cx="10517198"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.\.venv\Scripts\Activate.ps1</a:t>
            </a:r>
            <a:endParaRPr lang="en-US" sz="1200" dirty="0"/>
          </a:p>
        </p:txBody>
      </p:sp>
      <p:sp>
        <p:nvSpPr>
          <p:cNvPr id="7" name="Text 5"/>
          <p:cNvSpPr/>
          <p:nvPr/>
        </p:nvSpPr>
        <p:spPr>
          <a:xfrm>
            <a:off x="990564" y="2166578"/>
            <a:ext cx="10517198"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0C4"/>
                </a:solidFill>
                <a:latin typeface="Courier New" pitchFamily="49" charset="0"/>
                <a:ea typeface="Courier New" pitchFamily="49" charset="-122"/>
                <a:cs typeface="Courier New" pitchFamily="49" charset="-120"/>
              </a:rPr>
              <a:t>$env:PYTHONPATH = "src" ; $cfg = "configs\my_work.yaml"</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327" y="2683606"/>
          <a:ext cx="10554890" cy="2148537"/>
        </p:xfrm>
        <a:graphic>
          <a:graphicData uri="http://schemas.openxmlformats.org/drawingml/2006/table">
            <a:tbl>
              <a:tblPr/>
              <a:tblGrid>
                <a:gridCol w="1688782"/>
                <a:gridCol w="3588663"/>
                <a:gridCol w="4221956"/>
                <a:gridCol w="1055489"/>
              </a:tblGrid>
              <a:tr h="358089">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‫זמן‬</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‫מה עושה‬</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820"/>
                        </a:lnSpc>
                        <a:buNone/>
                      </a:pPr>
                      <a:r>
                        <a:rPr lang="en-US" sz="1300" b="1" dirty="0">
                          <a:solidFill>
                            <a:srgbClr val="F6F4EE"/>
                          </a:solidFill>
                          <a:latin typeface="Arial" pitchFamily="34" charset="0"/>
                          <a:ea typeface="Arial" pitchFamily="34" charset="-122"/>
                          <a:cs typeface="Arial" pitchFamily="34" charset="-120"/>
                        </a:rPr>
                        <a:t>‫פקודה‬</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820"/>
                        </a:lnSpc>
                        <a:buNone/>
                      </a:pPr>
                      <a:r>
                        <a:rPr lang="en-US" sz="1300" b="1" dirty="0">
                          <a:solidFill>
                            <a:srgbClr val="F6F4EE"/>
                          </a:solidFill>
                          <a:latin typeface="Arial" pitchFamily="34" charset="0"/>
                          <a:ea typeface="Arial" pitchFamily="34" charset="-122"/>
                          <a:cs typeface="Arial" pitchFamily="34" charset="-120"/>
                        </a:rPr>
                        <a:t>‫שלב‬</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‫שניות‬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‫בדיקת סביבה, מודל, נתונים ודיסק‬</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python -m stt check --config $cfg</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‫כדקה‬</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‫בדיקת מכניקה על נתונים סינתטיים‬</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python -m stt smoke --full</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‫כ-10 שניות‬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‫הכנת נתונים ודוחות לקריאה‬</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python -m stt prepare --config $cfg</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‫כ-2 דקות‬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‫מדידת זמן, זיכרון ומקום (פעמיים)‬</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python -m stt benchmark --config $cfg</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‫דקות עד שעות‬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‫הכול מקצה לקצה, כולל ייצוא‬</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python -m stt run --config $cfg</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B4BEBB"/>
                      </a:solidFill>
                      <a:prstDash val="solid"/>
                      <a:round/>
                      <a:headEnd type="none" w="med" len="med"/>
                      <a:tailEnd type="none" w="med" len="med"/>
                    </a:lnL>
                    <a:lnR w="12700" cap="flat" cmpd="sng" algn="ctr">
                      <a:solidFill>
                        <a:srgbClr val="B4BEBB"/>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B4BEBB"/>
                      </a:solidFill>
                      <a:prstDash val="solid"/>
                      <a:round/>
                      <a:headEnd type="none" w="med" len="med"/>
                      <a:tailEnd type="none" w="med" len="med"/>
                    </a:lnB>
                    <a:solidFill>
                      <a:srgbClr val="E1EEEB"/>
                    </a:solidFill>
                  </a:tcPr>
                </a:tc>
              </a:tr>
            </a:tbl>
          </a:graphicData>
        </a:graphic>
      </p:graphicFrame>
      <p:sp>
        <p:nvSpPr>
          <p:cNvPr id="9" name="Text 6"/>
          <p:cNvSpPr/>
          <p:nvPr/>
        </p:nvSpPr>
        <p:spPr>
          <a:xfrm>
            <a:off x="815957" y="5013102"/>
            <a:ext cx="5200650" cy="686016"/>
          </a:xfrm>
          <a:prstGeom prst="roundRect">
            <a:avLst>
              <a:gd name="adj" fmla="val 14347"/>
            </a:avLst>
          </a:prstGeom>
          <a:solidFill>
            <a:srgbClr val="FFFDF8"/>
          </a:solidFill>
          <a:ln w="6350">
            <a:solidFill>
              <a:srgbClr val="E2DDD0"/>
            </a:solidFill>
            <a:prstDash val="solid"/>
          </a:ln>
        </p:spPr>
        <p:txBody>
          <a:bodyPr wrap="square" lIns="0"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‫קודי יציאה: 0 הצלחה (גם כשהבייסליין נשאר), 2 הגדרות, 3 נתונים, 4 אימון או הערכה, 5 ייצוא, 130 הופסק‬</a:t>
            </a:r>
            <a:endParaRPr lang="en-US" sz="1200" dirty="0"/>
          </a:p>
        </p:txBody>
      </p:sp>
      <p:sp>
        <p:nvSpPr>
          <p:cNvPr id="10" name="Text 7"/>
          <p:cNvSpPr/>
          <p:nvPr/>
        </p:nvSpPr>
        <p:spPr>
          <a:xfrm>
            <a:off x="6175303" y="5013102"/>
            <a:ext cx="5200740" cy="686016"/>
          </a:xfrm>
          <a:prstGeom prst="roundRect">
            <a:avLst>
              <a:gd name="adj" fmla="val 14347"/>
            </a:avLst>
          </a:prstGeom>
          <a:solidFill>
            <a:srgbClr val="FFFDF8"/>
          </a:solidFill>
          <a:ln w="6350">
            <a:solidFill>
              <a:srgbClr val="E2DDD0"/>
            </a:solidFill>
            <a:prstDash val="solid"/>
          </a:ln>
        </p:spPr>
        <p:txBody>
          <a:bodyPr wrap="square" lIns="0" tIns="100770" rIns="126170" bIns="753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‫לעצור: Ctrl+C פעם אחת על הפקודה הרגילה, בלי Tee-Object. להמשיך: --experiment exp_NNNN‬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88"/>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3" name="Text 1"/>
          <p:cNvSpPr/>
          <p:nvPr>
            <p:ph type="title"/>
          </p:nvPr>
        </p:nvSpPr>
        <p:spPr>
          <a:xfrm>
            <a:off x="495789" y="949982"/>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‫מה עושה run, ואיפה רואים את התוצאה‬</a:t>
            </a:r>
            <a:endParaRPr lang="en-US" sz="3200" dirty="0"/>
          </a:p>
        </p:txBody>
      </p:sp>
      <p:sp>
        <p:nvSpPr>
          <p:cNvPr id="4" name="Shape 2"/>
          <p:cNvSpPr/>
          <p:nvPr/>
        </p:nvSpPr>
        <p:spPr>
          <a:xfrm>
            <a:off x="812782" y="1574788"/>
            <a:ext cx="1829774" cy="877545"/>
          </a:xfrm>
          <a:prstGeom prst="roundRect">
            <a:avLst>
              <a:gd name="adj" fmla="val 11578"/>
            </a:avLst>
          </a:prstGeom>
          <a:solidFill>
            <a:srgbClr val="0F2233"/>
          </a:solidFill>
          <a:ln/>
        </p:spPr>
      </p:sp>
      <p:sp>
        <p:nvSpPr>
          <p:cNvPr id="5" name="Text 3"/>
          <p:cNvSpPr/>
          <p:nvPr/>
        </p:nvSpPr>
        <p:spPr>
          <a:xfrm>
            <a:off x="876264" y="1676350"/>
            <a:ext cx="165201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6FD0C4"/>
                </a:solidFill>
                <a:latin typeface="Arial" pitchFamily="34" charset="0"/>
                <a:ea typeface="Arial" pitchFamily="34" charset="-122"/>
                <a:cs typeface="Arial" pitchFamily="34" charset="-120"/>
              </a:rPr>
              <a:t>‫5 · בחירה‬</a:t>
            </a:r>
            <a:endParaRPr lang="en-US" sz="1400" dirty="0"/>
          </a:p>
        </p:txBody>
      </p:sp>
      <p:sp>
        <p:nvSpPr>
          <p:cNvPr id="6" name="Text 4"/>
          <p:cNvSpPr/>
          <p:nvPr/>
        </p:nvSpPr>
        <p:spPr>
          <a:xfrm>
            <a:off x="876264" y="1927733"/>
            <a:ext cx="1652010"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‫המנצח נבחן פעם אחת ב-Test, נרשם ומיוצא‬</a:t>
            </a:r>
            <a:endParaRPr lang="en-US" sz="1200" dirty="0"/>
          </a:p>
        </p:txBody>
      </p:sp>
      <p:pic>
        <p:nvPicPr>
          <p:cNvPr id="7" name="Image 0" descr="arrow-left">    </p:cNvPr>
          <p:cNvPicPr>
            <a:picLocks noChangeAspect="1"/>
          </p:cNvPicPr>
          <p:nvPr/>
        </p:nvPicPr>
        <p:blipFill>
          <a:blip r:embed="rId1"/>
          <a:srcRect l="-26" r="-26" t="0" b="0"/>
          <a:stretch/>
        </p:blipFill>
        <p:spPr>
          <a:xfrm>
            <a:off x="2718684" y="1943695"/>
            <a:ext cx="190500" cy="139628"/>
          </a:xfrm>
          <a:prstGeom prst="rect">
            <a:avLst/>
          </a:prstGeom>
        </p:spPr>
      </p:pic>
      <p:sp>
        <p:nvSpPr>
          <p:cNvPr id="8" name="Shape 5"/>
          <p:cNvSpPr/>
          <p:nvPr/>
        </p:nvSpPr>
        <p:spPr>
          <a:xfrm>
            <a:off x="2988487" y="1577963"/>
            <a:ext cx="1835060" cy="871195"/>
          </a:xfrm>
          <a:prstGeom prst="roundRect">
            <a:avLst>
              <a:gd name="adj" fmla="val 11298"/>
            </a:avLst>
          </a:prstGeom>
          <a:solidFill>
            <a:srgbClr val="FFFDF8"/>
          </a:solidFill>
          <a:ln w="6350">
            <a:solidFill>
              <a:srgbClr val="E2DDD0"/>
            </a:solidFill>
            <a:prstDash val="solid"/>
          </a:ln>
        </p:spPr>
      </p:sp>
      <p:sp>
        <p:nvSpPr>
          <p:cNvPr id="9" name="Text 6"/>
          <p:cNvSpPr/>
          <p:nvPr/>
        </p:nvSpPr>
        <p:spPr>
          <a:xfrm>
            <a:off x="3054566" y="1682117"/>
            <a:ext cx="165210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F6F6F"/>
                </a:solidFill>
                <a:latin typeface="Arial" pitchFamily="34" charset="0"/>
                <a:ea typeface="Arial" pitchFamily="34" charset="-122"/>
                <a:cs typeface="Arial" pitchFamily="34" charset="-120"/>
              </a:rPr>
              <a:t>‫4 · מועמדים‬</a:t>
            </a:r>
            <a:endParaRPr lang="en-US" sz="1400" dirty="0"/>
          </a:p>
        </p:txBody>
      </p:sp>
      <p:sp>
        <p:nvSpPr>
          <p:cNvPr id="10" name="Text 7"/>
          <p:cNvSpPr/>
          <p:nvPr/>
        </p:nvSpPr>
        <p:spPr>
          <a:xfrm>
            <a:off x="3054566" y="1933513"/>
            <a:ext cx="1652100"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‫המובילים מאומנים מחדש על כל Train ונמדדים‬</a:t>
            </a:r>
            <a:endParaRPr lang="en-US" sz="1200" dirty="0"/>
          </a:p>
        </p:txBody>
      </p:sp>
      <p:pic>
        <p:nvPicPr>
          <p:cNvPr id="11" name="Image 1" descr="arrow-left">    </p:cNvPr>
          <p:cNvPicPr>
            <a:picLocks noChangeAspect="1"/>
          </p:cNvPicPr>
          <p:nvPr/>
        </p:nvPicPr>
        <p:blipFill>
          <a:blip r:embed="rId2"/>
          <a:srcRect l="-26" r="-26" t="0" b="0"/>
          <a:stretch/>
        </p:blipFill>
        <p:spPr>
          <a:xfrm>
            <a:off x="4902849" y="1943695"/>
            <a:ext cx="190500" cy="139628"/>
          </a:xfrm>
          <a:prstGeom prst="rect">
            <a:avLst/>
          </a:prstGeom>
        </p:spPr>
      </p:pic>
      <p:sp>
        <p:nvSpPr>
          <p:cNvPr id="12" name="Shape 8"/>
          <p:cNvSpPr/>
          <p:nvPr/>
        </p:nvSpPr>
        <p:spPr>
          <a:xfrm>
            <a:off x="5172652" y="1577963"/>
            <a:ext cx="1835060" cy="871195"/>
          </a:xfrm>
          <a:prstGeom prst="roundRect">
            <a:avLst>
              <a:gd name="adj" fmla="val 11298"/>
            </a:avLst>
          </a:prstGeom>
          <a:solidFill>
            <a:srgbClr val="FFFDF8"/>
          </a:solidFill>
          <a:ln w="6350">
            <a:solidFill>
              <a:srgbClr val="E2DDD0"/>
            </a:solidFill>
            <a:prstDash val="solid"/>
          </a:ln>
        </p:spPr>
      </p:sp>
      <p:sp>
        <p:nvSpPr>
          <p:cNvPr id="13" name="Text 9"/>
          <p:cNvSpPr/>
          <p:nvPr/>
        </p:nvSpPr>
        <p:spPr>
          <a:xfrm>
            <a:off x="5238732" y="1682117"/>
            <a:ext cx="165210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F6F6F"/>
                </a:solidFill>
                <a:latin typeface="Arial" pitchFamily="34" charset="0"/>
                <a:ea typeface="Arial" pitchFamily="34" charset="-122"/>
                <a:cs typeface="Arial" pitchFamily="34" charset="-120"/>
              </a:rPr>
              <a:t>‫3 · חיפוש‬</a:t>
            </a:r>
            <a:endParaRPr lang="en-US" sz="1400" dirty="0"/>
          </a:p>
        </p:txBody>
      </p:sp>
      <p:sp>
        <p:nvSpPr>
          <p:cNvPr id="14" name="Text 10"/>
          <p:cNvSpPr/>
          <p:nvPr/>
        </p:nvSpPr>
        <p:spPr>
          <a:xfrm>
            <a:off x="5238732" y="1933513"/>
            <a:ext cx="1652100"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‫ניסויים קצרים על תת-קבוצה קטנה‬</a:t>
            </a:r>
            <a:endParaRPr lang="en-US" sz="1200" dirty="0"/>
          </a:p>
        </p:txBody>
      </p:sp>
      <p:pic>
        <p:nvPicPr>
          <p:cNvPr id="15" name="Image 2" descr="arrow-left">    </p:cNvPr>
          <p:cNvPicPr>
            <a:picLocks noChangeAspect="1"/>
          </p:cNvPicPr>
          <p:nvPr/>
        </p:nvPicPr>
        <p:blipFill>
          <a:blip r:embed="rId3"/>
          <a:srcRect l="-26" r="-26" t="0" b="0"/>
          <a:stretch/>
        </p:blipFill>
        <p:spPr>
          <a:xfrm>
            <a:off x="7087015" y="1943695"/>
            <a:ext cx="190500" cy="139628"/>
          </a:xfrm>
          <a:prstGeom prst="rect">
            <a:avLst/>
          </a:prstGeom>
        </p:spPr>
      </p:pic>
      <p:sp>
        <p:nvSpPr>
          <p:cNvPr id="16" name="Shape 11"/>
          <p:cNvSpPr/>
          <p:nvPr/>
        </p:nvSpPr>
        <p:spPr>
          <a:xfrm>
            <a:off x="7356818" y="1577963"/>
            <a:ext cx="1835060" cy="871195"/>
          </a:xfrm>
          <a:prstGeom prst="roundRect">
            <a:avLst>
              <a:gd name="adj" fmla="val 11298"/>
            </a:avLst>
          </a:prstGeom>
          <a:solidFill>
            <a:srgbClr val="FFFDF8"/>
          </a:solidFill>
          <a:ln w="6350">
            <a:solidFill>
              <a:srgbClr val="E2DDD0"/>
            </a:solidFill>
            <a:prstDash val="solid"/>
          </a:ln>
        </p:spPr>
      </p:sp>
      <p:sp>
        <p:nvSpPr>
          <p:cNvPr id="17" name="Text 12"/>
          <p:cNvSpPr/>
          <p:nvPr/>
        </p:nvSpPr>
        <p:spPr>
          <a:xfrm>
            <a:off x="7422897" y="1682117"/>
            <a:ext cx="165210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F6F6F"/>
                </a:solidFill>
                <a:latin typeface="Arial" pitchFamily="34" charset="0"/>
                <a:ea typeface="Arial" pitchFamily="34" charset="-122"/>
                <a:cs typeface="Arial" pitchFamily="34" charset="-120"/>
              </a:rPr>
              <a:t>‫2 · בייסליין‬</a:t>
            </a:r>
            <a:endParaRPr lang="en-US" sz="1400" dirty="0"/>
          </a:p>
        </p:txBody>
      </p:sp>
      <p:sp>
        <p:nvSpPr>
          <p:cNvPr id="18" name="Text 13"/>
          <p:cNvSpPr/>
          <p:nvPr/>
        </p:nvSpPr>
        <p:spPr>
          <a:xfrm>
            <a:off x="7422897" y="1933513"/>
            <a:ext cx="1652100"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‫WER של המודל המקורי על Val‬</a:t>
            </a:r>
            <a:endParaRPr lang="en-US" sz="1200" dirty="0"/>
          </a:p>
        </p:txBody>
      </p:sp>
      <p:pic>
        <p:nvPicPr>
          <p:cNvPr id="19" name="Image 3" descr="arrow-left">    </p:cNvPr>
          <p:cNvPicPr>
            <a:picLocks noChangeAspect="1"/>
          </p:cNvPicPr>
          <p:nvPr/>
        </p:nvPicPr>
        <p:blipFill>
          <a:blip r:embed="rId4"/>
          <a:srcRect l="-26" r="-26" t="0" b="0"/>
          <a:stretch/>
        </p:blipFill>
        <p:spPr>
          <a:xfrm>
            <a:off x="9271180" y="1943695"/>
            <a:ext cx="190500" cy="139628"/>
          </a:xfrm>
          <a:prstGeom prst="rect">
            <a:avLst/>
          </a:prstGeom>
        </p:spPr>
      </p:pic>
      <p:sp>
        <p:nvSpPr>
          <p:cNvPr id="20" name="Shape 14"/>
          <p:cNvSpPr/>
          <p:nvPr/>
        </p:nvSpPr>
        <p:spPr>
          <a:xfrm>
            <a:off x="9540983" y="1577963"/>
            <a:ext cx="1835060" cy="871195"/>
          </a:xfrm>
          <a:prstGeom prst="roundRect">
            <a:avLst>
              <a:gd name="adj" fmla="val 11298"/>
            </a:avLst>
          </a:prstGeom>
          <a:solidFill>
            <a:srgbClr val="FFFDF8"/>
          </a:solidFill>
          <a:ln w="6350">
            <a:solidFill>
              <a:srgbClr val="E2DDD0"/>
            </a:solidFill>
            <a:prstDash val="solid"/>
          </a:ln>
        </p:spPr>
      </p:sp>
      <p:sp>
        <p:nvSpPr>
          <p:cNvPr id="21" name="Text 15"/>
          <p:cNvSpPr/>
          <p:nvPr/>
        </p:nvSpPr>
        <p:spPr>
          <a:xfrm>
            <a:off x="9607062" y="1682117"/>
            <a:ext cx="165210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F6F6F"/>
                </a:solidFill>
                <a:latin typeface="Arial" pitchFamily="34" charset="0"/>
                <a:ea typeface="Arial" pitchFamily="34" charset="-122"/>
                <a:cs typeface="Arial" pitchFamily="34" charset="-120"/>
              </a:rPr>
              <a:t>‫1 · הכנה‬</a:t>
            </a:r>
            <a:endParaRPr lang="en-US" sz="1400" dirty="0"/>
          </a:p>
        </p:txBody>
      </p:sp>
      <p:sp>
        <p:nvSpPr>
          <p:cNvPr id="22" name="Text 16"/>
          <p:cNvSpPr/>
          <p:nvPr/>
        </p:nvSpPr>
        <p:spPr>
          <a:xfrm>
            <a:off x="9607062" y="1933513"/>
            <a:ext cx="1652100"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‫טעינה, פיצול לפי קבוצה, ניקוי טקסט‬</a:t>
            </a:r>
            <a:endParaRPr lang="en-US" sz="1200" dirty="0"/>
          </a:p>
        </p:txBody>
      </p:sp>
      <p:sp>
        <p:nvSpPr>
          <p:cNvPr id="23" name="Shape 17"/>
          <p:cNvSpPr/>
          <p:nvPr/>
        </p:nvSpPr>
        <p:spPr>
          <a:xfrm>
            <a:off x="815957" y="2633278"/>
            <a:ext cx="3431129" cy="1257426"/>
          </a:xfrm>
          <a:prstGeom prst="roundRect">
            <a:avLst>
              <a:gd name="adj" fmla="val 9847"/>
            </a:avLst>
          </a:prstGeom>
          <a:solidFill>
            <a:srgbClr val="FFFDF8"/>
          </a:solidFill>
          <a:ln w="6350">
            <a:solidFill>
              <a:srgbClr val="E2DDD0"/>
            </a:solidFill>
            <a:prstDash val="solid"/>
          </a:ln>
        </p:spPr>
      </p:sp>
      <p:sp>
        <p:nvSpPr>
          <p:cNvPr id="24" name="Text 18"/>
          <p:cNvSpPr/>
          <p:nvPr/>
        </p:nvSpPr>
        <p:spPr>
          <a:xfrm>
            <a:off x="877263" y="2788233"/>
            <a:ext cx="32148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1F6F6F"/>
                </a:solidFill>
                <a:latin typeface="Arial" pitchFamily="34" charset="0"/>
                <a:ea typeface="Arial" pitchFamily="34" charset="-122"/>
                <a:cs typeface="Arial" pitchFamily="34" charset="-120"/>
              </a:rPr>
              <a:t>‫הדוח הוא פקודה נפרדת‬</a:t>
            </a:r>
            <a:endParaRPr lang="en-US" sz="1600" dirty="0"/>
          </a:p>
        </p:txBody>
      </p:sp>
      <p:sp>
        <p:nvSpPr>
          <p:cNvPr id="25" name="Text 19"/>
          <p:cNvSpPr/>
          <p:nvPr/>
        </p:nvSpPr>
        <p:spPr>
          <a:xfrm>
            <a:off x="877263" y="3095538"/>
            <a:ext cx="3214879" cy="6656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‫run לא בונה את report.html. מריצים python -m stt report. ההחלטה כתובה גם ב-selection_reason.txt‬</a:t>
            </a:r>
            <a:endParaRPr lang="en-US" sz="1200" dirty="0"/>
          </a:p>
        </p:txBody>
      </p:sp>
      <p:sp>
        <p:nvSpPr>
          <p:cNvPr id="26" name="Shape 20"/>
          <p:cNvSpPr/>
          <p:nvPr/>
        </p:nvSpPr>
        <p:spPr>
          <a:xfrm>
            <a:off x="4380435" y="2633278"/>
            <a:ext cx="3431129" cy="1257426"/>
          </a:xfrm>
          <a:prstGeom prst="roundRect">
            <a:avLst>
              <a:gd name="adj" fmla="val 9847"/>
            </a:avLst>
          </a:prstGeom>
          <a:solidFill>
            <a:srgbClr val="FFFDF8"/>
          </a:solidFill>
          <a:ln w="6350">
            <a:solidFill>
              <a:srgbClr val="E2DDD0"/>
            </a:solidFill>
            <a:prstDash val="solid"/>
          </a:ln>
        </p:spPr>
      </p:sp>
      <p:sp>
        <p:nvSpPr>
          <p:cNvPr id="27" name="Text 21"/>
          <p:cNvSpPr/>
          <p:nvPr/>
        </p:nvSpPr>
        <p:spPr>
          <a:xfrm>
            <a:off x="4441742" y="2788233"/>
            <a:ext cx="32148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B8481A"/>
                </a:solidFill>
                <a:latin typeface="Arial" pitchFamily="34" charset="0"/>
                <a:ea typeface="Arial" pitchFamily="34" charset="-122"/>
                <a:cs typeface="Arial" pitchFamily="34" charset="-120"/>
              </a:rPr>
              <a:t>‫המשך אחרי הפסקה‬</a:t>
            </a:r>
            <a:endParaRPr lang="en-US" sz="1600" dirty="0"/>
          </a:p>
        </p:txBody>
      </p:sp>
      <p:sp>
        <p:nvSpPr>
          <p:cNvPr id="28" name="Text 22"/>
          <p:cNvSpPr/>
          <p:nvPr/>
        </p:nvSpPr>
        <p:spPr>
          <a:xfrm>
            <a:off x="4441742" y="3095538"/>
            <a:ext cx="3214879"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‫שלב שהסתיים ולא השתנה מדלגים עליו. שינוי הגדרה מריץ שוב את השלב ואת כל מה שאחריו‬</a:t>
            </a:r>
            <a:endParaRPr lang="en-US" sz="1200" dirty="0"/>
          </a:p>
        </p:txBody>
      </p:sp>
      <p:sp>
        <p:nvSpPr>
          <p:cNvPr id="29" name="Shape 23"/>
          <p:cNvSpPr/>
          <p:nvPr/>
        </p:nvSpPr>
        <p:spPr>
          <a:xfrm>
            <a:off x="7944914" y="2633278"/>
            <a:ext cx="3431129" cy="1257426"/>
          </a:xfrm>
          <a:prstGeom prst="roundRect">
            <a:avLst>
              <a:gd name="adj" fmla="val 9847"/>
            </a:avLst>
          </a:prstGeom>
          <a:solidFill>
            <a:srgbClr val="FFFDF8"/>
          </a:solidFill>
          <a:ln w="6350">
            <a:solidFill>
              <a:srgbClr val="E2DDD0"/>
            </a:solidFill>
            <a:prstDash val="solid"/>
          </a:ln>
        </p:spPr>
      </p:sp>
      <p:sp>
        <p:nvSpPr>
          <p:cNvPr id="30" name="Text 24"/>
          <p:cNvSpPr/>
          <p:nvPr/>
        </p:nvSpPr>
        <p:spPr>
          <a:xfrm>
            <a:off x="8006220" y="2788233"/>
            <a:ext cx="3214879" cy="269208"/>
          </a:xfrm>
          <a:prstGeom prst="rect">
            <a:avLst/>
          </a:prstGeom>
          <a:noFill/>
          <a:ln/>
        </p:spPr>
        <p:txBody>
          <a:bodyPr wrap="square" lIns="0" tIns="0" rIns="0" bIns="0" rtlCol="0" anchor="t">
            <a:normAutofit/>
          </a:bodyPr>
          <a:lstStyle/>
          <a:p>
            <a:pPr algn="r" indent="0" marL="0">
              <a:lnSpc>
                <a:spcPts val="1920"/>
              </a:lnSpc>
              <a:buNone/>
            </a:pPr>
            <a:r>
              <a:rPr lang="en-US" sz="1600" b="1" dirty="0">
                <a:solidFill>
                  <a:srgbClr val="1F6F6F"/>
                </a:solidFill>
                <a:latin typeface="Arial" pitchFamily="34" charset="0"/>
                <a:ea typeface="Arial" pitchFamily="34" charset="-122"/>
                <a:cs typeface="Arial" pitchFamily="34" charset="-120"/>
              </a:rPr>
              <a:t>‫כל ריצה היא תיקייה‬</a:t>
            </a:r>
            <a:endParaRPr lang="en-US" sz="1600" dirty="0"/>
          </a:p>
        </p:txBody>
      </p:sp>
      <p:sp>
        <p:nvSpPr>
          <p:cNvPr id="31" name="Text 25"/>
          <p:cNvSpPr/>
          <p:nvPr/>
        </p:nvSpPr>
        <p:spPr>
          <a:xfrm>
            <a:off x="8006220" y="3095538"/>
            <a:ext cx="3214879"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‫exp_NNNN מכילה הגדרות, לוג, מדדים, דוחות ומועמדים. ריצה חדשה לא דורסת קודמת‬</a:t>
            </a:r>
            <a:endParaRPr lang="en-US" sz="1200" dirty="0"/>
          </a:p>
        </p:txBody>
      </p:sp>
      <p:sp>
        <p:nvSpPr>
          <p:cNvPr id="32" name="Shape 26"/>
          <p:cNvSpPr/>
          <p:nvPr/>
        </p:nvSpPr>
        <p:spPr>
          <a:xfrm>
            <a:off x="812782" y="4071677"/>
            <a:ext cx="10566436" cy="794832"/>
          </a:xfrm>
          <a:prstGeom prst="roundRect">
            <a:avLst>
              <a:gd name="adj" fmla="val 15978"/>
            </a:avLst>
          </a:prstGeom>
          <a:solidFill>
            <a:srgbClr val="0F2233"/>
          </a:solidFill>
          <a:ln/>
        </p:spPr>
      </p:sp>
      <p:sp>
        <p:nvSpPr>
          <p:cNvPr id="33" name="Text 27"/>
          <p:cNvSpPr/>
          <p:nvPr/>
        </p:nvSpPr>
        <p:spPr>
          <a:xfrm>
            <a:off x="916850" y="4224027"/>
            <a:ext cx="3401060" cy="276784"/>
          </a:xfrm>
          <a:prstGeom prst="rect">
            <a:avLst/>
          </a:prstGeom>
          <a:noFill/>
          <a:ln/>
        </p:spPr>
        <p:txBody>
          <a:bodyPr wrap="square" lIns="0" tIns="0" rIns="0" bIns="0" rtlCol="0" anchor="t">
            <a:normAutofit/>
          </a:bodyPr>
          <a:lstStyle/>
          <a:p>
            <a:pPr algn="r" indent="0" marL="0">
              <a:lnSpc>
                <a:spcPts val="1980"/>
              </a:lnSpc>
              <a:buNone/>
            </a:pPr>
            <a:r>
              <a:rPr lang="en-US" sz="1800" b="1" dirty="0">
                <a:solidFill>
                  <a:srgbClr val="6FD0C4"/>
                </a:solidFill>
                <a:latin typeface="Arial" pitchFamily="34" charset="0"/>
                <a:ea typeface="Arial" pitchFamily="34" charset="-122"/>
                <a:cs typeface="Arial" pitchFamily="34" charset="-120"/>
              </a:rPr>
              <a:t>‫הבייסליין נשאר‬</a:t>
            </a:r>
            <a:endParaRPr lang="en-US" sz="1800" dirty="0"/>
          </a:p>
        </p:txBody>
      </p:sp>
      <p:sp>
        <p:nvSpPr>
          <p:cNvPr id="34" name="Text 28"/>
          <p:cNvSpPr/>
          <p:nvPr/>
        </p:nvSpPr>
        <p:spPr>
          <a:xfrm>
            <a:off x="916850" y="4500749"/>
            <a:ext cx="340106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‫תוצאה תקינה. קוד יציאה 0‬</a:t>
            </a:r>
            <a:endParaRPr lang="en-US" sz="1200" dirty="0"/>
          </a:p>
        </p:txBody>
      </p:sp>
      <p:sp>
        <p:nvSpPr>
          <p:cNvPr id="35" name="Text 29"/>
          <p:cNvSpPr/>
          <p:nvPr/>
        </p:nvSpPr>
        <p:spPr>
          <a:xfrm>
            <a:off x="4345847" y="4224027"/>
            <a:ext cx="3401153" cy="276784"/>
          </a:xfrm>
          <a:prstGeom prst="rect">
            <a:avLst/>
          </a:prstGeom>
          <a:noFill/>
          <a:ln/>
        </p:spPr>
        <p:txBody>
          <a:bodyPr wrap="square" lIns="0" tIns="0" rIns="0" bIns="0" rtlCol="0" anchor="t">
            <a:normAutofit/>
          </a:bodyPr>
          <a:lstStyle/>
          <a:p>
            <a:pPr algn="r" indent="0" marL="0">
              <a:lnSpc>
                <a:spcPts val="1980"/>
              </a:lnSpc>
              <a:buNone/>
            </a:pPr>
            <a:r>
              <a:rPr lang="en-US" sz="1800" b="1" dirty="0">
                <a:solidFill>
                  <a:srgbClr val="F2A36B"/>
                </a:solidFill>
                <a:latin typeface="Arial" pitchFamily="34" charset="0"/>
                <a:ea typeface="Arial" pitchFamily="34" charset="-122"/>
                <a:cs typeface="Arial" pitchFamily="34" charset="-120"/>
              </a:rPr>
              <a:t>‫מנצח לא מאושר‬</a:t>
            </a:r>
            <a:endParaRPr lang="en-US" sz="1800" dirty="0"/>
          </a:p>
        </p:txBody>
      </p:sp>
      <p:sp>
        <p:nvSpPr>
          <p:cNvPr id="36" name="Text 30"/>
          <p:cNvSpPr/>
          <p:nvPr/>
        </p:nvSpPr>
        <p:spPr>
          <a:xfrm>
            <a:off x="4345847" y="4500749"/>
            <a:ext cx="340115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‫נרשם עם סימון, בלי הצהרת הוכחה‬</a:t>
            </a:r>
            <a:endParaRPr lang="en-US" sz="1200" dirty="0"/>
          </a:p>
        </p:txBody>
      </p:sp>
      <p:sp>
        <p:nvSpPr>
          <p:cNvPr id="37" name="Text 31"/>
          <p:cNvSpPr/>
          <p:nvPr/>
        </p:nvSpPr>
        <p:spPr>
          <a:xfrm>
            <a:off x="7774937" y="4224027"/>
            <a:ext cx="3401153" cy="276784"/>
          </a:xfrm>
          <a:prstGeom prst="rect">
            <a:avLst/>
          </a:prstGeom>
          <a:noFill/>
          <a:ln/>
        </p:spPr>
        <p:txBody>
          <a:bodyPr wrap="square" lIns="0" tIns="0" rIns="0" bIns="0" rtlCol="0" anchor="t">
            <a:normAutofit/>
          </a:bodyPr>
          <a:lstStyle/>
          <a:p>
            <a:pPr algn="r" indent="0" marL="0">
              <a:lnSpc>
                <a:spcPts val="1980"/>
              </a:lnSpc>
              <a:buNone/>
            </a:pPr>
            <a:r>
              <a:rPr lang="en-US" sz="1800" b="1" dirty="0">
                <a:solidFill>
                  <a:srgbClr val="6FD0C4"/>
                </a:solidFill>
                <a:latin typeface="Arial" pitchFamily="34" charset="0"/>
                <a:ea typeface="Arial" pitchFamily="34" charset="-122"/>
                <a:cs typeface="Arial" pitchFamily="34" charset="-120"/>
              </a:rPr>
              <a:t>‫מנצח מאושר‬</a:t>
            </a:r>
            <a:endParaRPr lang="en-US" sz="1800" dirty="0"/>
          </a:p>
        </p:txBody>
      </p:sp>
      <p:sp>
        <p:nvSpPr>
          <p:cNvPr id="38" name="Text 32"/>
          <p:cNvSpPr/>
          <p:nvPr/>
        </p:nvSpPr>
        <p:spPr>
          <a:xfrm>
            <a:off x="7774937" y="4500749"/>
            <a:ext cx="340115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‫שיפור ב-Val, ואושר ב-Test‬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‫מה משנים‬</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‫ההגדרות: קובץ אחד שמעתיקים ומשנים‬</a:t>
            </a:r>
            <a:endParaRPr lang="en-US" sz="3200" dirty="0"/>
          </a:p>
        </p:txBody>
      </p:sp>
      <p:sp>
        <p:nvSpPr>
          <p:cNvPr id="4" name="Text 2"/>
          <p:cNvSpPr/>
          <p:nvPr/>
        </p:nvSpPr>
        <p:spPr>
          <a:xfrm>
            <a:off x="684763" y="1574775"/>
            <a:ext cx="4395327"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C6670"/>
                </a:solidFill>
                <a:latin typeface="Arial" pitchFamily="34" charset="0"/>
                <a:ea typeface="Arial" pitchFamily="34" charset="-122"/>
                <a:cs typeface="Arial" pitchFamily="34" charset="-120"/>
              </a:rPr>
              <a:t>‫my_work.yaml, הערכים להמחשה‬</a:t>
            </a:r>
            <a:endParaRPr lang="en-US" sz="1200" dirty="0"/>
          </a:p>
        </p:txBody>
      </p:sp>
      <p:sp>
        <p:nvSpPr>
          <p:cNvPr id="5" name="Shape 3"/>
          <p:cNvSpPr/>
          <p:nvPr/>
        </p:nvSpPr>
        <p:spPr>
          <a:xfrm>
            <a:off x="812782" y="1864320"/>
            <a:ext cx="4267308" cy="3048541"/>
          </a:xfrm>
          <a:prstGeom prst="roundRect">
            <a:avLst>
              <a:gd name="adj" fmla="val 3333"/>
            </a:avLst>
          </a:prstGeom>
          <a:solidFill>
            <a:srgbClr val="0F2233"/>
          </a:solidFill>
          <a:ln/>
        </p:spPr>
      </p:sp>
      <p:sp>
        <p:nvSpPr>
          <p:cNvPr id="6" name="Text 4"/>
          <p:cNvSpPr/>
          <p:nvPr/>
        </p:nvSpPr>
        <p:spPr>
          <a:xfrm>
            <a:off x="990564" y="2016671"/>
            <a:ext cx="4029097"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E"/>
                </a:solidFill>
                <a:latin typeface="Courier New" pitchFamily="49" charset="0"/>
                <a:ea typeface="Courier New" pitchFamily="49" charset="-122"/>
                <a:cs typeface="Courier New" pitchFamily="49" charset="-120"/>
              </a:rPr>
              <a:t>extends: base.yaml</a:t>
            </a:r>
            <a:endParaRPr lang="en-US" sz="1200" dirty="0"/>
          </a:p>
        </p:txBody>
      </p:sp>
      <p:sp>
        <p:nvSpPr>
          <p:cNvPr id="7" name="Text 5"/>
          <p:cNvSpPr/>
          <p:nvPr/>
        </p:nvSpPr>
        <p:spPr>
          <a:xfrm>
            <a:off x="990564" y="2245320"/>
            <a:ext cx="4029097"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6FD0C4"/>
                </a:solidFill>
                <a:latin typeface="Courier New" pitchFamily="49" charset="0"/>
                <a:ea typeface="Courier New" pitchFamily="49" charset="-122"/>
                <a:cs typeface="Courier New" pitchFamily="49" charset="-120"/>
              </a:rPr>
              <a:t>data:</a:t>
            </a:r>
            <a:endParaRPr lang="en-US" sz="1200" dirty="0"/>
          </a:p>
        </p:txBody>
      </p:sp>
      <p:sp>
        <p:nvSpPr>
          <p:cNvPr id="8" name="Text 6"/>
          <p:cNvSpPr/>
          <p:nvPr/>
        </p:nvSpPr>
        <p:spPr>
          <a:xfrm>
            <a:off x="1193764" y="2473970"/>
            <a:ext cx="3819801"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6FD0C4"/>
                </a:solidFill>
                <a:latin typeface="Courier New" pitchFamily="49" charset="0"/>
                <a:ea typeface="Courier New" pitchFamily="49" charset="-122"/>
                <a:cs typeface="Courier New" pitchFamily="49" charset="-120"/>
              </a:rPr>
              <a:t>source:</a:t>
            </a:r>
            <a:endParaRPr lang="en-US" sz="1200" dirty="0"/>
          </a:p>
        </p:txBody>
      </p:sp>
      <p:sp>
        <p:nvSpPr>
          <p:cNvPr id="9" name="Text 7"/>
          <p:cNvSpPr/>
          <p:nvPr/>
        </p:nvSpPr>
        <p:spPr>
          <a:xfrm>
            <a:off x="1396964" y="2702620"/>
            <a:ext cx="3610505"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E"/>
                </a:solidFill>
                <a:latin typeface="Courier New" pitchFamily="49" charset="0"/>
                <a:ea typeface="Courier New" pitchFamily="49" charset="-122"/>
                <a:cs typeface="Courier New" pitchFamily="49" charset="-120"/>
              </a:rPr>
              <a:t>type: csv</a:t>
            </a:r>
            <a:endParaRPr lang="en-US" sz="1200" dirty="0"/>
          </a:p>
        </p:txBody>
      </p:sp>
      <p:sp>
        <p:nvSpPr>
          <p:cNvPr id="10" name="Text 8"/>
          <p:cNvSpPr/>
          <p:nvPr/>
        </p:nvSpPr>
        <p:spPr>
          <a:xfrm>
            <a:off x="1396964" y="2931269"/>
            <a:ext cx="3610505"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2A36B"/>
                </a:solidFill>
                <a:latin typeface="Courier New" pitchFamily="49" charset="0"/>
                <a:ea typeface="Courier New" pitchFamily="49" charset="-122"/>
                <a:cs typeface="Courier New" pitchFamily="49" charset="-120"/>
              </a:rPr>
              <a:t>path: "D:/work_data/radio_he"</a:t>
            </a:r>
            <a:endParaRPr lang="en-US" sz="1200" dirty="0"/>
          </a:p>
        </p:txBody>
      </p:sp>
      <p:sp>
        <p:nvSpPr>
          <p:cNvPr id="11" name="Text 9"/>
          <p:cNvSpPr/>
          <p:nvPr/>
        </p:nvSpPr>
        <p:spPr>
          <a:xfrm>
            <a:off x="1193764" y="3159919"/>
            <a:ext cx="3819801"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6FD0C4"/>
                </a:solidFill>
                <a:latin typeface="Courier New" pitchFamily="49" charset="0"/>
                <a:ea typeface="Courier New" pitchFamily="49" charset="-122"/>
                <a:cs typeface="Courier New" pitchFamily="49" charset="-120"/>
              </a:rPr>
              <a:t>columns:</a:t>
            </a:r>
            <a:endParaRPr lang="en-US" sz="1200" dirty="0"/>
          </a:p>
        </p:txBody>
      </p:sp>
      <p:sp>
        <p:nvSpPr>
          <p:cNvPr id="12" name="Text 10"/>
          <p:cNvSpPr/>
          <p:nvPr/>
        </p:nvSpPr>
        <p:spPr>
          <a:xfrm>
            <a:off x="1396964" y="3388593"/>
            <a:ext cx="3610505"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2A36B"/>
                </a:solidFill>
                <a:latin typeface="Courier New" pitchFamily="49" charset="0"/>
                <a:ea typeface="Courier New" pitchFamily="49" charset="-122"/>
                <a:cs typeface="Courier New" pitchFamily="49" charset="-120"/>
              </a:rPr>
              <a:t>audio: "file"</a:t>
            </a:r>
            <a:endParaRPr lang="en-US" sz="1200" dirty="0"/>
          </a:p>
        </p:txBody>
      </p:sp>
      <p:sp>
        <p:nvSpPr>
          <p:cNvPr id="13" name="Text 11"/>
          <p:cNvSpPr/>
          <p:nvPr/>
        </p:nvSpPr>
        <p:spPr>
          <a:xfrm>
            <a:off x="1396964" y="3617243"/>
            <a:ext cx="3610505"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2A36B"/>
                </a:solidFill>
                <a:latin typeface="Courier New" pitchFamily="49" charset="0"/>
                <a:ea typeface="Courier New" pitchFamily="49" charset="-122"/>
                <a:cs typeface="Courier New" pitchFamily="49" charset="-120"/>
              </a:rPr>
              <a:t>text: "transcript"</a:t>
            </a:r>
            <a:endParaRPr lang="en-US" sz="1200" dirty="0"/>
          </a:p>
        </p:txBody>
      </p:sp>
      <p:sp>
        <p:nvSpPr>
          <p:cNvPr id="14" name="Text 12"/>
          <p:cNvSpPr/>
          <p:nvPr/>
        </p:nvSpPr>
        <p:spPr>
          <a:xfrm>
            <a:off x="1396964" y="3845892"/>
            <a:ext cx="3610505"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2A36B"/>
                </a:solidFill>
                <a:latin typeface="Courier New" pitchFamily="49" charset="0"/>
                <a:ea typeface="Courier New" pitchFamily="49" charset="-122"/>
                <a:cs typeface="Courier New" pitchFamily="49" charset="-120"/>
              </a:rPr>
              <a:t>group: "speaker_id"</a:t>
            </a:r>
            <a:endParaRPr lang="en-US" sz="1200" dirty="0"/>
          </a:p>
        </p:txBody>
      </p:sp>
      <p:sp>
        <p:nvSpPr>
          <p:cNvPr id="15" name="Text 13"/>
          <p:cNvSpPr/>
          <p:nvPr/>
        </p:nvSpPr>
        <p:spPr>
          <a:xfrm>
            <a:off x="1193764" y="4074542"/>
            <a:ext cx="3819801"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E"/>
                </a:solidFill>
                <a:latin typeface="Courier New" pitchFamily="49" charset="0"/>
                <a:ea typeface="Courier New" pitchFamily="49" charset="-122"/>
                <a:cs typeface="Courier New" pitchFamily="49" charset="-120"/>
              </a:rPr>
              <a:t>group_fallback: fail</a:t>
            </a:r>
            <a:endParaRPr lang="en-US" sz="1200" dirty="0"/>
          </a:p>
        </p:txBody>
      </p:sp>
      <p:sp>
        <p:nvSpPr>
          <p:cNvPr id="16" name="Text 14"/>
          <p:cNvSpPr/>
          <p:nvPr/>
        </p:nvSpPr>
        <p:spPr>
          <a:xfrm>
            <a:off x="990564" y="4303192"/>
            <a:ext cx="4029097"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6FD0C4"/>
                </a:solidFill>
                <a:latin typeface="Courier New" pitchFamily="49" charset="0"/>
                <a:ea typeface="Courier New" pitchFamily="49" charset="-122"/>
                <a:cs typeface="Courier New" pitchFamily="49" charset="-120"/>
              </a:rPr>
              <a:t>model:</a:t>
            </a:r>
            <a:endParaRPr lang="en-US" sz="1200" dirty="0"/>
          </a:p>
        </p:txBody>
      </p:sp>
      <p:sp>
        <p:nvSpPr>
          <p:cNvPr id="17" name="Text 15"/>
          <p:cNvSpPr/>
          <p:nvPr/>
        </p:nvSpPr>
        <p:spPr>
          <a:xfrm>
            <a:off x="1193764" y="4531866"/>
            <a:ext cx="3819801" cy="25405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2A36B"/>
                </a:solidFill>
                <a:latin typeface="Courier New" pitchFamily="49" charset="0"/>
                <a:ea typeface="Courier New" pitchFamily="49" charset="-122"/>
                <a:cs typeface="Courier New" pitchFamily="49" charset="-120"/>
              </a:rPr>
              <a:t>path: "models/whisper-tiny"</a:t>
            </a:r>
            <a:endParaRPr lang="en-US" sz="1200" dirty="0"/>
          </a:p>
        </p:txBody>
      </p:sp>
      <p:sp>
        <p:nvSpPr>
          <p:cNvPr id="18" name="Text 16"/>
          <p:cNvSpPr/>
          <p:nvPr/>
        </p:nvSpPr>
        <p:spPr>
          <a:xfrm>
            <a:off x="684763" y="4988992"/>
            <a:ext cx="4395327"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‫כל מפתח מתועד ב-CONFIG_REFERENCE.md, ומפתח שגוי נעצר עם הודעה ברורה‬</a:t>
            </a:r>
            <a:endParaRPr lang="en-US" sz="1200" dirty="0"/>
          </a:p>
        </p:txBody>
      </p:sp>
      <p:sp>
        <p:nvSpPr>
          <p:cNvPr id="19" name="Shape 17"/>
          <p:cNvSpPr/>
          <p:nvPr/>
        </p:nvSpPr>
        <p:spPr>
          <a:xfrm>
            <a:off x="5283218" y="1574775"/>
            <a:ext cx="6096000" cy="881423"/>
          </a:xfrm>
          <a:prstGeom prst="roundRect">
            <a:avLst>
              <a:gd name="adj" fmla="val 11527"/>
            </a:avLst>
          </a:prstGeom>
          <a:solidFill>
            <a:srgbClr val="0F2233"/>
          </a:solidFill>
          <a:ln/>
        </p:spPr>
      </p:sp>
      <p:sp>
        <p:nvSpPr>
          <p:cNvPr id="20" name="Text 18"/>
          <p:cNvSpPr/>
          <p:nvPr/>
        </p:nvSpPr>
        <p:spPr>
          <a:xfrm>
            <a:off x="5435564" y="1676350"/>
            <a:ext cx="5965047"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Copy-Item configs\work.yaml configs\my_work.yaml</a:t>
            </a:r>
            <a:endParaRPr lang="en-US" sz="1200" dirty="0"/>
          </a:p>
        </p:txBody>
      </p:sp>
      <p:sp>
        <p:nvSpPr>
          <p:cNvPr id="21" name="Text 19"/>
          <p:cNvSpPr/>
          <p:nvPr/>
        </p:nvSpPr>
        <p:spPr>
          <a:xfrm>
            <a:off x="5261824" y="1927820"/>
            <a:ext cx="5965047" cy="45222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3DB"/>
                </a:solidFill>
                <a:latin typeface="Arial" pitchFamily="34" charset="0"/>
                <a:ea typeface="Arial" pitchFamily="34" charset="-122"/>
                <a:cs typeface="Arial" pitchFamily="34" charset="-120"/>
              </a:rPr>
              <a:t>‫לא עורכים את work.yaml עצמו. בעותק מחליפים חמישה סימונים: נתיב נתונים, עמודות אודיו, טקסט וקבוצה, ונתיב מודל‬</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294763" y="2594755"/>
          <a:ext cx="6084454" cy="3453895"/>
        </p:xfrm>
        <a:graphic>
          <a:graphicData uri="http://schemas.openxmlformats.org/drawingml/2006/table">
            <a:tbl>
              <a:tblPr/>
              <a:tblGrid>
                <a:gridCol w="2190404"/>
                <a:gridCol w="851824"/>
                <a:gridCol w="3042227"/>
              </a:tblGrid>
              <a:tr h="589179">
                <a:tc>
                  <a:txBody>
                    <a:bodyPr/>
                    <a:lstStyle/>
                    <a:p>
                      <a:pPr algn="r" indent="0" marL="0">
                        <a:lnSpc>
                          <a:spcPts val="1820"/>
                        </a:lnSpc>
                        <a:buNone/>
                      </a:pPr>
                      <a:r>
                        <a:rPr lang="en-US" sz="1300" b="1" dirty="0">
                          <a:solidFill>
                            <a:srgbClr val="F6F4EE"/>
                          </a:solidFill>
                          <a:latin typeface="Arial" pitchFamily="34" charset="0"/>
                          <a:ea typeface="Arial" pitchFamily="34" charset="-122"/>
                          <a:cs typeface="Arial" pitchFamily="34" charset="-120"/>
                        </a:rPr>
                        <a:t>‫משמעות‬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820"/>
                        </a:lnSpc>
                        <a:buNone/>
                      </a:pPr>
                      <a:r>
                        <a:rPr lang="en-US" sz="1300" b="1" dirty="0">
                          <a:solidFill>
                            <a:srgbClr val="F6F4EE"/>
                          </a:solidFill>
                          <a:latin typeface="Arial" pitchFamily="34" charset="0"/>
                          <a:ea typeface="Arial" pitchFamily="34" charset="-122"/>
                          <a:cs typeface="Arial" pitchFamily="34" charset="-120"/>
                        </a:rPr>
                        <a:t>‫ברירת מחדל‬</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algn="ctr" indent="0" marL="0">
                        <a:lnSpc>
                          <a:spcPts val="1820"/>
                        </a:lnSpc>
                        <a:buNone/>
                      </a:pPr>
                      <a:r>
                        <a:rPr lang="en-US" sz="1300" b="1" dirty="0">
                          <a:solidFill>
                            <a:srgbClr val="F6F4EE"/>
                          </a:solidFill>
                          <a:latin typeface="Arial" pitchFamily="34" charset="0"/>
                          <a:ea typeface="Arial" pitchFamily="34" charset="-122"/>
                          <a:cs typeface="Arial" pitchFamily="34" charset="-120"/>
                        </a:rPr>
                        <a:t>‫מפתח‬</a:t>
                      </a:r>
                      <a:endParaRPr lang="en-US" sz="1300" dirty="0">
                        <a:latin typeface="Arial" charset="0"/>
                        <a:ea typeface="Arial" charset="0"/>
                        <a:cs typeface="Arial"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‫אורך האימון בצעדים‬</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train.hyperparams.max_steps</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‫דוגמאות לצעד: 4‬</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2 / 2</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batch_size / grad_accum_steps</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‫כמה מועמדים מנסים‬</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search.n_trials</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‫כמה עולים לגמר‬</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search.finalists.k</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‫כמה ליבות לאימון‬</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train.cpu_threads</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‫apply מסיר קטעים ארוכים‬</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report</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filter.mode</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‫היעד: ירידה של 10%‬</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0.10</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report.target_relative_wer_reduction</a:t>
                      </a:r>
                      <a:endParaRPr lang="en-US" sz="1300" dirty="0">
                        <a:latin typeface="Arial" charset="0"/>
                        <a:ea typeface="Arial" charset="0"/>
                        <a:cs typeface="Arial"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8089">
                <a:tc>
                  <a:txBody>
                    <a:bodyPr/>
                    <a:lstStyle/>
                    <a:p>
                      <a:pPr algn="r" indent="0" marL="0">
                        <a:lnSpc>
                          <a:spcPts val="1820"/>
                        </a:lnSpc>
                        <a:buNone/>
                      </a:pPr>
                      <a:r>
                        <a:rPr lang="en-US" sz="1300" dirty="0">
                          <a:solidFill>
                            <a:srgbClr val="0F2233"/>
                          </a:solidFill>
                          <a:latin typeface="Arial" pitchFamily="34" charset="0"/>
                          <a:ea typeface="Arial" pitchFamily="34" charset="-122"/>
                          <a:cs typeface="Arial" pitchFamily="34" charset="-120"/>
                        </a:rPr>
                        <a:t>‫זרע אחיד לכל המערכת‬</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42</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c>
                  <a:txBody>
                    <a:bodyPr/>
                    <a:lstStyle/>
                    <a:p>
                      <a:pPr algn="ctr" indent="0" marL="0">
                        <a:lnSpc>
                          <a:spcPts val="1820"/>
                        </a:lnSpc>
                        <a:buNone/>
                      </a:pPr>
                      <a:r>
                        <a:rPr lang="en-US" sz="1300" dirty="0">
                          <a:solidFill>
                            <a:srgbClr val="0F2233"/>
                          </a:solidFill>
                          <a:latin typeface="Arial" pitchFamily="34" charset="0"/>
                          <a:ea typeface="Arial" pitchFamily="34" charset="-122"/>
                          <a:cs typeface="Arial" pitchFamily="34" charset="-120"/>
                        </a:rPr>
                        <a:t>runtime.seed</a:t>
                      </a:r>
                      <a:endParaRPr lang="en-US" sz="1300" dirty="0">
                        <a:latin typeface="Arial" charset="0"/>
                        <a:ea typeface="Arial" charset="0"/>
                        <a:cs typeface="Arial" charset="0"/>
                      </a:endParaRPr>
                    </a:p>
                  </a:txBody>
                  <a:tcPr marL="57785" marR="57785" marT="57785" marB="57785" anchor="t">
                    <a:lnL w="12700" cap="flat" cmpd="sng" algn="ctr">
                      <a:solidFill>
                        <a:srgbClr val="BFBCB2"/>
                      </a:solidFill>
                      <a:prstDash val="solid"/>
                      <a:round/>
                      <a:headEnd type="none" w="med" len="med"/>
                      <a:tailEnd type="none" w="med" len="med"/>
                    </a:lnL>
                    <a:lnR w="12700" cap="flat" cmpd="sng" algn="ctr">
                      <a:solidFill>
                        <a:srgbClr val="BFBCB2"/>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2"/>
                      </a:solidFill>
                      <a:prstDash val="solid"/>
                      <a:round/>
                      <a:headEnd type="none" w="med" len="med"/>
                      <a:tailEnd type="none" w="med" len="med"/>
                    </a:lnB>
                    <a:solidFill>
                      <a:srgbClr val="EFEBD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‫סביבה סגורה‬</a:t>
            </a:r>
            <a:endParaRPr lang="en-US" sz="1200" dirty="0"/>
          </a:p>
        </p:txBody>
      </p:sp>
      <p:sp>
        <p:nvSpPr>
          <p:cNvPr id="3" name="Text 1"/>
          <p:cNvSpPr/>
          <p:nvPr>
            <p:ph type="title"/>
          </p:nvPr>
        </p:nvSpPr>
        <p:spPr>
          <a:xfrm>
            <a:off x="495789" y="9245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‫המעבר למחשב בעבודה‬</a:t>
            </a:r>
            <a:endParaRPr lang="en-US" sz="3200" dirty="0"/>
          </a:p>
        </p:txBody>
      </p:sp>
      <p:sp>
        <p:nvSpPr>
          <p:cNvPr id="4" name="Shape 2"/>
          <p:cNvSpPr/>
          <p:nvPr/>
        </p:nvSpPr>
        <p:spPr>
          <a:xfrm>
            <a:off x="812782" y="1523901"/>
            <a:ext cx="10566436" cy="1192429"/>
          </a:xfrm>
          <a:prstGeom prst="roundRect">
            <a:avLst>
              <a:gd name="adj" fmla="val 10651"/>
            </a:avLst>
          </a:prstGeom>
          <a:solidFill>
            <a:srgbClr val="E9E5D8"/>
          </a:solidFill>
          <a:ln/>
        </p:spPr>
      </p:sp>
      <p:sp>
        <p:nvSpPr>
          <p:cNvPr id="5" name="Text 3"/>
          <p:cNvSpPr/>
          <p:nvPr/>
        </p:nvSpPr>
        <p:spPr>
          <a:xfrm>
            <a:off x="684238" y="1650901"/>
            <a:ext cx="10517198"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0F2233"/>
                </a:solidFill>
                <a:latin typeface="Arial" pitchFamily="34" charset="0"/>
                <a:ea typeface="Arial" pitchFamily="34" charset="-122"/>
                <a:cs typeface="Arial" pitchFamily="34" charset="-120"/>
              </a:rPr>
              <a:t>‫בבית, עם אינטרנט‬</a:t>
            </a:r>
            <a:endParaRPr lang="en-US" sz="1400" dirty="0"/>
          </a:p>
        </p:txBody>
      </p:sp>
      <p:sp>
        <p:nvSpPr>
          <p:cNvPr id="6" name="Shape 4"/>
          <p:cNvSpPr/>
          <p:nvPr/>
        </p:nvSpPr>
        <p:spPr>
          <a:xfrm>
            <a:off x="993739" y="1961282"/>
            <a:ext cx="3109479" cy="624862"/>
          </a:xfrm>
          <a:prstGeom prst="roundRect">
            <a:avLst>
              <a:gd name="adj" fmla="val 13719"/>
            </a:avLst>
          </a:prstGeom>
          <a:solidFill>
            <a:srgbClr val="FFFDF8"/>
          </a:solidFill>
          <a:ln w="6350">
            <a:solidFill>
              <a:srgbClr val="D9D3C2"/>
            </a:solidFill>
            <a:prstDash val="solid"/>
          </a:ln>
        </p:spPr>
      </p:sp>
      <p:sp>
        <p:nvSpPr>
          <p:cNvPr id="7" name="Text 5"/>
          <p:cNvSpPr/>
          <p:nvPr/>
        </p:nvSpPr>
        <p:spPr>
          <a:xfrm>
            <a:off x="1024347" y="2052737"/>
            <a:ext cx="2961992"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make_manifest.py</a:t>
            </a:r>
            <a:endParaRPr lang="en-US" sz="1200" dirty="0"/>
          </a:p>
        </p:txBody>
      </p:sp>
      <p:sp>
        <p:nvSpPr>
          <p:cNvPr id="8" name="Text 6"/>
          <p:cNvSpPr/>
          <p:nvPr/>
        </p:nvSpPr>
        <p:spPr>
          <a:xfrm>
            <a:off x="1024347" y="2288977"/>
            <a:ext cx="2961992"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‫רשימת בדיקה MANIFEST.sha256 לכל קובץ‬</a:t>
            </a:r>
            <a:endParaRPr lang="en-US" sz="1200" dirty="0"/>
          </a:p>
        </p:txBody>
      </p:sp>
      <p:pic>
        <p:nvPicPr>
          <p:cNvPr id="9" name="Image 0" descr="arrow-left">    </p:cNvPr>
          <p:cNvPicPr>
            <a:picLocks noChangeAspect="1"/>
          </p:cNvPicPr>
          <p:nvPr/>
        </p:nvPicPr>
        <p:blipFill>
          <a:blip r:embed="rId1"/>
          <a:srcRect l="-10" r="-10" t="0" b="0"/>
          <a:stretch/>
        </p:blipFill>
        <p:spPr>
          <a:xfrm>
            <a:off x="4207957" y="2197497"/>
            <a:ext cx="228564" cy="152346"/>
          </a:xfrm>
          <a:prstGeom prst="rect">
            <a:avLst/>
          </a:prstGeom>
        </p:spPr>
      </p:pic>
      <p:sp>
        <p:nvSpPr>
          <p:cNvPr id="10" name="Shape 7"/>
          <p:cNvSpPr/>
          <p:nvPr/>
        </p:nvSpPr>
        <p:spPr>
          <a:xfrm>
            <a:off x="4541260" y="1961282"/>
            <a:ext cx="3109479" cy="624862"/>
          </a:xfrm>
          <a:prstGeom prst="roundRect">
            <a:avLst>
              <a:gd name="adj" fmla="val 13719"/>
            </a:avLst>
          </a:prstGeom>
          <a:solidFill>
            <a:srgbClr val="FFFDF8"/>
          </a:solidFill>
          <a:ln w="6350">
            <a:solidFill>
              <a:srgbClr val="D9D3C2"/>
            </a:solidFill>
            <a:prstDash val="solid"/>
          </a:ln>
        </p:spPr>
      </p:sp>
      <p:sp>
        <p:nvSpPr>
          <p:cNvPr id="11" name="Text 8"/>
          <p:cNvSpPr/>
          <p:nvPr/>
        </p:nvSpPr>
        <p:spPr>
          <a:xfrm>
            <a:off x="4571868" y="2052737"/>
            <a:ext cx="2961992"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fetch_wheels.py</a:t>
            </a:r>
            <a:endParaRPr lang="en-US" sz="1200" dirty="0"/>
          </a:p>
        </p:txBody>
      </p:sp>
      <p:sp>
        <p:nvSpPr>
          <p:cNvPr id="12" name="Text 9"/>
          <p:cNvSpPr/>
          <p:nvPr/>
        </p:nvSpPr>
        <p:spPr>
          <a:xfrm>
            <a:off x="4571868" y="2288977"/>
            <a:ext cx="2961992"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‫חבילות התקנה לגרסת הפייתון בעבודה‬</a:t>
            </a:r>
            <a:endParaRPr lang="en-US" sz="1200" dirty="0"/>
          </a:p>
        </p:txBody>
      </p:sp>
      <p:pic>
        <p:nvPicPr>
          <p:cNvPr id="13" name="Image 1" descr="arrow-left">    </p:cNvPr>
          <p:cNvPicPr>
            <a:picLocks noChangeAspect="1"/>
          </p:cNvPicPr>
          <p:nvPr/>
        </p:nvPicPr>
        <p:blipFill>
          <a:blip r:embed="rId2"/>
          <a:srcRect l="-10" r="-10" t="0" b="0"/>
          <a:stretch/>
        </p:blipFill>
        <p:spPr>
          <a:xfrm>
            <a:off x="7755479" y="2197497"/>
            <a:ext cx="228564" cy="152346"/>
          </a:xfrm>
          <a:prstGeom prst="rect">
            <a:avLst/>
          </a:prstGeom>
        </p:spPr>
      </p:pic>
      <p:sp>
        <p:nvSpPr>
          <p:cNvPr id="14" name="Shape 10"/>
          <p:cNvSpPr/>
          <p:nvPr/>
        </p:nvSpPr>
        <p:spPr>
          <a:xfrm>
            <a:off x="8088781" y="1961282"/>
            <a:ext cx="3109479" cy="624862"/>
          </a:xfrm>
          <a:prstGeom prst="roundRect">
            <a:avLst>
              <a:gd name="adj" fmla="val 13719"/>
            </a:avLst>
          </a:prstGeom>
          <a:solidFill>
            <a:srgbClr val="FFFDF8"/>
          </a:solidFill>
          <a:ln w="6350">
            <a:solidFill>
              <a:srgbClr val="D9D3C2"/>
            </a:solidFill>
            <a:prstDash val="solid"/>
          </a:ln>
        </p:spPr>
      </p:sp>
      <p:sp>
        <p:nvSpPr>
          <p:cNvPr id="15" name="Text 11"/>
          <p:cNvSpPr/>
          <p:nvPr/>
        </p:nvSpPr>
        <p:spPr>
          <a:xfrm>
            <a:off x="8119390" y="2052737"/>
            <a:ext cx="2961992"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fetch_model.py</a:t>
            </a:r>
            <a:endParaRPr lang="en-US" sz="1200" dirty="0"/>
          </a:p>
        </p:txBody>
      </p:sp>
      <p:sp>
        <p:nvSpPr>
          <p:cNvPr id="16" name="Text 12"/>
          <p:cNvSpPr/>
          <p:nvPr/>
        </p:nvSpPr>
        <p:spPr>
          <a:xfrm>
            <a:off x="8119390" y="2288977"/>
            <a:ext cx="2961992"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‫הורדת מודל Whisper לתיקייה מקומית‬</a:t>
            </a:r>
            <a:endParaRPr lang="en-US" sz="1200" dirty="0"/>
          </a:p>
        </p:txBody>
      </p:sp>
      <p:sp>
        <p:nvSpPr>
          <p:cNvPr id="17" name="Text 13"/>
          <p:cNvSpPr/>
          <p:nvPr/>
        </p:nvSpPr>
        <p:spPr>
          <a:xfrm>
            <a:off x="171270" y="2888977"/>
            <a:ext cx="3849074"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8481A"/>
                </a:solidFill>
                <a:latin typeface="Arial" pitchFamily="34" charset="0"/>
                <a:ea typeface="Arial" pitchFamily="34" charset="-122"/>
                <a:cs typeface="Arial" pitchFamily="34" charset="-120"/>
              </a:rPr>
              <a:t>‫העתקה למחשב בעבודה, בכונן נייד או ברשת פנימית‬</a:t>
            </a:r>
            <a:endParaRPr lang="en-US" sz="1200" dirty="0"/>
          </a:p>
        </p:txBody>
      </p:sp>
      <p:pic>
        <p:nvPicPr>
          <p:cNvPr id="18" name="Image 2" descr="arrow-down">    </p:cNvPr>
          <p:cNvPicPr>
            <a:picLocks noChangeAspect="1"/>
          </p:cNvPicPr>
          <p:nvPr/>
        </p:nvPicPr>
        <p:blipFill>
          <a:blip r:embed="rId3"/>
          <a:srcRect l="0" r="0" t="-18" b="-18"/>
          <a:stretch/>
        </p:blipFill>
        <p:spPr>
          <a:xfrm>
            <a:off x="4121908" y="2868687"/>
            <a:ext cx="203128" cy="254000"/>
          </a:xfrm>
          <a:prstGeom prst="rect">
            <a:avLst/>
          </a:prstGeom>
        </p:spPr>
      </p:pic>
      <p:sp>
        <p:nvSpPr>
          <p:cNvPr id="19" name="Shape 14"/>
          <p:cNvSpPr/>
          <p:nvPr/>
        </p:nvSpPr>
        <p:spPr>
          <a:xfrm>
            <a:off x="812782" y="3275013"/>
            <a:ext cx="10566436" cy="1398173"/>
          </a:xfrm>
          <a:prstGeom prst="roundRect">
            <a:avLst>
              <a:gd name="adj" fmla="val 9083"/>
            </a:avLst>
          </a:prstGeom>
          <a:solidFill>
            <a:srgbClr val="E1EEEB"/>
          </a:solidFill>
          <a:ln/>
        </p:spPr>
      </p:sp>
      <p:sp>
        <p:nvSpPr>
          <p:cNvPr id="20" name="Text 15"/>
          <p:cNvSpPr/>
          <p:nvPr/>
        </p:nvSpPr>
        <p:spPr>
          <a:xfrm>
            <a:off x="684238" y="3402013"/>
            <a:ext cx="10517198" cy="256489"/>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F6F6F"/>
                </a:solidFill>
                <a:latin typeface="Arial" pitchFamily="34" charset="0"/>
                <a:ea typeface="Arial" pitchFamily="34" charset="-122"/>
                <a:cs typeface="Arial" pitchFamily="34" charset="-120"/>
              </a:rPr>
              <a:t>‫בעבודה, בלי אינטרנט ובלי הרשאות מנהל‬</a:t>
            </a:r>
            <a:endParaRPr lang="en-US" sz="1400" dirty="0"/>
          </a:p>
        </p:txBody>
      </p:sp>
      <p:sp>
        <p:nvSpPr>
          <p:cNvPr id="21" name="Shape 16"/>
          <p:cNvSpPr/>
          <p:nvPr/>
        </p:nvSpPr>
        <p:spPr>
          <a:xfrm>
            <a:off x="990564" y="3709243"/>
            <a:ext cx="1480524" cy="836955"/>
          </a:xfrm>
          <a:prstGeom prst="roundRect">
            <a:avLst>
              <a:gd name="adj" fmla="val 10622"/>
            </a:avLst>
          </a:prstGeom>
          <a:solidFill>
            <a:srgbClr val="0F2233"/>
          </a:solidFill>
          <a:ln/>
        </p:spPr>
      </p:sp>
      <p:sp>
        <p:nvSpPr>
          <p:cNvPr id="22" name="Text 17"/>
          <p:cNvSpPr/>
          <p:nvPr/>
        </p:nvSpPr>
        <p:spPr>
          <a:xfrm>
            <a:off x="1028610" y="3798094"/>
            <a:ext cx="1353632"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6FD0C4"/>
                </a:solidFill>
                <a:latin typeface="Courier New" pitchFamily="49" charset="0"/>
                <a:ea typeface="Courier New" pitchFamily="49" charset="-122"/>
                <a:cs typeface="Courier New" pitchFamily="49" charset="-120"/>
              </a:rPr>
              <a:t>run</a:t>
            </a:r>
            <a:endParaRPr lang="en-US" sz="1200" dirty="0"/>
          </a:p>
        </p:txBody>
      </p:sp>
      <p:sp>
        <p:nvSpPr>
          <p:cNvPr id="23" name="Text 18"/>
          <p:cNvSpPr/>
          <p:nvPr/>
        </p:nvSpPr>
        <p:spPr>
          <a:xfrm>
            <a:off x="1028610" y="4034309"/>
            <a:ext cx="1353632"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‫האימון עצמו‬</a:t>
            </a:r>
            <a:endParaRPr lang="en-US" sz="1200" dirty="0"/>
          </a:p>
        </p:txBody>
      </p:sp>
      <p:pic>
        <p:nvPicPr>
          <p:cNvPr id="24" name="Image 3" descr="arrow-left">    </p:cNvPr>
          <p:cNvPicPr>
            <a:picLocks noChangeAspect="1"/>
          </p:cNvPicPr>
          <p:nvPr/>
        </p:nvPicPr>
        <p:blipFill>
          <a:blip r:embed="rId4"/>
          <a:srcRect l="0" r="0" t="-18" b="-18"/>
          <a:stretch/>
        </p:blipFill>
        <p:spPr>
          <a:xfrm>
            <a:off x="2521870" y="4064174"/>
            <a:ext cx="152346" cy="127000"/>
          </a:xfrm>
          <a:prstGeom prst="rect">
            <a:avLst/>
          </a:prstGeom>
        </p:spPr>
      </p:pic>
      <p:sp>
        <p:nvSpPr>
          <p:cNvPr id="25" name="Shape 19"/>
          <p:cNvSpPr/>
          <p:nvPr/>
        </p:nvSpPr>
        <p:spPr>
          <a:xfrm>
            <a:off x="2728173" y="3712418"/>
            <a:ext cx="1485810" cy="830605"/>
          </a:xfrm>
          <a:prstGeom prst="roundRect">
            <a:avLst>
              <a:gd name="adj" fmla="val 10321"/>
            </a:avLst>
          </a:prstGeom>
          <a:solidFill>
            <a:srgbClr val="FFFDF8"/>
          </a:solidFill>
          <a:ln w="6350">
            <a:solidFill>
              <a:srgbClr val="BFD6D0"/>
            </a:solidFill>
            <a:prstDash val="solid"/>
          </a:ln>
        </p:spPr>
      </p:sp>
      <p:sp>
        <p:nvSpPr>
          <p:cNvPr id="26" name="Text 20"/>
          <p:cNvSpPr/>
          <p:nvPr/>
        </p:nvSpPr>
        <p:spPr>
          <a:xfrm>
            <a:off x="2768816" y="3803848"/>
            <a:ext cx="1353723"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benchmark</a:t>
            </a:r>
            <a:endParaRPr lang="en-US" sz="1200" dirty="0"/>
          </a:p>
        </p:txBody>
      </p:sp>
      <p:sp>
        <p:nvSpPr>
          <p:cNvPr id="27" name="Text 21"/>
          <p:cNvSpPr/>
          <p:nvPr/>
        </p:nvSpPr>
        <p:spPr>
          <a:xfrm>
            <a:off x="2768816" y="4040088"/>
            <a:ext cx="1353723"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‫זמן, זיכרון, מקום‬</a:t>
            </a:r>
            <a:endParaRPr lang="en-US" sz="1200" dirty="0"/>
          </a:p>
        </p:txBody>
      </p:sp>
      <p:pic>
        <p:nvPicPr>
          <p:cNvPr id="28" name="Image 4" descr="arrow-left">    </p:cNvPr>
          <p:cNvPicPr>
            <a:picLocks noChangeAspect="1"/>
          </p:cNvPicPr>
          <p:nvPr/>
        </p:nvPicPr>
        <p:blipFill>
          <a:blip r:embed="rId5"/>
          <a:srcRect l="0" r="0" t="-18" b="-18"/>
          <a:stretch/>
        </p:blipFill>
        <p:spPr>
          <a:xfrm>
            <a:off x="4267939" y="4064174"/>
            <a:ext cx="152346" cy="127000"/>
          </a:xfrm>
          <a:prstGeom prst="rect">
            <a:avLst/>
          </a:prstGeom>
        </p:spPr>
      </p:pic>
      <p:sp>
        <p:nvSpPr>
          <p:cNvPr id="29" name="Shape 22"/>
          <p:cNvSpPr/>
          <p:nvPr/>
        </p:nvSpPr>
        <p:spPr>
          <a:xfrm>
            <a:off x="4474242" y="3712418"/>
            <a:ext cx="1485810" cy="830605"/>
          </a:xfrm>
          <a:prstGeom prst="roundRect">
            <a:avLst>
              <a:gd name="adj" fmla="val 10321"/>
            </a:avLst>
          </a:prstGeom>
          <a:solidFill>
            <a:srgbClr val="FFFDF8"/>
          </a:solidFill>
          <a:ln w="6350">
            <a:solidFill>
              <a:srgbClr val="BFD6D0"/>
            </a:solidFill>
            <a:prstDash val="solid"/>
          </a:ln>
        </p:spPr>
      </p:sp>
      <p:sp>
        <p:nvSpPr>
          <p:cNvPr id="30" name="Text 23"/>
          <p:cNvSpPr/>
          <p:nvPr/>
        </p:nvSpPr>
        <p:spPr>
          <a:xfrm>
            <a:off x="4514886" y="3803848"/>
            <a:ext cx="1353723"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prepare</a:t>
            </a:r>
            <a:endParaRPr lang="en-US" sz="1200" dirty="0"/>
          </a:p>
        </p:txBody>
      </p:sp>
      <p:sp>
        <p:nvSpPr>
          <p:cNvPr id="31" name="Text 24"/>
          <p:cNvSpPr/>
          <p:nvPr/>
        </p:nvSpPr>
        <p:spPr>
          <a:xfrm>
            <a:off x="4514886" y="4040088"/>
            <a:ext cx="1353723"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‫הנתונים שלכם‬</a:t>
            </a:r>
            <a:endParaRPr lang="en-US" sz="1200" dirty="0"/>
          </a:p>
        </p:txBody>
      </p:sp>
      <p:pic>
        <p:nvPicPr>
          <p:cNvPr id="32" name="Image 5" descr="arrow-left">    </p:cNvPr>
          <p:cNvPicPr>
            <a:picLocks noChangeAspect="1"/>
          </p:cNvPicPr>
          <p:nvPr/>
        </p:nvPicPr>
        <p:blipFill>
          <a:blip r:embed="rId6"/>
          <a:srcRect l="0" r="0" t="-18" b="-18"/>
          <a:stretch/>
        </p:blipFill>
        <p:spPr>
          <a:xfrm>
            <a:off x="6014009" y="4064174"/>
            <a:ext cx="152346" cy="127000"/>
          </a:xfrm>
          <a:prstGeom prst="rect">
            <a:avLst/>
          </a:prstGeom>
        </p:spPr>
      </p:pic>
      <p:sp>
        <p:nvSpPr>
          <p:cNvPr id="33" name="Shape 25"/>
          <p:cNvSpPr/>
          <p:nvPr/>
        </p:nvSpPr>
        <p:spPr>
          <a:xfrm>
            <a:off x="6220312" y="3712418"/>
            <a:ext cx="1485810" cy="830605"/>
          </a:xfrm>
          <a:prstGeom prst="roundRect">
            <a:avLst>
              <a:gd name="adj" fmla="val 10321"/>
            </a:avLst>
          </a:prstGeom>
          <a:solidFill>
            <a:srgbClr val="FFFDF8"/>
          </a:solidFill>
          <a:ln w="6350">
            <a:solidFill>
              <a:srgbClr val="BFD6D0"/>
            </a:solidFill>
            <a:prstDash val="solid"/>
          </a:ln>
        </p:spPr>
      </p:sp>
      <p:sp>
        <p:nvSpPr>
          <p:cNvPr id="34" name="Text 26"/>
          <p:cNvSpPr/>
          <p:nvPr/>
        </p:nvSpPr>
        <p:spPr>
          <a:xfrm>
            <a:off x="6260955" y="3803848"/>
            <a:ext cx="1353723"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smoke --full</a:t>
            </a:r>
            <a:endParaRPr lang="en-US" sz="1200" dirty="0"/>
          </a:p>
        </p:txBody>
      </p:sp>
      <p:sp>
        <p:nvSpPr>
          <p:cNvPr id="35" name="Text 27"/>
          <p:cNvSpPr/>
          <p:nvPr/>
        </p:nvSpPr>
        <p:spPr>
          <a:xfrm>
            <a:off x="6260955" y="4040088"/>
            <a:ext cx="1353723"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‫בדיקת מכניקה‬</a:t>
            </a:r>
            <a:endParaRPr lang="en-US" sz="1200" dirty="0"/>
          </a:p>
        </p:txBody>
      </p:sp>
      <p:pic>
        <p:nvPicPr>
          <p:cNvPr id="36" name="Image 6" descr="arrow-left">    </p:cNvPr>
          <p:cNvPicPr>
            <a:picLocks noChangeAspect="1"/>
          </p:cNvPicPr>
          <p:nvPr/>
        </p:nvPicPr>
        <p:blipFill>
          <a:blip r:embed="rId7"/>
          <a:srcRect l="0" r="0" t="-18" b="-18"/>
          <a:stretch/>
        </p:blipFill>
        <p:spPr>
          <a:xfrm>
            <a:off x="7760078" y="4064174"/>
            <a:ext cx="152346" cy="127000"/>
          </a:xfrm>
          <a:prstGeom prst="rect">
            <a:avLst/>
          </a:prstGeom>
        </p:spPr>
      </p:pic>
      <p:sp>
        <p:nvSpPr>
          <p:cNvPr id="37" name="Shape 28"/>
          <p:cNvSpPr/>
          <p:nvPr/>
        </p:nvSpPr>
        <p:spPr>
          <a:xfrm>
            <a:off x="7966381" y="3712418"/>
            <a:ext cx="1485810" cy="830605"/>
          </a:xfrm>
          <a:prstGeom prst="roundRect">
            <a:avLst>
              <a:gd name="adj" fmla="val 10321"/>
            </a:avLst>
          </a:prstGeom>
          <a:solidFill>
            <a:srgbClr val="FFFDF8"/>
          </a:solidFill>
          <a:ln w="6350">
            <a:solidFill>
              <a:srgbClr val="BFD6D0"/>
            </a:solidFill>
            <a:prstDash val="solid"/>
          </a:ln>
        </p:spPr>
      </p:sp>
      <p:sp>
        <p:nvSpPr>
          <p:cNvPr id="38" name="Text 29"/>
          <p:cNvSpPr/>
          <p:nvPr/>
        </p:nvSpPr>
        <p:spPr>
          <a:xfrm>
            <a:off x="8007025" y="3803848"/>
            <a:ext cx="1353723"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check</a:t>
            </a:r>
            <a:endParaRPr lang="en-US" sz="1200" dirty="0"/>
          </a:p>
        </p:txBody>
      </p:sp>
      <p:sp>
        <p:nvSpPr>
          <p:cNvPr id="39" name="Text 30"/>
          <p:cNvSpPr/>
          <p:nvPr/>
        </p:nvSpPr>
        <p:spPr>
          <a:xfrm>
            <a:off x="8007025" y="4040088"/>
            <a:ext cx="1353723"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‫בדיקת סביבה ונתונים‬</a:t>
            </a:r>
            <a:endParaRPr lang="en-US" sz="1200" dirty="0"/>
          </a:p>
        </p:txBody>
      </p:sp>
      <p:pic>
        <p:nvPicPr>
          <p:cNvPr id="40" name="Image 7" descr="arrow-left">    </p:cNvPr>
          <p:cNvPicPr>
            <a:picLocks noChangeAspect="1"/>
          </p:cNvPicPr>
          <p:nvPr/>
        </p:nvPicPr>
        <p:blipFill>
          <a:blip r:embed="rId8"/>
          <a:srcRect l="0" r="0" t="-18" b="-18"/>
          <a:stretch/>
        </p:blipFill>
        <p:spPr>
          <a:xfrm>
            <a:off x="9506148" y="4064174"/>
            <a:ext cx="152346" cy="127000"/>
          </a:xfrm>
          <a:prstGeom prst="rect">
            <a:avLst/>
          </a:prstGeom>
        </p:spPr>
      </p:pic>
      <p:sp>
        <p:nvSpPr>
          <p:cNvPr id="41" name="Shape 31"/>
          <p:cNvSpPr/>
          <p:nvPr/>
        </p:nvSpPr>
        <p:spPr>
          <a:xfrm>
            <a:off x="9712451" y="3712418"/>
            <a:ext cx="1485810" cy="830605"/>
          </a:xfrm>
          <a:prstGeom prst="roundRect">
            <a:avLst>
              <a:gd name="adj" fmla="val 10321"/>
            </a:avLst>
          </a:prstGeom>
          <a:solidFill>
            <a:srgbClr val="FFFDF8"/>
          </a:solidFill>
          <a:ln w="6350">
            <a:solidFill>
              <a:srgbClr val="BFD6D0"/>
            </a:solidFill>
            <a:prstDash val="solid"/>
          </a:ln>
        </p:spPr>
      </p:sp>
      <p:sp>
        <p:nvSpPr>
          <p:cNvPr id="42" name="Text 32"/>
          <p:cNvSpPr/>
          <p:nvPr/>
        </p:nvSpPr>
        <p:spPr>
          <a:xfrm>
            <a:off x="9753095" y="3803848"/>
            <a:ext cx="1353723" cy="223567"/>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1F6F6F"/>
                </a:solidFill>
                <a:latin typeface="Courier New" pitchFamily="49" charset="0"/>
                <a:ea typeface="Courier New" pitchFamily="49" charset="-122"/>
                <a:cs typeface="Courier New" pitchFamily="49" charset="-120"/>
              </a:rPr>
              <a:t>pip install</a:t>
            </a:r>
            <a:endParaRPr lang="en-US" sz="1200" dirty="0"/>
          </a:p>
        </p:txBody>
      </p:sp>
      <p:sp>
        <p:nvSpPr>
          <p:cNvPr id="43" name="Text 33"/>
          <p:cNvSpPr/>
          <p:nvPr/>
        </p:nvSpPr>
        <p:spPr>
          <a:xfrm>
            <a:off x="9753095" y="4040088"/>
            <a:ext cx="1353723"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6525C"/>
                </a:solidFill>
                <a:latin typeface="Arial" pitchFamily="34" charset="0"/>
                <a:ea typeface="Arial" pitchFamily="34" charset="-122"/>
                <a:cs typeface="Arial" pitchFamily="34" charset="-120"/>
              </a:rPr>
              <a:t>‫התקנה מקומית מתוך wheels‬</a:t>
            </a:r>
            <a:endParaRPr lang="en-US" sz="1200" dirty="0"/>
          </a:p>
        </p:txBody>
      </p:sp>
      <p:sp>
        <p:nvSpPr>
          <p:cNvPr id="44" name="Text 34"/>
          <p:cNvSpPr/>
          <p:nvPr/>
        </p:nvSpPr>
        <p:spPr>
          <a:xfrm>
            <a:off x="815957" y="4828704"/>
            <a:ext cx="3431129" cy="635144"/>
          </a:xfrm>
          <a:prstGeom prst="roundRect">
            <a:avLst>
              <a:gd name="adj" fmla="val 15496"/>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‫טרם נוסה על מחשב סגור: ההתקנה והנתונים שלכם‬</a:t>
            </a:r>
            <a:endParaRPr lang="en-US" sz="1200" dirty="0"/>
          </a:p>
        </p:txBody>
      </p:sp>
      <p:sp>
        <p:nvSpPr>
          <p:cNvPr id="45" name="Text 35"/>
          <p:cNvSpPr/>
          <p:nvPr/>
        </p:nvSpPr>
        <p:spPr>
          <a:xfrm>
            <a:off x="4380435" y="4828704"/>
            <a:ext cx="3431129" cy="635144"/>
          </a:xfrm>
          <a:prstGeom prst="roundRect">
            <a:avLst>
              <a:gd name="adj" fmla="val 15496"/>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‫גרסת הפייתון חייבת להתאים לחבילות ה-wheels‬</a:t>
            </a:r>
            <a:endParaRPr lang="en-US" sz="1200" dirty="0"/>
          </a:p>
        </p:txBody>
      </p:sp>
      <p:sp>
        <p:nvSpPr>
          <p:cNvPr id="46" name="Text 36"/>
          <p:cNvSpPr/>
          <p:nvPr/>
        </p:nvSpPr>
        <p:spPr>
          <a:xfrm>
            <a:off x="7944914" y="4828704"/>
            <a:ext cx="3431129" cy="635144"/>
          </a:xfrm>
          <a:prstGeom prst="roundRect">
            <a:avLst>
              <a:gd name="adj" fmla="val 15496"/>
            </a:avLst>
          </a:prstGeom>
          <a:solidFill>
            <a:srgbClr val="FFFDF8"/>
          </a:solidFill>
          <a:ln w="6350">
            <a:solidFill>
              <a:srgbClr val="E2DDD0"/>
            </a:solidFill>
            <a:prstDash val="solid"/>
          </a:ln>
        </p:spPr>
        <p:txBody>
          <a:bodyPr wrap="square" lIns="19074" tIns="75370" rIns="113470" bIns="49970" rtlCol="0" anchor="t">
            <a:normAutofit/>
          </a:bodyPr>
          <a:lstStyle/>
          <a:p>
            <a:pPr algn="r" indent="0" marL="0">
              <a:lnSpc>
                <a:spcPts val="1680"/>
              </a:lnSpc>
              <a:buNone/>
            </a:pPr>
            <a:r>
              <a:rPr lang="en-US" sz="1200" dirty="0">
                <a:solidFill>
                  <a:srgbClr val="46525C"/>
                </a:solidFill>
                <a:latin typeface="Arial" pitchFamily="34" charset="0"/>
                <a:ea typeface="Arial" pitchFamily="34" charset="-122"/>
                <a:cs typeface="Arial" pitchFamily="34" charset="-120"/>
              </a:rPr>
              <a:t>‫נתיב קצר כמו C:\stt, מחוץ ל-OneDrive ולתיקיות מסונכרנות‬</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233"/>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4"/>
                </a:solidFill>
                <a:latin typeface="Arial" pitchFamily="34" charset="0"/>
                <a:ea typeface="Arial" pitchFamily="34" charset="-122"/>
                <a:cs typeface="Arial" pitchFamily="34" charset="-120"/>
              </a:rPr>
              <a:t>‫סטטוס‬</a:t>
            </a:r>
            <a:endParaRPr lang="en-US" sz="1200" dirty="0"/>
          </a:p>
        </p:txBody>
      </p:sp>
      <p:sp>
        <p:nvSpPr>
          <p:cNvPr id="3" name="Text 1"/>
          <p:cNvSpPr/>
          <p:nvPr>
            <p:ph type="title"/>
          </p:nvPr>
        </p:nvSpPr>
        <p:spPr>
          <a:xfrm>
            <a:off x="495789" y="9499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F6F4EE"/>
                </a:solidFill>
                <a:latin typeface="Arial" pitchFamily="34" charset="0"/>
                <a:ea typeface="Arial" pitchFamily="34" charset="-122"/>
                <a:cs typeface="Arial" pitchFamily="34" charset="-120"/>
              </a:rPr>
              <a:t>‫איפה אנחנו ומה נשאר‬</a:t>
            </a:r>
            <a:endParaRPr lang="en-US" sz="3200" dirty="0"/>
          </a:p>
        </p:txBody>
      </p:sp>
      <p:sp>
        <p:nvSpPr>
          <p:cNvPr id="4" name="Shape 2"/>
          <p:cNvSpPr/>
          <p:nvPr/>
        </p:nvSpPr>
        <p:spPr>
          <a:xfrm>
            <a:off x="812782" y="1574775"/>
            <a:ext cx="5181654" cy="3064146"/>
          </a:xfrm>
          <a:prstGeom prst="roundRect">
            <a:avLst>
              <a:gd name="adj" fmla="val 4974"/>
            </a:avLst>
          </a:prstGeom>
          <a:solidFill>
            <a:srgbClr val="F6F4EE">
              <a:alpha val="7000"/>
            </a:srgbClr>
          </a:solidFill>
          <a:ln/>
        </p:spPr>
      </p:sp>
      <p:sp>
        <p:nvSpPr>
          <p:cNvPr id="5" name="Text 3"/>
          <p:cNvSpPr/>
          <p:nvPr/>
        </p:nvSpPr>
        <p:spPr>
          <a:xfrm>
            <a:off x="899610" y="1777901"/>
            <a:ext cx="4866262"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F2A36B"/>
                </a:solidFill>
                <a:latin typeface="Arial" pitchFamily="34" charset="0"/>
                <a:ea typeface="Arial" pitchFamily="34" charset="-122"/>
                <a:cs typeface="Arial" pitchFamily="34" charset="-120"/>
              </a:rPr>
              <a:t>‫נשאר‬</a:t>
            </a:r>
            <a:endParaRPr lang="en-US" sz="2000" dirty="0"/>
          </a:p>
        </p:txBody>
      </p:sp>
      <p:sp>
        <p:nvSpPr>
          <p:cNvPr id="6" name="Shape 4"/>
          <p:cNvSpPr/>
          <p:nvPr/>
        </p:nvSpPr>
        <p:spPr>
          <a:xfrm>
            <a:off x="5746822" y="2184251"/>
            <a:ext cx="0" cy="290621"/>
          </a:xfrm>
          <a:prstGeom prst="line">
            <a:avLst/>
          </a:prstGeom>
          <a:noFill/>
          <a:ln w="38100">
            <a:solidFill>
              <a:srgbClr val="F2A36B"/>
            </a:solidFill>
            <a:prstDash val="solid"/>
          </a:ln>
        </p:spPr>
      </p:sp>
      <p:sp>
        <p:nvSpPr>
          <p:cNvPr id="7" name="Text 5"/>
          <p:cNvSpPr/>
          <p:nvPr/>
        </p:nvSpPr>
        <p:spPr>
          <a:xfrm>
            <a:off x="904459" y="2209651"/>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‫O121 (תזמון) ואישור O122 בריצה אמיתית‬</a:t>
            </a:r>
            <a:endParaRPr lang="en-US" sz="1400" dirty="0"/>
          </a:p>
        </p:txBody>
      </p:sp>
      <p:sp>
        <p:nvSpPr>
          <p:cNvPr id="8" name="Shape 6"/>
          <p:cNvSpPr/>
          <p:nvPr/>
        </p:nvSpPr>
        <p:spPr>
          <a:xfrm>
            <a:off x="5746822" y="2576438"/>
            <a:ext cx="0" cy="290621"/>
          </a:xfrm>
          <a:prstGeom prst="line">
            <a:avLst/>
          </a:prstGeom>
          <a:noFill/>
          <a:ln w="38100">
            <a:solidFill>
              <a:srgbClr val="F2A36B"/>
            </a:solidFill>
            <a:prstDash val="solid"/>
          </a:ln>
        </p:spPr>
      </p:sp>
      <p:sp>
        <p:nvSpPr>
          <p:cNvPr id="9" name="Text 7"/>
          <p:cNvSpPr/>
          <p:nvPr/>
        </p:nvSpPr>
        <p:spPr>
          <a:xfrm>
            <a:off x="904459" y="2601838"/>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‫תמיכת GPU: מאושרת, טרם מומשה‬</a:t>
            </a:r>
            <a:endParaRPr lang="en-US" sz="1400" dirty="0"/>
          </a:p>
        </p:txBody>
      </p:sp>
      <p:sp>
        <p:nvSpPr>
          <p:cNvPr id="10" name="Shape 8"/>
          <p:cNvSpPr/>
          <p:nvPr/>
        </p:nvSpPr>
        <p:spPr>
          <a:xfrm>
            <a:off x="5746822" y="2968625"/>
            <a:ext cx="0" cy="290621"/>
          </a:xfrm>
          <a:prstGeom prst="line">
            <a:avLst/>
          </a:prstGeom>
          <a:noFill/>
          <a:ln w="38100">
            <a:solidFill>
              <a:srgbClr val="F2A36B"/>
            </a:solidFill>
            <a:prstDash val="solid"/>
          </a:ln>
        </p:spPr>
      </p:sp>
      <p:sp>
        <p:nvSpPr>
          <p:cNvPr id="11" name="Text 9"/>
          <p:cNvSpPr/>
          <p:nvPr/>
        </p:nvSpPr>
        <p:spPr>
          <a:xfrm>
            <a:off x="904459" y="2994025"/>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‫הצעה: שמירת פלט האנקודר, ממתינה למדידה‬</a:t>
            </a:r>
            <a:endParaRPr lang="en-US" sz="1400" dirty="0"/>
          </a:p>
        </p:txBody>
      </p:sp>
      <p:sp>
        <p:nvSpPr>
          <p:cNvPr id="12" name="Shape 10"/>
          <p:cNvSpPr/>
          <p:nvPr/>
        </p:nvSpPr>
        <p:spPr>
          <a:xfrm>
            <a:off x="5746822" y="3360812"/>
            <a:ext cx="0" cy="290621"/>
          </a:xfrm>
          <a:prstGeom prst="line">
            <a:avLst/>
          </a:prstGeom>
          <a:noFill/>
          <a:ln w="38100">
            <a:solidFill>
              <a:srgbClr val="F2A36B"/>
            </a:solidFill>
            <a:prstDash val="solid"/>
          </a:ln>
        </p:spPr>
      </p:sp>
      <p:sp>
        <p:nvSpPr>
          <p:cNvPr id="13" name="Text 11"/>
          <p:cNvSpPr/>
          <p:nvPr/>
        </p:nvSpPr>
        <p:spPr>
          <a:xfrm>
            <a:off x="904459" y="3386212"/>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‫צעדים שגדלים עם הנתונים ב-learning-curve‬</a:t>
            </a:r>
            <a:endParaRPr lang="en-US" sz="1400" dirty="0"/>
          </a:p>
        </p:txBody>
      </p:sp>
      <p:sp>
        <p:nvSpPr>
          <p:cNvPr id="14" name="Shape 12"/>
          <p:cNvSpPr/>
          <p:nvPr/>
        </p:nvSpPr>
        <p:spPr>
          <a:xfrm>
            <a:off x="5746822" y="3752974"/>
            <a:ext cx="0" cy="290621"/>
          </a:xfrm>
          <a:prstGeom prst="line">
            <a:avLst/>
          </a:prstGeom>
          <a:noFill/>
          <a:ln w="38100">
            <a:solidFill>
              <a:srgbClr val="F2A36B"/>
            </a:solidFill>
            <a:prstDash val="solid"/>
          </a:ln>
        </p:spPr>
      </p:sp>
      <p:sp>
        <p:nvSpPr>
          <p:cNvPr id="15" name="Text 13"/>
          <p:cNvSpPr/>
          <p:nvPr/>
        </p:nvSpPr>
        <p:spPr>
          <a:xfrm>
            <a:off x="904459" y="3778374"/>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‫חבילת שחרור, דוח מוכנות והרצה בעבודה‬</a:t>
            </a:r>
            <a:endParaRPr lang="en-US" sz="1400" dirty="0"/>
          </a:p>
        </p:txBody>
      </p:sp>
      <p:sp>
        <p:nvSpPr>
          <p:cNvPr id="16" name="Shape 14"/>
          <p:cNvSpPr/>
          <p:nvPr/>
        </p:nvSpPr>
        <p:spPr>
          <a:xfrm>
            <a:off x="5746822" y="4145161"/>
            <a:ext cx="0" cy="290621"/>
          </a:xfrm>
          <a:prstGeom prst="line">
            <a:avLst/>
          </a:prstGeom>
          <a:noFill/>
          <a:ln w="38100">
            <a:solidFill>
              <a:srgbClr val="F2A36B"/>
            </a:solidFill>
            <a:prstDash val="solid"/>
          </a:ln>
        </p:spPr>
      </p:sp>
      <p:sp>
        <p:nvSpPr>
          <p:cNvPr id="17" name="Text 15"/>
          <p:cNvSpPr/>
          <p:nvPr/>
        </p:nvSpPr>
        <p:spPr>
          <a:xfrm>
            <a:off x="904459" y="4170561"/>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‫תשובות מהמנהל: שעות, ליבות, RAM‬</a:t>
            </a:r>
            <a:endParaRPr lang="en-US" sz="1400" dirty="0"/>
          </a:p>
        </p:txBody>
      </p:sp>
      <p:sp>
        <p:nvSpPr>
          <p:cNvPr id="18" name="Shape 16"/>
          <p:cNvSpPr/>
          <p:nvPr/>
        </p:nvSpPr>
        <p:spPr>
          <a:xfrm>
            <a:off x="6197564" y="1574775"/>
            <a:ext cx="5181654" cy="3064146"/>
          </a:xfrm>
          <a:prstGeom prst="roundRect">
            <a:avLst>
              <a:gd name="adj" fmla="val 4974"/>
            </a:avLst>
          </a:prstGeom>
          <a:solidFill>
            <a:srgbClr val="F6F4EE">
              <a:alpha val="7000"/>
            </a:srgbClr>
          </a:solidFill>
          <a:ln/>
        </p:spPr>
      </p:sp>
      <p:sp>
        <p:nvSpPr>
          <p:cNvPr id="19" name="Text 17"/>
          <p:cNvSpPr/>
          <p:nvPr/>
        </p:nvSpPr>
        <p:spPr>
          <a:xfrm>
            <a:off x="6284392" y="1777901"/>
            <a:ext cx="4866262" cy="330182"/>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6FD0C4"/>
                </a:solidFill>
                <a:latin typeface="Arial" pitchFamily="34" charset="0"/>
                <a:ea typeface="Arial" pitchFamily="34" charset="-122"/>
                <a:cs typeface="Arial" pitchFamily="34" charset="-120"/>
              </a:rPr>
              <a:t>‫הושלם‬</a:t>
            </a:r>
            <a:endParaRPr lang="en-US" sz="2000" dirty="0"/>
          </a:p>
        </p:txBody>
      </p:sp>
      <p:sp>
        <p:nvSpPr>
          <p:cNvPr id="20" name="Shape 18"/>
          <p:cNvSpPr/>
          <p:nvPr/>
        </p:nvSpPr>
        <p:spPr>
          <a:xfrm>
            <a:off x="11131603" y="2184251"/>
            <a:ext cx="0" cy="290621"/>
          </a:xfrm>
          <a:prstGeom prst="line">
            <a:avLst/>
          </a:prstGeom>
          <a:noFill/>
          <a:ln w="38100">
            <a:solidFill>
              <a:srgbClr val="6FD0C4"/>
            </a:solidFill>
            <a:prstDash val="solid"/>
          </a:ln>
        </p:spPr>
      </p:sp>
      <p:sp>
        <p:nvSpPr>
          <p:cNvPr id="21" name="Text 19"/>
          <p:cNvSpPr/>
          <p:nvPr/>
        </p:nvSpPr>
        <p:spPr>
          <a:xfrm>
            <a:off x="6289241" y="2209651"/>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‫18 רכיבים עם 813 בדיקות אוטומטיות‬</a:t>
            </a:r>
            <a:endParaRPr lang="en-US" sz="1400" dirty="0"/>
          </a:p>
        </p:txBody>
      </p:sp>
      <p:sp>
        <p:nvSpPr>
          <p:cNvPr id="22" name="Shape 20"/>
          <p:cNvSpPr/>
          <p:nvPr/>
        </p:nvSpPr>
        <p:spPr>
          <a:xfrm>
            <a:off x="11131603" y="2576438"/>
            <a:ext cx="0" cy="290621"/>
          </a:xfrm>
          <a:prstGeom prst="line">
            <a:avLst/>
          </a:prstGeom>
          <a:noFill/>
          <a:ln w="38100">
            <a:solidFill>
              <a:srgbClr val="6FD0C4"/>
            </a:solidFill>
            <a:prstDash val="solid"/>
          </a:ln>
        </p:spPr>
      </p:sp>
      <p:sp>
        <p:nvSpPr>
          <p:cNvPr id="23" name="Text 21"/>
          <p:cNvSpPr/>
          <p:nvPr/>
        </p:nvSpPr>
        <p:spPr>
          <a:xfrm>
            <a:off x="6289241" y="2601838"/>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‫ריצת הדמיה מקצה לקצה עם whisper-tiny‬</a:t>
            </a:r>
            <a:endParaRPr lang="en-US" sz="1400" dirty="0"/>
          </a:p>
        </p:txBody>
      </p:sp>
      <p:sp>
        <p:nvSpPr>
          <p:cNvPr id="24" name="Shape 22"/>
          <p:cNvSpPr/>
          <p:nvPr/>
        </p:nvSpPr>
        <p:spPr>
          <a:xfrm>
            <a:off x="11131603" y="2968625"/>
            <a:ext cx="0" cy="290621"/>
          </a:xfrm>
          <a:prstGeom prst="line">
            <a:avLst/>
          </a:prstGeom>
          <a:noFill/>
          <a:ln w="38100">
            <a:solidFill>
              <a:srgbClr val="6FD0C4"/>
            </a:solidFill>
            <a:prstDash val="solid"/>
          </a:ln>
        </p:spPr>
      </p:sp>
      <p:sp>
        <p:nvSpPr>
          <p:cNvPr id="25" name="Text 23"/>
          <p:cNvSpPr/>
          <p:nvPr/>
        </p:nvSpPr>
        <p:spPr>
          <a:xfrm>
            <a:off x="6289241" y="2994025"/>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‫דוח HTML, התקדמות והמשך אחרי הפסקה‬</a:t>
            </a:r>
            <a:endParaRPr lang="en-US" sz="1400" dirty="0"/>
          </a:p>
        </p:txBody>
      </p:sp>
      <p:sp>
        <p:nvSpPr>
          <p:cNvPr id="26" name="Shape 24"/>
          <p:cNvSpPr/>
          <p:nvPr/>
        </p:nvSpPr>
        <p:spPr>
          <a:xfrm>
            <a:off x="11131603" y="3360812"/>
            <a:ext cx="0" cy="290621"/>
          </a:xfrm>
          <a:prstGeom prst="line">
            <a:avLst/>
          </a:prstGeom>
          <a:noFill/>
          <a:ln w="38100">
            <a:solidFill>
              <a:srgbClr val="6FD0C4"/>
            </a:solidFill>
            <a:prstDash val="solid"/>
          </a:ln>
        </p:spPr>
      </p:sp>
      <p:sp>
        <p:nvSpPr>
          <p:cNvPr id="27" name="Text 25"/>
          <p:cNvSpPr/>
          <p:nvPr/>
        </p:nvSpPr>
        <p:spPr>
          <a:xfrm>
            <a:off x="6289241" y="3386212"/>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‫רישום, ייצוא ובדיקת שלמות של המודל‬</a:t>
            </a:r>
            <a:endParaRPr lang="en-US" sz="1400" dirty="0"/>
          </a:p>
        </p:txBody>
      </p:sp>
      <p:sp>
        <p:nvSpPr>
          <p:cNvPr id="28" name="Shape 26"/>
          <p:cNvSpPr/>
          <p:nvPr/>
        </p:nvSpPr>
        <p:spPr>
          <a:xfrm>
            <a:off x="11131603" y="3752974"/>
            <a:ext cx="0" cy="290621"/>
          </a:xfrm>
          <a:prstGeom prst="line">
            <a:avLst/>
          </a:prstGeom>
          <a:noFill/>
          <a:ln w="38100">
            <a:solidFill>
              <a:srgbClr val="6FD0C4"/>
            </a:solidFill>
            <a:prstDash val="solid"/>
          </a:ln>
        </p:spPr>
      </p:sp>
      <p:sp>
        <p:nvSpPr>
          <p:cNvPr id="29" name="Text 27"/>
          <p:cNvSpPr/>
          <p:nvPr/>
        </p:nvSpPr>
        <p:spPr>
          <a:xfrm>
            <a:off x="6289241" y="3778374"/>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‫turbo נמדד: בסיס WER 0.8335 (tiny: 1.1318)‬</a:t>
            </a:r>
            <a:endParaRPr lang="en-US" sz="1400" dirty="0"/>
          </a:p>
        </p:txBody>
      </p:sp>
      <p:sp>
        <p:nvSpPr>
          <p:cNvPr id="30" name="Shape 28"/>
          <p:cNvSpPr/>
          <p:nvPr/>
        </p:nvSpPr>
        <p:spPr>
          <a:xfrm>
            <a:off x="11131603" y="4145161"/>
            <a:ext cx="0" cy="290621"/>
          </a:xfrm>
          <a:prstGeom prst="line">
            <a:avLst/>
          </a:prstGeom>
          <a:noFill/>
          <a:ln w="38100">
            <a:solidFill>
              <a:srgbClr val="6FD0C4"/>
            </a:solidFill>
            <a:prstDash val="solid"/>
          </a:ln>
        </p:spPr>
      </p:sp>
      <p:sp>
        <p:nvSpPr>
          <p:cNvPr id="31" name="Text 29"/>
          <p:cNvSpPr/>
          <p:nvPr/>
        </p:nvSpPr>
        <p:spPr>
          <a:xfrm>
            <a:off x="6289241" y="4170561"/>
            <a:ext cx="4699776" cy="265221"/>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F6F4EE"/>
                </a:solidFill>
                <a:latin typeface="Arial" pitchFamily="34" charset="0"/>
                <a:ea typeface="Arial" pitchFamily="34" charset="-122"/>
                <a:cs typeface="Arial" pitchFamily="34" charset="-120"/>
              </a:rPr>
              <a:t>‫זמן, זיכרון ודיסק של turbo על CPU נמדדו‬</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 מתוך 18 · Config‬</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‫ההגדרות‬</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‫קורא כל הגדרה, בודק אותה ומקפיא אותה‬</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‫אובייקט הגדרות אחד לקריאה בלבד‬</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‫קובץ YAML, מילות --set ומשתני סביבה‬</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‫מרכיב את ההגדרות לפי סדר עדיפות: ברירות מחדל, YAML, קובץ .env, משתני סביבה, ואז --set‬</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‫בודק שכל מפתח קיים ובטווח, ועוצר מיד עם הודעה ברורה אם משהו שגוי (קוד יציאה 2)‬</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‫מקפיא את התוצאה, כך שאף רכיב לא משנה הגדרה באמצע ריצה‬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כל רכיב מקבל ממנו רק את הפרק שלו‬</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‫21 פרקים, 184 מפתחות‬</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634219" y="4671665"/>
            <a:ext cx="2735298"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(34 בדיקות). הורץ באמת בכל פקודה.‬</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runtime.seed</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runtime.online</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extends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2 מתוך 18 · DataSource‬</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‫קריאת הנתונים‬</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‫קורא אודיו עם תמלול לרשימה אחידה, ורושם מה נדחה‬</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‫רשימת קטעים, rejected.csv ודוח טעינה‬</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‫קובצי parquet, או תיקייה עם manifest.csv ואודיו‬</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‫קורא כל קטע ובודק שהאודיו והתמלול קיימים ותקינים‬</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‫קטע פגום לא נעלם בשקט: הוא נרשם ב-rejected.csv עם סיבה‬</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‫אם נדחה יותר מדי (data.max_rejected_ratio), הריצה נעצרת בקוד 3‬</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מעביר את הקטעים ל-Splitter‬</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‫8,723 קטעים, 0 נדחו‬</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‫710 שיעורים.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(35). הורץ באמת.‬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data.source.path</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data.columns.group</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data.max_rejected_ratio</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3 מתוך 18 · Splitter‬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‫פיצול ל-Train, Val ו-Test‬</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‫מחלק את הקטעים לשלוש קבוצות, ושיעור אחד לא נמצא בשתיים‬</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‫שלוש קבוצות, דוח וטביעות אצבע‬</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‫רשימת הקטעים‬</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‫מקבץ קטעים לפי שיעור (group) ומחלק קבוצות שלמות, בערך 80% / 10% / 10% לפי משך‬</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‫הפיצול נקבע לפי seed, ולכן חוזר זהה בכל ריצה‬</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‫טביעות האצבע שומרות על עקביות הפיצול בין שלבי אותה ריצה‬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מזין את TextNormalizer‬</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‫6,973 / 875 / 875‬</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‫קטעים בכל הנתונים.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(41). הורץ באמת, במצב אחד.‬</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split.mode</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split.ratios</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split.seed</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4 מתוך 18 · TextNormalizer‬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‫נרמול הטקסט‬</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‫מכין מכל תווית שני טקסטים: לאימון ולמדידה‬</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‫train_text, eval_text, דגלים ורשימת תווים‬</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‫תוויות גולמיות עם סימני זמן‬</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‫train_text עדין: משאיר פיסוק ומסיר רק סימני זמן‬</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‫eval_text אגרסיבי: בלי פיסוק, ניקוד וסוגריים, כדי שהמדד יתמקד במילים‬</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‫אין תיקון כתיב. שינוי כללי המדידה דורש גרסה חדשה (text.eval_version)‬</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SampleFilter קורא את הטקסטים, וה-Evaluator משתמש באותו מתכון מדידה‬</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‫8,723 מתוך 8,723‬</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‫התוויות כוללות סימני זמן.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(36). הורץ באמת.‬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text.eval_version</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text.profiles.eval.steps</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text.bracket.mode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5 מתוך 18 · SampleFilter‬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‫סינון קטעים‬</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‫מחליט אילו קטעים טובים מספיק‬</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‫קטעים שנשארו ורשימת 'היו נדחים'‬</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‫קטעים מנורמלים של קבוצה אחת‬</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‫כללים כמו משך מרבי של 30 שניות‬</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‫במצב report רק מדווח ולא מסיר דבר. במצב apply מסיר באמת‬</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‫קטע ארוך מ-30 שניות שלא הוסר מפיל את FeaturePipeline, ולכן בנתוני העבודה צריך apply‬</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מעביר את הנשארים ל-Subsampler‬</a:t>
            </a:r>
            <a:endParaRPr lang="en-US" sz="1300" dirty="0"/>
          </a:p>
        </p:txBody>
      </p:sp>
      <p:sp>
        <p:nvSpPr>
          <p:cNvPr id="21" name="Shape 18"/>
          <p:cNvSpPr/>
          <p:nvPr/>
        </p:nvSpPr>
        <p:spPr>
          <a:xfrm>
            <a:off x="812782" y="4322316"/>
            <a:ext cx="3681737" cy="915789"/>
          </a:xfrm>
          <a:prstGeom prst="roundRect">
            <a:avLst>
              <a:gd name="adj" fmla="val 13868"/>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‫0 מתוך 6,973‬</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‫קטעי Train שהיו נדחים. נמדד‬</a:t>
            </a:r>
            <a:endParaRPr lang="en-US" sz="1200" dirty="0"/>
          </a:p>
        </p:txBody>
      </p:sp>
      <p:sp>
        <p:nvSpPr>
          <p:cNvPr id="24" name="Shape 21"/>
          <p:cNvSpPr/>
          <p:nvPr/>
        </p:nvSpPr>
        <p:spPr>
          <a:xfrm>
            <a:off x="4627869" y="4328666"/>
            <a:ext cx="2924626" cy="903089"/>
          </a:xfrm>
          <a:prstGeom prst="roundRect">
            <a:avLst>
              <a:gd name="adj" fmla="val 13360"/>
            </a:avLst>
          </a:prstGeom>
          <a:solidFill>
            <a:srgbClr val="F6E3D8"/>
          </a:solidFill>
          <a:ln w="12700">
            <a:solidFill>
              <a:srgbClr val="B8481A"/>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(29). הורץ במצב report. מצב apply לא הורץ אף פעם.‬</a:t>
            </a:r>
            <a:endParaRPr lang="en-US" sz="1200" dirty="0"/>
          </a:p>
        </p:txBody>
      </p:sp>
      <p:sp>
        <p:nvSpPr>
          <p:cNvPr id="27" name="Shape 24"/>
          <p:cNvSpPr/>
          <p:nvPr/>
        </p:nvSpPr>
        <p:spPr>
          <a:xfrm>
            <a:off x="7689020" y="4325491"/>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filter.mode</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filter.min_kept_ratio</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6 מתוך 18 · Subsampler‬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‫דגימת חלק מהנתונים‬</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‫בוחר חלק קטן וחוזר על עצמו מהנתונים‬</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‫קבוצות קטנות ודוח‬</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‫הקבוצות המסוננות וגודל או preset‬</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‫preset כמו work_like לוקח כעשירית, לפי שיעורים שלמים‬</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‫הבחירה חוזרת על עצמה (seed), והחלק הקטן נמצא בתוך הגדול‬</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 שלב אחר כך רואה רק את החלק הקטן‬</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השלבים הבאים רואים רק את הנתונים הקטנים‬</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‫702 / 101 / 97‬</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‫קטעים ב-work_like.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(26). הורץ באמת.‬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subsample.enabled</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subsample.preset</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subsample.val_samples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7 מתוך 18 · ModelLoader‬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‫טעינת המודל‬</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‫טוען מודל Whisper ו-tokenizer מתיקייה מקומית‬</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‫מודל, מחלץ מאפיינים, tokenizer ותיאור המודל‬</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‫תיקיית מודל‬</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‫דורש model.safetensors, config.json, preprocessor_config.json וקובצי tokenizer‬</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‫מסרב לקובץ .bin ולמודל אנגלית בלבד, וקורא את מספר פסי ה-mel מהמודל (80 ב-tiny, 128 ב-turbo)‬</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‫לא פונה לרשת: רק תיקייה מקומית‬</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FeaturePipeline, TrainerCore ו-Evaluator משתמשים במה שנטען‬</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‫808,878,080 פרמטרים‬</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‫turbo, טעינה 17 שניות.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F6E3D8"/>
          </a:solidFill>
          <a:ln w="12700">
            <a:solidFill>
              <a:srgbClr val="B8481A"/>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(28). הורץ באמת. משקולות מפוצלות (sharded) לא הורצו אף פעם.‬</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model.path</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model.dtype</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model.language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8 מתוך 18 · FeaturePipeline‬</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‫הכנת קלט למודל‬</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‫הופך קטעים לקלט ולתוויות מספריות ובונה batches‬</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‫dataset עצל ובונה batches‬</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‫קטעים שנשארו והמודל‬</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‫טוען אודיו, מערבב לערוץ אחד ומדגם ל-16 קילו-הרץ‬</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‫יוצר log-mel מרופד ל-30 שניות, והתווית הופכת למספרים (tokens)‬</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‫קטע ארוך מ-30 שניות נכשל, ולכן צריך לסנן או לקצר קודם‬</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TrainerCore ו-Evaluator קוראים ממנו את ה-batches‬</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‫21 מילישניות לקטע‬</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‫מטמון כבוי. נמדד מוקדם יותר‬</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(32). הורץ באמת.‬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features.cache.enabled</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features.max_dropped_ratio</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features.shuffle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9 מתוך 18 · TrainerCore‬</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‫האימון עצמו‬</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‫מריץ אימון אחד ומחזיר תיקיית מודל‬</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‫תיקיית מודל ו-metrics.csv‬</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‫מודל, נתוני Train ו-Val והגדרות‬</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‫מאמן על CPU עם AdamW ב-float32, ומחשב Val loss כל eval_every_steps‬</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‫שומר נקודות ביקורת, ואפשר להמשיך אחרי הפסקה כשההגדרות זהות‬</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‫freeze_policy יכול להקפיא את האנקודר. אם שינוי שם תיקייה ב-Windows נכשל, ננסה שוב (ברירת מחדל 5 פעמים)‬</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ה-Searcher וה-Orchestrator מפעילים אותו‬</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‫106 שניות לצעד‬</a:t>
            </a:r>
            <a:endParaRPr lang="en-US" sz="1800" dirty="0"/>
          </a:p>
        </p:txBody>
      </p:sp>
      <p:sp>
        <p:nvSpPr>
          <p:cNvPr id="23" name="Text 20"/>
          <p:cNvSpPr/>
          <p:nvPr/>
        </p:nvSpPr>
        <p:spPr>
          <a:xfrm>
            <a:off x="890779" y="4712072"/>
            <a:ext cx="3425959"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‫turbo, אנקודר מוקפא: 171.9M מתוך 808.9M מאומנים. כפי שהודפס.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F6E3D8"/>
          </a:solidFill>
          <a:ln w="12700">
            <a:solidFill>
              <a:srgbClr val="B8481A"/>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(51). הורץ באמת, אבל עם turbo רק 3 צעדי בנצ'מרק.‬</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train.hyperparams.learning_rate</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train.freeze_policy</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train.save_optimizer_state</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10 מתוך 18 · Evaluator‬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‫מדידת WER‬</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‫מתמלל קטעים, מחשב WER ו-CER ומשווה בין שתי תוצאות‬</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‫WER, CER, ציון לכל קטע ורשימת האזנה‬</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‫קטעים, תמלולי ייחוס ומודל‬</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‫תמלול greedy, בעברית, בלי חותמות זמן, עד 240 טוקנים לקטע של 30 שניות‬</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‫הפלט והייחוס עוברים אותה נורמליזציה, ואז סופרים שגיאות מילים (החלפה, מחיקה, הוספה)‬</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‫השוואה בין שני מודלים: bootstrap זוגי לפי קבוצות, 2,000 דגימות, ביטחון 90%‬</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ה-Selector משתמש בהשוואות שלו‬</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‫WER 0.8335‬</a:t>
            </a:r>
            <a:endParaRPr lang="en-US" sz="1800" dirty="0"/>
          </a:p>
        </p:txBody>
      </p:sp>
      <p:sp>
        <p:nvSpPr>
          <p:cNvPr id="23" name="Text 20"/>
          <p:cNvSpPr/>
          <p:nvPr/>
        </p:nvSpPr>
        <p:spPr>
          <a:xfrm>
            <a:off x="890779" y="4712072"/>
            <a:ext cx="3425959"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‫turbo לפני אימון, 101 קטעי Val, 16.6 שניות לקטע.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(23 + 7). הורץ באמת.‬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eval.batch_size</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eval.significance.confidence</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eval.generation.num_beams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11 מתוך 18 · HyperparamSearcher‬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‫חיפוש הגדרות‬</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‫מנסה הגדרות ומדרג אותן לפי Val loss‬</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‫ניסויים מדורגים ו-finalists‬</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‫מרחב חיפוש ומפעיל ניסוי‬</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 ניסוי מתחיל מעותק חדש של המודל המקורי, ומתאמן על תת-קבוצה קטנה‬</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‫ברירת המחדל grid (optuna_tpe אפשרי), ואפשר לחפש רק שישה פרמטרים‬</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‫הטובים ביותר, לפי finalists.k, עוברים הלאה כ-finalists‬</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כל ניסוי קורא ל-TrainerCore‬</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‫4 ניסויים, כ-195 שניות כל אחד‬</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‫ריצת הדמיה, Val loss הטוב ביותר 1.46.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F6E3D8"/>
          </a:solidFill>
          <a:ln w="12700">
            <a:solidFill>
              <a:srgbClr val="B8481A"/>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(28). הורץ עם tiny. עם turbo לא הורץ.‬</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search.n_trials</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search.parameters</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search.finalists.k</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12 מתוך 18 · Selector‬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‫בחירת המנצח‬</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‫בוחר מנצח, או קובע שהמקורי נשאר‬</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‫פסק דין, טבלת השוואה והסבר‬</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‫תוצאות Val ופונקציית Test חד-פעמית‬</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‫כשר רק מי שהשתפר בצורה מוכחת (select.min_verdict)‬</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‫מבין הכשרים, Val WER הנמוך ביותר. הפרש עד 0.001 הוא תיקו, ומכריע Val loss‬</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‫Test נפתח פעם אחת, למנצח ולמקורי. אם אין כשר, המקורי נשאר ו-Test לא נפתח‬</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ה-ModelRegistry שומר את ההחלטה‬</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‫Val 1.1318 ל-1.0279‬</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‫Test 1.1728 ל-1.0599. ריצת הדמיה,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(17). הורץ באמת פעם אחת.‬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select.min_verdict</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select.tie_epsilon</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select.test_confirmation</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13 מתוך 18 · ModelRegistry‬</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‫רישום המודל‬</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‫שומר את המודל הנבחר ברשומה ממוספרת שלא משתנה‬</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‫registry\model_NNNN, כרטיס מודל, checksums ו-index.csv‬</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‫תוצאת הבחירה ותיקיית המודל‬</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‫מעתיק את המודל לרשומה חדשה ולא דורס ישנה‬</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‫כותב כרטיס מודל עם התוצאות וההגדרות, וסכום ביקורת (checksum) לכל קובץ‬</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‫שומר רשומת החלטה, כולל כמה פעמים נפתח Test‬</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ModelExporter מוסיף לרשומה רשומות ייצוא‬</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‫model_0001, 149 MB‬</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‫Test נפתח פעם אחת.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(24). הורץ באמת פעם אחת.‬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registry.dir</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registry.transfer</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registry.cleanup</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14 מתוך 18 · ModelExporter‬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‫ייצוא המודל‬</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‫ממיר מודל רשום לפורמט יעד ובודק אותו‬</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‫exports.json ותוצאת אימות‬</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‫מזהה רשומה ב-registry‬</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‫ממיר לפורמט המבוקש (export.formats)‬</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‫בודק שהמודל נטען ושהתוצאה קרובה למקור (export.max_wer_diff)‬</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‫אם הבדיקה נכשלת: קוד יציאה 5‬</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קורא מה-ModelRegistry. שום דבר לא בא אחריו‬</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‫37,760,640 פרמטרים‬</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‫תואמים, ייצוא ok. ריצת הדמיה,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F6E3D8"/>
          </a:solidFill>
          <a:ln w="12700">
            <a:solidFill>
              <a:srgbClr val="B8481A"/>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(23). הורץ באמת בפורמט אחד. האחרים לא נבנו.‬</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export.formats</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export.verify</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export.max_wer_diff</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15 מתוך 18 · RunManager‬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‫ניהול ריצות‬</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‫פותח תיקיות ניסוי ממוספרות ושומר את הרשומות שלהן‬</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‫exp_NNNN עם הגדרות, סטטוס, יומנים ונעילה‬</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‫הגדרות הריצה‬</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 פקודה פותחת תיקייה חדשה exp_NNNN ושומרת בה config_full.yaml‬</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‫status.json ו-logs\run.log מראים מה קרה, ו-run.lock מונע שתי ריצות במקביל‬</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‫טביעת אצבע של ההגדרות מאפשרת להמשיך ריצה רק כשההגדרות זהות‬</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כל פקודה כותבת את הקבצים שלה דרכו‬</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‫exp_0002: 17 קבצים‬</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‫0.56 MB, בסיס turbo.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(29). הורץ באמת.‬</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run.experiments_dir</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run.parent</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run.lock_stale_minutes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16 מתוך 18 · Orchestrator + CLI‬</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‫התזמור ושורת הפקודה‬</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‫מחבר את הרכיבים ומריץ שלב אחד או הכול‬</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‫ניסוי, סיכום JSON וקוד יציאה‬</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‫פקודה ו-config‬</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‫המקום היחיד שמחבר רכיבים קונקרטיים: שאר הקוד תלוי רק בממשקים‬</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‫שלבי run: prepare, evaluate, search, finalists, select_and_register‬</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‫שומר שה-Test נפתח פעם אחת בלבד (TestOnceGuard)‬</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קורא לכל שאר הרכיבים לפי הסדר‬</a:t>
            </a:r>
            <a:endParaRPr lang="en-US" sz="1300" dirty="0"/>
          </a:p>
        </p:txBody>
      </p:sp>
      <p:sp>
        <p:nvSpPr>
          <p:cNvPr id="21" name="Shape 18"/>
          <p:cNvSpPr/>
          <p:nvPr/>
        </p:nvSpPr>
        <p:spPr>
          <a:xfrm>
            <a:off x="812782" y="4322316"/>
            <a:ext cx="3681737" cy="915789"/>
          </a:xfrm>
          <a:prstGeom prst="roundRect">
            <a:avLst>
              <a:gd name="adj" fmla="val 13868"/>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‫38 דקות מול 37‬</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‫ריצת הדמיה: בפועל מול מתוכנן. נמדד‬</a:t>
            </a:r>
            <a:endParaRPr lang="en-US" sz="1200" dirty="0"/>
          </a:p>
        </p:txBody>
      </p:sp>
      <p:sp>
        <p:nvSpPr>
          <p:cNvPr id="24" name="Shape 21"/>
          <p:cNvSpPr/>
          <p:nvPr/>
        </p:nvSpPr>
        <p:spPr>
          <a:xfrm>
            <a:off x="4627869" y="4328666"/>
            <a:ext cx="2924626" cy="903089"/>
          </a:xfrm>
          <a:prstGeom prst="roundRect">
            <a:avLst>
              <a:gd name="adj" fmla="val 13360"/>
            </a:avLst>
          </a:prstGeom>
          <a:solidFill>
            <a:srgbClr val="F6E3D8"/>
          </a:solidFill>
          <a:ln w="12700">
            <a:solidFill>
              <a:srgbClr val="B8481A"/>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(175). הורץ באמת. learning-curve על נתונים אמיתיים לא הורץ.‬</a:t>
            </a:r>
            <a:endParaRPr lang="en-US" sz="1200" dirty="0"/>
          </a:p>
        </p:txBody>
      </p:sp>
      <p:sp>
        <p:nvSpPr>
          <p:cNvPr id="27" name="Shape 24"/>
          <p:cNvSpPr/>
          <p:nvPr/>
        </p:nvSpPr>
        <p:spPr>
          <a:xfrm>
            <a:off x="7689020" y="4325491"/>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88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pipeline.stages</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benchmark.steps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75"/>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17 מתוך 18 · ReportBuilder‬</a:t>
            </a:r>
            <a:endParaRPr lang="en-US" sz="1200" dirty="0"/>
          </a:p>
        </p:txBody>
      </p:sp>
      <p:sp>
        <p:nvSpPr>
          <p:cNvPr id="3" name="Text 1"/>
          <p:cNvSpPr/>
          <p:nvPr>
            <p:ph type="title"/>
          </p:nvPr>
        </p:nvSpPr>
        <p:spPr>
          <a:xfrm>
            <a:off x="495789" y="873745"/>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‫בניית הדוח‬</a:t>
            </a:r>
            <a:endParaRPr lang="en-US" sz="3200" dirty="0"/>
          </a:p>
        </p:txBody>
      </p:sp>
      <p:sp>
        <p:nvSpPr>
          <p:cNvPr id="4" name="Text 2"/>
          <p:cNvSpPr/>
          <p:nvPr/>
        </p:nvSpPr>
        <p:spPr>
          <a:xfrm>
            <a:off x="495789" y="1422326"/>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‫בונה דף HTML אחד לא-מקוון: פסק דין, גרפים ורשימת האזנה‬</a:t>
            </a:r>
            <a:endParaRPr lang="en-US" sz="1500" dirty="0"/>
          </a:p>
        </p:txBody>
      </p:sp>
      <p:sp>
        <p:nvSpPr>
          <p:cNvPr id="5" name="Shape 3"/>
          <p:cNvSpPr/>
          <p:nvPr/>
        </p:nvSpPr>
        <p:spPr>
          <a:xfrm>
            <a:off x="812782" y="1781051"/>
            <a:ext cx="5080090" cy="615788"/>
          </a:xfrm>
          <a:prstGeom prst="roundRect">
            <a:avLst>
              <a:gd name="adj" fmla="val 20624"/>
            </a:avLst>
          </a:prstGeom>
          <a:solidFill>
            <a:srgbClr val="E1EEEB"/>
          </a:solidFill>
          <a:ln/>
        </p:spPr>
      </p:sp>
      <p:sp>
        <p:nvSpPr>
          <p:cNvPr id="6" name="Text 4"/>
          <p:cNvSpPr/>
          <p:nvPr/>
        </p:nvSpPr>
        <p:spPr>
          <a:xfrm>
            <a:off x="821866"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‫reports\report.html‬</a:t>
            </a:r>
            <a:endParaRPr lang="en-US" sz="1300" dirty="0"/>
          </a:p>
        </p:txBody>
      </p:sp>
      <p:pic>
        <p:nvPicPr>
          <p:cNvPr id="8" name="Image 0" descr="arrow-left">    </p:cNvPr>
          <p:cNvPicPr>
            <a:picLocks noChangeAspect="1"/>
          </p:cNvPicPr>
          <p:nvPr/>
        </p:nvPicPr>
        <p:blipFill>
          <a:blip r:embed="rId1"/>
          <a:srcRect l="-11" r="-11" t="0" b="0"/>
          <a:stretch/>
        </p:blipFill>
        <p:spPr>
          <a:xfrm>
            <a:off x="5969000" y="2006377"/>
            <a:ext cx="254000" cy="165064"/>
          </a:xfrm>
          <a:prstGeom prst="rect">
            <a:avLst/>
          </a:prstGeom>
        </p:spPr>
      </p:pic>
      <p:sp>
        <p:nvSpPr>
          <p:cNvPr id="9" name="Shape 6"/>
          <p:cNvSpPr/>
          <p:nvPr/>
        </p:nvSpPr>
        <p:spPr>
          <a:xfrm>
            <a:off x="6299128" y="1781051"/>
            <a:ext cx="5080090" cy="615788"/>
          </a:xfrm>
          <a:prstGeom prst="roundRect">
            <a:avLst>
              <a:gd name="adj" fmla="val 20624"/>
            </a:avLst>
          </a:prstGeom>
          <a:solidFill>
            <a:srgbClr val="E9E5D8"/>
          </a:solidFill>
          <a:ln/>
        </p:spPr>
      </p:sp>
      <p:sp>
        <p:nvSpPr>
          <p:cNvPr id="10" name="Text 7"/>
          <p:cNvSpPr/>
          <p:nvPr/>
        </p:nvSpPr>
        <p:spPr>
          <a:xfrm>
            <a:off x="6308212" y="1869901"/>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‫קובצי התוצאות שנשמרו‬</a:t>
            </a:r>
            <a:endParaRPr lang="en-US" sz="1300" dirty="0"/>
          </a:p>
        </p:txBody>
      </p:sp>
      <p:sp>
        <p:nvSpPr>
          <p:cNvPr id="12" name="Shape 9"/>
          <p:cNvSpPr/>
          <p:nvPr/>
        </p:nvSpPr>
        <p:spPr>
          <a:xfrm>
            <a:off x="815957" y="2501578"/>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47"/>
            <a:ext cx="0" cy="248047"/>
          </a:xfrm>
          <a:prstGeom prst="line">
            <a:avLst/>
          </a:prstGeom>
          <a:noFill/>
          <a:ln w="38100">
            <a:solidFill>
              <a:srgbClr val="1F6F6F"/>
            </a:solidFill>
            <a:prstDash val="solid"/>
          </a:ln>
        </p:spPr>
      </p:sp>
      <p:sp>
        <p:nvSpPr>
          <p:cNvPr id="15" name="Text 12"/>
          <p:cNvSpPr/>
          <p:nvPr/>
        </p:nvSpPr>
        <p:spPr>
          <a:xfrm>
            <a:off x="694444" y="284194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‫12 סעיפים, וגם 8 כללי אבחון אוטומטיים (למשל overfitting ו-no_learning)‬</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‫הכללים נותנים רמזים, לא החלטות‬</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‫פקודה נפרדת (report). פקודת run לא בונה אותו‬</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קורא מה ששאר השלבים שמרו‬</a:t>
            </a:r>
            <a:endParaRPr lang="en-US" sz="1300" dirty="0"/>
          </a:p>
        </p:txBody>
      </p:sp>
      <p:sp>
        <p:nvSpPr>
          <p:cNvPr id="21" name="Shape 18"/>
          <p:cNvSpPr/>
          <p:nvPr/>
        </p:nvSpPr>
        <p:spPr>
          <a:xfrm>
            <a:off x="812782" y="4322316"/>
            <a:ext cx="3681737" cy="1167263"/>
          </a:xfrm>
          <a:prstGeom prst="roundRect">
            <a:avLst>
              <a:gd name="adj" fmla="val 10880"/>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‫116 KB, 12 סעיפים‬</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‫דוח ריצת ההדמיה. נמדד‬</a:t>
            </a:r>
            <a:endParaRPr lang="en-US" sz="1200" dirty="0"/>
          </a:p>
        </p:txBody>
      </p:sp>
      <p:sp>
        <p:nvSpPr>
          <p:cNvPr id="24" name="Shape 21"/>
          <p:cNvSpPr/>
          <p:nvPr/>
        </p:nvSpPr>
        <p:spPr>
          <a:xfrm>
            <a:off x="4627869" y="4328666"/>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(55). הורץ באמת על ריצת ההדמיה.‬</a:t>
            </a:r>
            <a:endParaRPr lang="en-US" sz="1200" dirty="0"/>
          </a:p>
        </p:txBody>
      </p:sp>
      <p:sp>
        <p:nvSpPr>
          <p:cNvPr id="27" name="Shape 24"/>
          <p:cNvSpPr/>
          <p:nvPr/>
        </p:nvSpPr>
        <p:spPr>
          <a:xfrm>
            <a:off x="7689020" y="4325491"/>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46"/>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692195" y="4665886"/>
            <a:ext cx="350346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report.target_relative_wer_reduction</a:t>
            </a:r>
            <a:endParaRPr lang="en-US" sz="1200" dirty="0"/>
          </a:p>
        </p:txBody>
      </p:sp>
      <p:sp>
        <p:nvSpPr>
          <p:cNvPr id="30" name="Text 27"/>
          <p:cNvSpPr/>
          <p:nvPr/>
        </p:nvSpPr>
        <p:spPr>
          <a:xfrm>
            <a:off x="7769612" y="491735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report.hints.enabled_rules</a:t>
            </a:r>
            <a:endParaRPr lang="en-US" sz="1200" dirty="0"/>
          </a:p>
        </p:txBody>
      </p:sp>
      <p:sp>
        <p:nvSpPr>
          <p:cNvPr id="31" name="Text 28"/>
          <p:cNvSpPr/>
          <p:nvPr/>
        </p:nvSpPr>
        <p:spPr>
          <a:xfrm>
            <a:off x="7769612" y="5168826"/>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report.absolute_audio_paths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‫רכיב 18 מתוך 18 · Tools‬</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‫כלי העזר‬</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‫סקריפטים בצד הבית למודלים, נתונים וחבילות‬</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‫תיקיות מודל ונתונים, wheels ו-MANIFEST.sha256‬</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‫שם repo. הרשת מותרת רק כאן‬</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‫fetch_model מוריד מודל Transformers (קובצי json, txt, safetensors ו-model)‬</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‫אורזים חבילות Python (wheels) להתקנה בלי רשת‬</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‫הכלים רצים בבית בלבד, ולא בזמן ריצה‬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שום דבר בזמן ריצה‬</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‫3.24 GB, 11 קבצים‬</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‫הורדת turbo.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F6E3D8"/>
          </a:solidFill>
          <a:ln w="12700">
            <a:solidFill>
              <a:srgbClr val="B8481A"/>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436887"/>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‫נבדק. הורץ באמת. wheels במחשב סגור לא הורצו.‬</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--repo</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--out</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1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‫להכין את המרכיבים (בבית)‬</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‫מורידים מודל, נתונים וחבילות כל עוד יש רשת‬</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‫models\, data\daf_yomi_raw ו-wheels\‬</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‫שמות repo‬</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‫מריצים את tools\fetch_model.py על ה-repo של turbo‬</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‫מורידים את נתוני Daf Yomi ואורזים wheels‬</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‫זה השלב היחיד שצריך רשת‬</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Tools‬</a:t>
            </a:r>
            <a:endParaRPr lang="en-US" sz="1300" dirty="0"/>
          </a:p>
        </p:txBody>
      </p:sp>
      <p:sp>
        <p:nvSpPr>
          <p:cNvPr id="21" name="Shape 18"/>
          <p:cNvSpPr/>
          <p:nvPr/>
        </p:nvSpPr>
        <p:spPr>
          <a:xfrm>
            <a:off x="812782" y="4322341"/>
            <a:ext cx="10566436" cy="878808"/>
          </a:xfrm>
          <a:prstGeom prst="roundRect">
            <a:avLst>
              <a:gd name="adj" fmla="val 14451"/>
            </a:avLst>
          </a:prstGeom>
          <a:solidFill>
            <a:srgbClr val="0F2233"/>
          </a:solidFill>
          <a:ln/>
        </p:spPr>
      </p:sp>
      <p:sp>
        <p:nvSpPr>
          <p:cNvPr id="22" name="Text 19"/>
          <p:cNvSpPr/>
          <p:nvPr/>
        </p:nvSpPr>
        <p:spPr>
          <a:xfrm>
            <a:off x="684238" y="4411191"/>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tools\fetch_model.py --repo ivrit-ai/whisper-large-v3-turbo</a:t>
            </a:r>
            <a:endParaRPr lang="en-US" sz="1200" dirty="0"/>
          </a:p>
        </p:txBody>
      </p:sp>
      <p:sp>
        <p:nvSpPr>
          <p:cNvPr id="24" name="Text 21"/>
          <p:cNvSpPr/>
          <p:nvPr/>
        </p:nvSpPr>
        <p:spPr>
          <a:xfrm>
            <a:off x="684238" y="4898901"/>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--out models\whisper-large-v3-turbo-ivrit</a:t>
            </a:r>
            <a:endParaRPr lang="en-US" sz="1200" dirty="0"/>
          </a:p>
        </p:txBody>
      </p:sp>
      <p:sp>
        <p:nvSpPr>
          <p:cNvPr id="25" name="Shape 22"/>
          <p:cNvSpPr/>
          <p:nvPr/>
        </p:nvSpPr>
        <p:spPr>
          <a:xfrm>
            <a:off x="812782" y="5302721"/>
            <a:ext cx="5841098" cy="697057"/>
          </a:xfrm>
          <a:prstGeom prst="roundRect">
            <a:avLst>
              <a:gd name="adj" fmla="val 18219"/>
            </a:avLst>
          </a:prstGeom>
          <a:solidFill>
            <a:srgbClr val="0F2233"/>
          </a:solidFill>
          <a:ln/>
        </p:spPr>
      </p:sp>
      <p:sp>
        <p:nvSpPr>
          <p:cNvPr id="26" name="Text 23"/>
          <p:cNvSpPr/>
          <p:nvPr/>
        </p:nvSpPr>
        <p:spPr>
          <a:xfrm>
            <a:off x="825998" y="5404272"/>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‫3.24 GB‬</a:t>
            </a:r>
            <a:endParaRPr lang="en-US" sz="1800" dirty="0"/>
          </a:p>
        </p:txBody>
      </p:sp>
      <p:sp>
        <p:nvSpPr>
          <p:cNvPr id="27" name="Text 24"/>
          <p:cNvSpPr/>
          <p:nvPr/>
        </p:nvSpPr>
        <p:spPr>
          <a:xfrm>
            <a:off x="825998" y="5692453"/>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‫הורדת turbo. נמדד‬</a:t>
            </a:r>
            <a:endParaRPr lang="en-US" sz="1200" dirty="0"/>
          </a:p>
        </p:txBody>
      </p:sp>
      <p:sp>
        <p:nvSpPr>
          <p:cNvPr id="28" name="Shape 25"/>
          <p:cNvSpPr/>
          <p:nvPr/>
        </p:nvSpPr>
        <p:spPr>
          <a:xfrm>
            <a:off x="6787230" y="5309071"/>
            <a:ext cx="4585638" cy="684357"/>
          </a:xfrm>
          <a:prstGeom prst="roundRect">
            <a:avLst>
              <a:gd name="adj" fmla="val 17630"/>
            </a:avLst>
          </a:prstGeom>
          <a:solidFill>
            <a:srgbClr val="E1EEEB"/>
          </a:solidFill>
          <a:ln w="12700">
            <a:solidFill>
              <a:srgbClr val="1F6F6F"/>
            </a:solidFill>
            <a:prstDash val="solid"/>
          </a:ln>
        </p:spPr>
      </p:sp>
      <p:sp>
        <p:nvSpPr>
          <p:cNvPr id="29" name="Text 26"/>
          <p:cNvSpPr/>
          <p:nvPr/>
        </p:nvSpPr>
        <p:spPr>
          <a:xfrm>
            <a:off x="6843617" y="5415831"/>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30" name="Text 27"/>
          <p:cNvSpPr/>
          <p:nvPr/>
        </p:nvSpPr>
        <p:spPr>
          <a:xfrm>
            <a:off x="6843617" y="565204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2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‫לבדוק ולתכנן‬</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‫לוודא שהמחשב מוכן ולדעת כמה זה יעלה‬</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‫שורות PROBLEM וקובץ benchmark.txt עם זמן מתוכנן‬</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‫ה-config‬</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‫check מציג כל בעיה בבת אחת ולא משנה דבר‬</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‫benchmark מאמן 3 צעדים ומודד זמן, זיכרון ודיסק‬</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‫מריצים אותו פעמיים ומאמינים לתוכנית הגדולה יותר‬</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הפקודות check ואחריה benchmark‬</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‫10:24 עד 14:49 שעות‬</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‫תוכנית turbo ל-4 ניסויים ו-2 finalists.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E1EEEB"/>
          </a:solidFill>
          <a:ln w="12700">
            <a:solidFill>
              <a:srgbClr val="1F6F6F"/>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benchmark.steps</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train.cpu_threads</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3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‫להכין את הנתונים‬</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‫לטעון, לפצל, לנרמל, לסנן ולצמצם‬</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‫חמישה דוחות ב-reports\‬</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‫קטעים גולמיים ותוויות‬</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‫DataSource טוען, ו-Splitter מפצל לפי שיעורים‬</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‫TextNormalizer מכין שני טקסטים, ו-SampleFilter מסנן‬</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‫Subsampler מצמצם לגודל העבודה‬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DataSource, Splitter, TextNormalizer, SampleFilter, Subsampler‬</a:t>
            </a:r>
            <a:endParaRPr lang="en-US" sz="1300" dirty="0"/>
          </a:p>
        </p:txBody>
      </p:sp>
      <p:sp>
        <p:nvSpPr>
          <p:cNvPr id="21" name="Shape 18"/>
          <p:cNvSpPr/>
          <p:nvPr/>
        </p:nvSpPr>
        <p:spPr>
          <a:xfrm>
            <a:off x="812782" y="4322341"/>
            <a:ext cx="3681737" cy="1167263"/>
          </a:xfrm>
          <a:prstGeom prst="roundRect">
            <a:avLst>
              <a:gd name="adj" fmla="val 10880"/>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‫8,723 ל-702 / 101 / 97‬</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‫קטעים, ב-73 שניות. ריצת turbo, נמדד‬</a:t>
            </a:r>
            <a:endParaRPr lang="en-US" sz="1200" dirty="0"/>
          </a:p>
        </p:txBody>
      </p:sp>
      <p:sp>
        <p:nvSpPr>
          <p:cNvPr id="24" name="Shape 21"/>
          <p:cNvSpPr/>
          <p:nvPr/>
        </p:nvSpPr>
        <p:spPr>
          <a:xfrm>
            <a:off x="4627869" y="4328691"/>
            <a:ext cx="2924626" cy="1154563"/>
          </a:xfrm>
          <a:prstGeom prst="roundRect">
            <a:avLst>
              <a:gd name="adj" fmla="val 10450"/>
            </a:avLst>
          </a:prstGeom>
          <a:solidFill>
            <a:srgbClr val="E1EEEB"/>
          </a:solidFill>
          <a:ln w="12700">
            <a:solidFill>
              <a:srgbClr val="1F6F6F"/>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
        <p:nvSpPr>
          <p:cNvPr id="27" name="Shape 24"/>
          <p:cNvSpPr/>
          <p:nvPr/>
        </p:nvSpPr>
        <p:spPr>
          <a:xfrm>
            <a:off x="7689020" y="4325516"/>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subsample.preset</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split.ratios</a:t>
            </a:r>
            <a:endParaRPr lang="en-US" sz="1200" dirty="0"/>
          </a:p>
        </p:txBody>
      </p:sp>
      <p:sp>
        <p:nvSpPr>
          <p:cNvPr id="31" name="Text 28"/>
          <p:cNvSpPr/>
          <p:nvPr/>
        </p:nvSpPr>
        <p:spPr>
          <a:xfrm>
            <a:off x="7769612" y="516885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filter.mode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4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‫למדוד את המודל לפני אימון‬</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‫לקבוע נקודת ייחוס‬</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‫eval_result_baseline.json ורשימת האזנה‬</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‫קטעי Val והמודל ללא אימון‬</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 קטע עובר אנקודר ודקודר ומתומלל‬</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‫הפלט והייחוס מנורמלים, ומחשבים WER‬</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‫זה הבייסליין שאליו כל השאר יושווה‬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ModelLoader ו-Evaluator‬</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‫WER 0.8335‬</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‫1,681 שניות. turbo,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E1EEEB"/>
          </a:solidFill>
          <a:ln w="12700">
            <a:solidFill>
              <a:srgbClr val="1F6F6F"/>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eval.batch_size</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model.path</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5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‫חיפוש‬</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‫לנסות הגדרות על קבוצת סינון קטנה‬</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‫ניסויים מדורגים ו-finalists‬</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‫קבוצת Train זעירה ופרוסת Val‬</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 ניסוי מתחיל מהמודל המקורי ומתאמן מעט‬</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‫מדרגים לפי Val loss, בלי תמלול, כי זה זול יותר‬</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‫הטובים ביותר עוברים הלאה‬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ה-Searcher מפעיל את TrainerCore לכל ניסוי‬</a:t>
            </a:r>
            <a:endParaRPr lang="en-US" sz="1300" dirty="0"/>
          </a:p>
        </p:txBody>
      </p:sp>
      <p:sp>
        <p:nvSpPr>
          <p:cNvPr id="21" name="Shape 18"/>
          <p:cNvSpPr/>
          <p:nvPr/>
        </p:nvSpPr>
        <p:spPr>
          <a:xfrm>
            <a:off x="812782" y="4322341"/>
            <a:ext cx="3681737" cy="1167263"/>
          </a:xfrm>
          <a:prstGeom prst="roundRect">
            <a:avLst>
              <a:gd name="adj" fmla="val 10880"/>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‫4 ניסויים ב-832.8 שניות‬</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‫tiny. נמדד‬</a:t>
            </a:r>
            <a:endParaRPr lang="en-US" sz="1200" dirty="0"/>
          </a:p>
        </p:txBody>
      </p:sp>
      <p:sp>
        <p:nvSpPr>
          <p:cNvPr id="24" name="Shape 21"/>
          <p:cNvSpPr/>
          <p:nvPr/>
        </p:nvSpPr>
        <p:spPr>
          <a:xfrm>
            <a:off x="4627869" y="4328691"/>
            <a:ext cx="2924626" cy="1154563"/>
          </a:xfrm>
          <a:prstGeom prst="roundRect">
            <a:avLst>
              <a:gd name="adj" fmla="val 10450"/>
            </a:avLst>
          </a:prstGeom>
          <a:solidFill>
            <a:srgbClr val="F6E3D8"/>
          </a:solidFill>
          <a:ln w="12700">
            <a:solidFill>
              <a:srgbClr val="B8481A"/>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עם tiny. עם turbo לא הורץ.‬</a:t>
            </a:r>
            <a:endParaRPr lang="en-US" sz="1200" dirty="0"/>
          </a:p>
        </p:txBody>
      </p:sp>
      <p:sp>
        <p:nvSpPr>
          <p:cNvPr id="27" name="Shape 24"/>
          <p:cNvSpPr/>
          <p:nvPr/>
        </p:nvSpPr>
        <p:spPr>
          <a:xfrm>
            <a:off x="7689020" y="4325516"/>
            <a:ext cx="3687023" cy="1160913"/>
          </a:xfrm>
          <a:prstGeom prst="roundRect">
            <a:avLst>
              <a:gd name="adj" fmla="val 1066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search.n_trials</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search.finalists.k</a:t>
            </a:r>
            <a:endParaRPr lang="en-US" sz="1200" dirty="0"/>
          </a:p>
        </p:txBody>
      </p:sp>
      <p:sp>
        <p:nvSpPr>
          <p:cNvPr id="31" name="Text 28"/>
          <p:cNvSpPr/>
          <p:nvPr/>
        </p:nvSpPr>
        <p:spPr>
          <a:xfrm>
            <a:off x="7769612" y="516885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search.screening.preset</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6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‫לאמן מחדש את ה-finalists‬</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‫לאמן את ההגדרות הטובות על כל ה-Train ולמדוד WER ב-Val‬</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‫מודלים וציוני Val WER‬</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‫finalists ו-Train המלא‬</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 finalist מתחיל שוב מהמודל המקורי‬</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‫WER נמדד על כל Val, כי זה המדד שמעניין‬</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‫זה יקר יותר מהחיפוש, ולכן רק למעטים‬</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TrainerCore ו-Evaluator‬</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‫2 finalists ב-14:17 דקות‬</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‫tiny.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F6E3D8"/>
          </a:solidFill>
          <a:ln w="12700">
            <a:solidFill>
              <a:srgbClr val="B8481A"/>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עם tiny. עם turbo לא הורץ.‬</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search.finalists.k</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train.hyperparams.max_steps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7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‫לבחור מנצח‬</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‫להחליט לפי Val בלבד‬</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‫פסק דין וטבלה‬</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‫תוצאות Val של הבסיס וה-finalists‬</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‫bootstrap זוגי לפי קבוצות מול הבסיס‬</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‫כשר רק מי שהשתפר בצורה מוכחת‬</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‫מבין הכשרים, ה-WER הנמוך ביותר‬</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Selector ו-Comparator‬</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‫שיפור 0.1039 WER‬</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‫גבול תחתון 0.0759. ריצת הדמיה,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E1EEEB"/>
          </a:solidFill>
          <a:ln w="12700">
            <a:solidFill>
              <a:srgbClr val="1F6F6F"/>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 פעם אחת.‬</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select.min_verdict</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eval.significance.confidence</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8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‫מבט Test חד-פעמי‬</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‫לאשר את המנצח על קטעים שלא נראו, פעם אחת‬</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‫test_once.json וסטטוס Test‬</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‫המנצח, הבסיס וקטעי Test‬</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‫Test נפתח רק אחרי שהמנצח נקבע‬</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‫פעם אחת בלבד, למנצח ולבסיס‬</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‫אם אין מנצח כשר, Test לא נפתח‬</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Selector מבקש, ו-Orchestrator שומר‬</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91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‫Test 1.1728 ל-1.0599‬</a:t>
            </a:r>
            <a:endParaRPr lang="en-US" sz="1800" dirty="0"/>
          </a:p>
        </p:txBody>
      </p:sp>
      <p:sp>
        <p:nvSpPr>
          <p:cNvPr id="23" name="Text 20"/>
          <p:cNvSpPr/>
          <p:nvPr/>
        </p:nvSpPr>
        <p:spPr>
          <a:xfrm>
            <a:off x="890779" y="471209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‫מאושר. ריצת הדמיה,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F6E3D8"/>
          </a:solidFill>
          <a:ln w="12700">
            <a:solidFill>
              <a:srgbClr val="B8481A"/>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פעם אחת. עם turbo לא הורץ.‬</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select.test_confirmation</a:t>
            </a:r>
            <a:endParaRPr lang="en-US" sz="1200" dirty="0"/>
          </a:p>
        </p:txBody>
      </p:sp>
      <p:sp>
        <p:nvSpPr>
          <p:cNvPr id="30" name="Text 27"/>
          <p:cNvSpPr/>
          <p:nvPr/>
        </p:nvSpPr>
        <p:spPr>
          <a:xfrm>
            <a:off x="7769612" y="4917380"/>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pipeline.test_split</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80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9 מתוך 10 בריצה אחת, מתחילתה ועד סופה‬</a:t>
            </a:r>
            <a:endParaRPr lang="en-US" sz="1200" dirty="0"/>
          </a:p>
        </p:txBody>
      </p:sp>
      <p:sp>
        <p:nvSpPr>
          <p:cNvPr id="3" name="Text 1"/>
          <p:cNvSpPr/>
          <p:nvPr>
            <p:ph type="title"/>
          </p:nvPr>
        </p:nvSpPr>
        <p:spPr>
          <a:xfrm>
            <a:off x="495789" y="87377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‫לרשום ולייצא‬</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‫לשמור את המודל עם העובדות ולבדוק שהוא נטען‬</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‫registry\model_NNNN ו-exports.json‬</a:t>
            </a:r>
            <a:endParaRPr lang="en-US" sz="1300" dirty="0"/>
          </a:p>
        </p:txBody>
      </p:sp>
      <p:pic>
        <p:nvPicPr>
          <p:cNvPr id="8" name="Image 0" descr="arrow-left">    </p:cNvPr>
          <p:cNvPicPr>
            <a:picLocks noChangeAspect="1"/>
          </p:cNvPicPr>
          <p:nvPr/>
        </p:nvPicPr>
        <p:blipFill>
          <a:blip r:embed="rId1"/>
          <a:srcRect l="-11" r="-11" t="0" b="0"/>
          <a:stretch/>
        </p:blipFill>
        <p:spPr>
          <a:xfrm>
            <a:off x="5969000" y="200640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926"/>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41"/>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‫תיקיית המנצח‬</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57"/>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‫הרשומה כוללת כרטיס מודל וסכומי ביקורת‬</a:t>
            </a:r>
            <a:endParaRPr lang="en-US" sz="1300" dirty="0"/>
          </a:p>
        </p:txBody>
      </p:sp>
      <p:sp>
        <p:nvSpPr>
          <p:cNvPr id="16" name="Shape 13"/>
          <p:cNvSpPr/>
          <p:nvPr/>
        </p:nvSpPr>
        <p:spPr>
          <a:xfrm>
            <a:off x="11176613" y="3115394"/>
            <a:ext cx="0" cy="248047"/>
          </a:xfrm>
          <a:prstGeom prst="line">
            <a:avLst/>
          </a:prstGeom>
          <a:noFill/>
          <a:ln w="38100">
            <a:solidFill>
              <a:srgbClr val="1F6F6F"/>
            </a:solidFill>
            <a:prstDash val="solid"/>
          </a:ln>
        </p:spPr>
      </p:sp>
      <p:sp>
        <p:nvSpPr>
          <p:cNvPr id="17" name="Text 14"/>
          <p:cNvSpPr/>
          <p:nvPr/>
        </p:nvSpPr>
        <p:spPr>
          <a:xfrm>
            <a:off x="694444" y="3128094"/>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‫הייצוא נבדק מול המקור‬</a:t>
            </a:r>
            <a:endParaRPr lang="en-US" sz="1300" dirty="0"/>
          </a:p>
        </p:txBody>
      </p:sp>
      <p:sp>
        <p:nvSpPr>
          <p:cNvPr id="18" name="Shape 15"/>
          <p:cNvSpPr/>
          <p:nvPr/>
        </p:nvSpPr>
        <p:spPr>
          <a:xfrm>
            <a:off x="11176613" y="3401492"/>
            <a:ext cx="0" cy="248047"/>
          </a:xfrm>
          <a:prstGeom prst="line">
            <a:avLst/>
          </a:prstGeom>
          <a:noFill/>
          <a:ln w="38100">
            <a:solidFill>
              <a:srgbClr val="1F6F6F"/>
            </a:solidFill>
            <a:prstDash val="solid"/>
          </a:ln>
        </p:spPr>
      </p:sp>
      <p:sp>
        <p:nvSpPr>
          <p:cNvPr id="19" name="Text 16"/>
          <p:cNvSpPr/>
          <p:nvPr/>
        </p:nvSpPr>
        <p:spPr>
          <a:xfrm>
            <a:off x="694444" y="341419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‫הרשומה לא משתנה אחר כך‬</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ModelRegistry ו-ModelExporter‬</a:t>
            </a:r>
            <a:endParaRPr lang="en-US" sz="1300" dirty="0"/>
          </a:p>
        </p:txBody>
      </p:sp>
      <p:sp>
        <p:nvSpPr>
          <p:cNvPr id="21" name="Shape 18"/>
          <p:cNvSpPr/>
          <p:nvPr/>
        </p:nvSpPr>
        <p:spPr>
          <a:xfrm>
            <a:off x="812782" y="4322341"/>
            <a:ext cx="3681737" cy="915789"/>
          </a:xfrm>
          <a:prstGeom prst="roundRect">
            <a:avLst>
              <a:gd name="adj" fmla="val 13868"/>
            </a:avLst>
          </a:prstGeom>
          <a:solidFill>
            <a:srgbClr val="0F2233"/>
          </a:solidFill>
          <a:ln/>
        </p:spPr>
      </p:sp>
      <p:sp>
        <p:nvSpPr>
          <p:cNvPr id="22" name="Text 19"/>
          <p:cNvSpPr/>
          <p:nvPr/>
        </p:nvSpPr>
        <p:spPr>
          <a:xfrm>
            <a:off x="890779" y="4423891"/>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‫15 קבצים‬</a:t>
            </a:r>
            <a:endParaRPr lang="en-US" sz="1800" dirty="0"/>
          </a:p>
        </p:txBody>
      </p:sp>
      <p:sp>
        <p:nvSpPr>
          <p:cNvPr id="23" name="Text 20"/>
          <p:cNvSpPr/>
          <p:nvPr/>
        </p:nvSpPr>
        <p:spPr>
          <a:xfrm>
            <a:off x="890779" y="4712072"/>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‫בסכומי הביקורת. ריצת הדמיה, נמדד‬</a:t>
            </a:r>
            <a:endParaRPr lang="en-US" sz="1200" dirty="0"/>
          </a:p>
        </p:txBody>
      </p:sp>
      <p:sp>
        <p:nvSpPr>
          <p:cNvPr id="24" name="Shape 21"/>
          <p:cNvSpPr/>
          <p:nvPr/>
        </p:nvSpPr>
        <p:spPr>
          <a:xfrm>
            <a:off x="4627869" y="4328691"/>
            <a:ext cx="2924626" cy="903089"/>
          </a:xfrm>
          <a:prstGeom prst="roundRect">
            <a:avLst>
              <a:gd name="adj" fmla="val 13360"/>
            </a:avLst>
          </a:prstGeom>
          <a:solidFill>
            <a:srgbClr val="E1EEEB"/>
          </a:solidFill>
          <a:ln w="12700">
            <a:solidFill>
              <a:srgbClr val="1F6F6F"/>
            </a:solidFill>
            <a:prstDash val="solid"/>
          </a:ln>
        </p:spPr>
      </p:sp>
      <p:sp>
        <p:nvSpPr>
          <p:cNvPr id="25" name="Text 22"/>
          <p:cNvSpPr/>
          <p:nvPr/>
        </p:nvSpPr>
        <p:spPr>
          <a:xfrm>
            <a:off x="4734086" y="4435450"/>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90"/>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 פעם אחת.‬</a:t>
            </a:r>
            <a:endParaRPr lang="en-US" sz="1200" dirty="0"/>
          </a:p>
        </p:txBody>
      </p:sp>
      <p:sp>
        <p:nvSpPr>
          <p:cNvPr id="27" name="Shape 24"/>
          <p:cNvSpPr/>
          <p:nvPr/>
        </p:nvSpPr>
        <p:spPr>
          <a:xfrm>
            <a:off x="7689020" y="4325516"/>
            <a:ext cx="3687023" cy="909439"/>
          </a:xfrm>
          <a:prstGeom prst="roundRect">
            <a:avLst>
              <a:gd name="adj" fmla="val 13616"/>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769612" y="4665911"/>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registry.dir</a:t>
            </a:r>
            <a:endParaRPr lang="en-US" sz="1200" dirty="0"/>
          </a:p>
        </p:txBody>
      </p:sp>
      <p:sp>
        <p:nvSpPr>
          <p:cNvPr id="30" name="Text 27"/>
          <p:cNvSpPr/>
          <p:nvPr/>
        </p:nvSpPr>
        <p:spPr>
          <a:xfrm>
            <a:off x="7769612" y="4917405"/>
            <a:ext cx="3426051"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export.formats</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‫שלב 10 מתוך 10 בריצה אחת, מתחילתה ועד סופה‬</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‫לקרוא את הדוח‬</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‫לראות את פסק הדין ולהאזין‬</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‫report.html‬</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‫הקבצים שנשמרו‬</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‫פסק הדין והשוואה ליעד‬</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‫רשימת האזנה לקטעים הגרועים‬</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‫כללי האבחון מציעים מה לשנות‬</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‫מי עושה: ReportBuilder‬</a:t>
            </a:r>
            <a:endParaRPr lang="en-US" sz="1300" dirty="0"/>
          </a:p>
        </p:txBody>
      </p:sp>
      <p:sp>
        <p:nvSpPr>
          <p:cNvPr id="21" name="Shape 18"/>
          <p:cNvSpPr/>
          <p:nvPr/>
        </p:nvSpPr>
        <p:spPr>
          <a:xfrm>
            <a:off x="812782" y="4322316"/>
            <a:ext cx="3681737" cy="697057"/>
          </a:xfrm>
          <a:prstGeom prst="roundRect">
            <a:avLst>
              <a:gd name="adj" fmla="val 18219"/>
            </a:avLst>
          </a:prstGeom>
          <a:solidFill>
            <a:srgbClr val="0F2233"/>
          </a:solidFill>
          <a:ln/>
        </p:spPr>
      </p:sp>
      <p:sp>
        <p:nvSpPr>
          <p:cNvPr id="22" name="Text 19"/>
          <p:cNvSpPr/>
          <p:nvPr/>
        </p:nvSpPr>
        <p:spPr>
          <a:xfrm>
            <a:off x="890779" y="4423866"/>
            <a:ext cx="3425959"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‫9.2% מול יעד 10%‬</a:t>
            </a:r>
            <a:endParaRPr lang="en-US" sz="1800" dirty="0"/>
          </a:p>
        </p:txBody>
      </p:sp>
      <p:sp>
        <p:nvSpPr>
          <p:cNvPr id="23" name="Text 20"/>
          <p:cNvSpPr/>
          <p:nvPr/>
        </p:nvSpPr>
        <p:spPr>
          <a:xfrm>
            <a:off x="890779" y="4712047"/>
            <a:ext cx="3425959"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‫ירידה יחסית ב-WER. ריצת הדמיה, נמדד‬</a:t>
            </a:r>
            <a:endParaRPr lang="en-US" sz="1200" dirty="0"/>
          </a:p>
        </p:txBody>
      </p:sp>
      <p:sp>
        <p:nvSpPr>
          <p:cNvPr id="24" name="Shape 21"/>
          <p:cNvSpPr/>
          <p:nvPr/>
        </p:nvSpPr>
        <p:spPr>
          <a:xfrm>
            <a:off x="4627869" y="4328666"/>
            <a:ext cx="2924626" cy="684357"/>
          </a:xfrm>
          <a:prstGeom prst="roundRect">
            <a:avLst>
              <a:gd name="adj" fmla="val 17630"/>
            </a:avLst>
          </a:prstGeom>
          <a:solidFill>
            <a:srgbClr val="E1EEEB"/>
          </a:solidFill>
          <a:ln w="12700">
            <a:solidFill>
              <a:srgbClr val="1F6F6F"/>
            </a:solidFill>
            <a:prstDash val="solid"/>
          </a:ln>
        </p:spPr>
      </p:sp>
      <p:sp>
        <p:nvSpPr>
          <p:cNvPr id="25" name="Text 22"/>
          <p:cNvSpPr/>
          <p:nvPr/>
        </p:nvSpPr>
        <p:spPr>
          <a:xfrm>
            <a:off x="4734086" y="4435425"/>
            <a:ext cx="263543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6" name="Text 23"/>
          <p:cNvSpPr/>
          <p:nvPr/>
        </p:nvSpPr>
        <p:spPr>
          <a:xfrm>
            <a:off x="4734086" y="4671665"/>
            <a:ext cx="2635431"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
        <p:nvSpPr>
          <p:cNvPr id="27" name="Shape 24"/>
          <p:cNvSpPr/>
          <p:nvPr/>
        </p:nvSpPr>
        <p:spPr>
          <a:xfrm>
            <a:off x="7689020" y="4325491"/>
            <a:ext cx="3687023" cy="690707"/>
          </a:xfrm>
          <a:prstGeom prst="roundRect">
            <a:avLst>
              <a:gd name="adj" fmla="val 17927"/>
            </a:avLst>
          </a:prstGeom>
          <a:solidFill>
            <a:srgbClr val="FFFDF8"/>
          </a:solidFill>
          <a:ln w="6350">
            <a:solidFill>
              <a:srgbClr val="E2DDD0"/>
            </a:solidFill>
            <a:prstDash val="solid"/>
          </a:ln>
        </p:spPr>
      </p:sp>
      <p:sp>
        <p:nvSpPr>
          <p:cNvPr id="28" name="Text 25"/>
          <p:cNvSpPr/>
          <p:nvPr/>
        </p:nvSpPr>
        <p:spPr>
          <a:xfrm>
            <a:off x="7769612" y="4429671"/>
            <a:ext cx="3426051"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F2233"/>
                </a:solidFill>
                <a:latin typeface="Arial" pitchFamily="34" charset="0"/>
                <a:ea typeface="Arial" pitchFamily="34" charset="-122"/>
                <a:cs typeface="Arial" pitchFamily="34" charset="-120"/>
              </a:rPr>
              <a:t>‫מפתחות הגדרה‬</a:t>
            </a:r>
            <a:endParaRPr lang="en-US" sz="1200" dirty="0"/>
          </a:p>
        </p:txBody>
      </p:sp>
      <p:sp>
        <p:nvSpPr>
          <p:cNvPr id="29" name="Text 26"/>
          <p:cNvSpPr/>
          <p:nvPr/>
        </p:nvSpPr>
        <p:spPr>
          <a:xfrm>
            <a:off x="7692195" y="4665861"/>
            <a:ext cx="350346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6F6F"/>
                </a:solidFill>
                <a:latin typeface="Courier New" pitchFamily="49" charset="0"/>
                <a:ea typeface="Courier New" pitchFamily="49" charset="-122"/>
                <a:cs typeface="Courier New" pitchFamily="49" charset="-120"/>
              </a:rPr>
              <a:t>report.target_relative_wer_reduction</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1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‫התקנה‬</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‫להקים את הפרויקט פעם אחת על מחשב‬</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‫.venv עובד‬</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‫הפרויקט בנתיב קצר ו-wheels\‬</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‫הנתיב קצר, עד 40 תווים (מגבלת Windows)‬</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‫ההתקנה בלי רשת, מתוך wheels‬</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‫אחר כך בודקים עם check‬</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Python ו-pip‬</a:t>
            </a:r>
            <a:endParaRPr lang="en-US" sz="1300" dirty="0"/>
          </a:p>
        </p:txBody>
      </p:sp>
      <p:sp>
        <p:nvSpPr>
          <p:cNvPr id="21" name="Shape 18"/>
          <p:cNvSpPr/>
          <p:nvPr/>
        </p:nvSpPr>
        <p:spPr>
          <a:xfrm>
            <a:off x="812782" y="4322316"/>
            <a:ext cx="10566436" cy="878808"/>
          </a:xfrm>
          <a:prstGeom prst="roundRect">
            <a:avLst>
              <a:gd name="adj" fmla="val 14451"/>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venv .venv</a:t>
            </a:r>
            <a:endParaRPr lang="en-US" sz="1200" dirty="0"/>
          </a:p>
        </p:txBody>
      </p:sp>
      <p:sp>
        <p:nvSpPr>
          <p:cNvPr id="24" name="Text 21"/>
          <p:cNvSpPr/>
          <p:nvPr/>
        </p:nvSpPr>
        <p:spPr>
          <a:xfrm>
            <a:off x="684238" y="489887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pip install --no-index --find-links wheels -r requirements.lock</a:t>
            </a:r>
            <a:endParaRPr lang="en-US" sz="1200" dirty="0"/>
          </a:p>
        </p:txBody>
      </p:sp>
      <p:sp>
        <p:nvSpPr>
          <p:cNvPr id="25" name="Shape 22"/>
          <p:cNvSpPr/>
          <p:nvPr/>
        </p:nvSpPr>
        <p:spPr>
          <a:xfrm>
            <a:off x="812782" y="5302696"/>
            <a:ext cx="5841098" cy="697057"/>
          </a:xfrm>
          <a:prstGeom prst="roundRect">
            <a:avLst>
              <a:gd name="adj" fmla="val 18219"/>
            </a:avLst>
          </a:prstGeom>
          <a:solidFill>
            <a:srgbClr val="0F2233"/>
          </a:solidFill>
          <a:ln/>
        </p:spPr>
      </p:sp>
      <p:sp>
        <p:nvSpPr>
          <p:cNvPr id="26" name="Text 23"/>
          <p:cNvSpPr/>
          <p:nvPr/>
        </p:nvSpPr>
        <p:spPr>
          <a:xfrm>
            <a:off x="825998" y="540424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‫עד 40 תווים‬</a:t>
            </a:r>
            <a:endParaRPr lang="en-US" sz="1800" dirty="0"/>
          </a:p>
        </p:txBody>
      </p:sp>
      <p:sp>
        <p:nvSpPr>
          <p:cNvPr id="27" name="Text 24"/>
          <p:cNvSpPr/>
          <p:nvPr/>
        </p:nvSpPr>
        <p:spPr>
          <a:xfrm>
            <a:off x="825998" y="569242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‫אורך הנתיב. נמדד‬</a:t>
            </a:r>
            <a:endParaRPr lang="en-US" sz="1200" dirty="0"/>
          </a:p>
        </p:txBody>
      </p:sp>
      <p:sp>
        <p:nvSpPr>
          <p:cNvPr id="28" name="Shape 25"/>
          <p:cNvSpPr/>
          <p:nvPr/>
        </p:nvSpPr>
        <p:spPr>
          <a:xfrm>
            <a:off x="6787230" y="5309046"/>
            <a:ext cx="4585638" cy="684357"/>
          </a:xfrm>
          <a:prstGeom prst="roundRect">
            <a:avLst>
              <a:gd name="adj" fmla="val 17630"/>
            </a:avLst>
          </a:prstGeom>
          <a:solidFill>
            <a:srgbClr val="F6E3D8"/>
          </a:solidFill>
          <a:ln w="12700">
            <a:solidFill>
              <a:srgbClr val="B8481A"/>
            </a:solidFill>
            <a:prstDash val="solid"/>
          </a:ln>
        </p:spPr>
      </p:sp>
      <p:sp>
        <p:nvSpPr>
          <p:cNvPr id="29" name="Text 26"/>
          <p:cNvSpPr/>
          <p:nvPr/>
        </p:nvSpPr>
        <p:spPr>
          <a:xfrm>
            <a:off x="6843617" y="541580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30" name="Text 27"/>
          <p:cNvSpPr/>
          <p:nvPr/>
        </p:nvSpPr>
        <p:spPr>
          <a:xfrm>
            <a:off x="6843617" y="565204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‫בבית הורץ. במחשב סגור לא הורץ.‬</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2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‫בדיקה (check)‬</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‫להציג את כל הבעיות בבת אחת‬</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‫OK ושורות PROBLEM‬</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‫ה-config‬</a:t>
            </a:r>
            <a:endParaRPr lang="en-US" sz="1300" dirty="0"/>
          </a:p>
        </p:txBody>
      </p:sp>
      <p:sp>
        <p:nvSpPr>
          <p:cNvPr id="12" name="Shape 9"/>
          <p:cNvSpPr/>
          <p:nvPr/>
        </p:nvSpPr>
        <p:spPr>
          <a:xfrm>
            <a:off x="815957" y="2501602"/>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‫לא משנה דבר‬</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‫בודק תיקיות, מקום בדיסק וזיכרון‬</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‫לגבי המודל בודק רק שהנתיב קיים, לא שהתיקייה תקינה‬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קורא תיקיות ואת המכונה‬</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check --config configs\work_like.yaml</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‫קוד 0‬</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‫הכול בסדר‬</a:t>
            </a:r>
            <a:endParaRPr lang="en-US" sz="1200" dirty="0"/>
          </a:p>
        </p:txBody>
      </p:sp>
      <p:sp>
        <p:nvSpPr>
          <p:cNvPr id="27" name="Shape 24"/>
          <p:cNvSpPr/>
          <p:nvPr/>
        </p:nvSpPr>
        <p:spPr>
          <a:xfrm>
            <a:off x="6787230" y="5057577"/>
            <a:ext cx="4585638" cy="684357"/>
          </a:xfrm>
          <a:prstGeom prst="roundRect">
            <a:avLst>
              <a:gd name="adj" fmla="val 17630"/>
            </a:avLst>
          </a:prstGeom>
          <a:solidFill>
            <a:srgbClr val="E1EEEB"/>
          </a:solidFill>
          <a:ln w="12700">
            <a:solidFill>
              <a:srgbClr val="1F6F6F"/>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7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3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‫הכנה (prepare)‬</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‫לקרוא את הנתונים ולבדוק את הדוחות, בלי אימון‬</a:t>
            </a:r>
            <a:endParaRPr lang="en-US" sz="1500" dirty="0"/>
          </a:p>
        </p:txBody>
      </p:sp>
      <p:sp>
        <p:nvSpPr>
          <p:cNvPr id="5" name="Shape 3"/>
          <p:cNvSpPr/>
          <p:nvPr/>
        </p:nvSpPr>
        <p:spPr>
          <a:xfrm>
            <a:off x="812782" y="178107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‫חמישה דוחות‬</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7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‫תיקיית הנתונים‬</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‫פותחים קודם את דוחות הפיצול והסינון‬</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‫מוודאים שיש לפחות 5 קבוצות ב-Val וב-Test, אחרת אין הוכחה סטטיסטית‬</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‫אם נדחו קטעים, הרשימה ב-rejected.csv‬</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רכיבי הנתונים‬</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prepare --config configs\my_work.yaml</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‫73 שניות‬</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‫נתוני Daf Yomi. נמדד‬</a:t>
            </a:r>
            <a:endParaRPr lang="en-US" sz="1200" dirty="0"/>
          </a:p>
        </p:txBody>
      </p:sp>
      <p:sp>
        <p:nvSpPr>
          <p:cNvPr id="27" name="Shape 24"/>
          <p:cNvSpPr/>
          <p:nvPr/>
        </p:nvSpPr>
        <p:spPr>
          <a:xfrm>
            <a:off x="6787230" y="5057577"/>
            <a:ext cx="4585638" cy="684357"/>
          </a:xfrm>
          <a:prstGeom prst="roundRect">
            <a:avLst>
              <a:gd name="adj" fmla="val 17630"/>
            </a:avLst>
          </a:prstGeom>
          <a:solidFill>
            <a:srgbClr val="E1EEEB"/>
          </a:solidFill>
          <a:ln w="12700">
            <a:solidFill>
              <a:srgbClr val="1F6F6F"/>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2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4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‫בנצ'מרק (benchmark)‬</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‫למדוד מהירות, זיכרון ודיסק‬</a:t>
            </a:r>
            <a:endParaRPr lang="en-US" sz="1500" dirty="0"/>
          </a:p>
        </p:txBody>
      </p:sp>
      <p:sp>
        <p:nvSpPr>
          <p:cNvPr id="5" name="Shape 3"/>
          <p:cNvSpPr/>
          <p:nvPr/>
        </p:nvSpPr>
        <p:spPr>
          <a:xfrm>
            <a:off x="812782" y="178102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‫benchmark.txt‬</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2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‫ה-config והמודל‬</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‫מאמן 3 צעדים אמיתיים ומתמלל מדגם קטן‬</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‫מדפיס זמן מתוכנן לריצה. הלוג מנפח את זמן הצעד (O121)‬</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‫שומר תיקיית מודל של 7.4 GiB, ולכן צריך מקום‬</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TrainerCore ו-Evaluator‬</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benchmark --config configs\work_like.yaml</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‫הרצה פעמיים‬</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‫מאמינים לתוכנית הגדולה יותר‬</a:t>
            </a:r>
            <a:endParaRPr lang="en-US" sz="1200" dirty="0"/>
          </a:p>
        </p:txBody>
      </p:sp>
      <p:sp>
        <p:nvSpPr>
          <p:cNvPr id="27" name="Shape 24"/>
          <p:cNvSpPr/>
          <p:nvPr/>
        </p:nvSpPr>
        <p:spPr>
          <a:xfrm>
            <a:off x="6787230" y="5057577"/>
            <a:ext cx="4585638" cy="684357"/>
          </a:xfrm>
          <a:prstGeom prst="roundRect">
            <a:avLst>
              <a:gd name="adj" fmla="val 17630"/>
            </a:avLst>
          </a:prstGeom>
          <a:solidFill>
            <a:srgbClr val="E1EEEB"/>
          </a:solidFill>
          <a:ln w="12700">
            <a:solidFill>
              <a:srgbClr val="1F6F6F"/>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2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 עם turbo.‬</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5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‫הערכה (evaluate)‬</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‫למדוד את המודל לפני אימון על Val‬</a:t>
            </a:r>
            <a:endParaRPr lang="en-US" sz="1500" dirty="0"/>
          </a:p>
        </p:txBody>
      </p:sp>
      <p:sp>
        <p:nvSpPr>
          <p:cNvPr id="5" name="Shape 3"/>
          <p:cNvSpPr/>
          <p:nvPr/>
        </p:nvSpPr>
        <p:spPr>
          <a:xfrm>
            <a:off x="812782" y="178102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‫WER ורשימת האזנה‬</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2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‫ה-config ומודל‬</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‫לא מאמן דבר‬</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‫משווים לבייסליין הקודם על אותם קטעים‬</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‫אל תלחץ Ctrl+C באמצע: הלחיצה הראשונה לא עוצרת, והשנייה לא משאירה המשך חלקי‬</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Evaluator‬</a:t>
            </a:r>
            <a:endParaRPr lang="en-US" sz="1300" dirty="0"/>
          </a:p>
        </p:txBody>
      </p:sp>
      <p:sp>
        <p:nvSpPr>
          <p:cNvPr id="21" name="Shape 18"/>
          <p:cNvSpPr/>
          <p:nvPr/>
        </p:nvSpPr>
        <p:spPr>
          <a:xfrm>
            <a:off x="812782" y="4322316"/>
            <a:ext cx="10566436" cy="1130282"/>
          </a:xfrm>
          <a:prstGeom prst="roundRect">
            <a:avLst>
              <a:gd name="adj" fmla="val 11236"/>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evaluate --config configs\work_like.yaml</a:t>
            </a:r>
            <a:endParaRPr lang="en-US" sz="1200" dirty="0"/>
          </a:p>
        </p:txBody>
      </p:sp>
      <p:sp>
        <p:nvSpPr>
          <p:cNvPr id="24" name="Text 21"/>
          <p:cNvSpPr/>
          <p:nvPr/>
        </p:nvSpPr>
        <p:spPr>
          <a:xfrm>
            <a:off x="684238" y="489887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--set model.path=models/whisper-large-v3-turbo-ivrit</a:t>
            </a:r>
            <a:endParaRPr lang="en-US" sz="1200" dirty="0"/>
          </a:p>
        </p:txBody>
      </p:sp>
      <p:sp>
        <p:nvSpPr>
          <p:cNvPr id="25" name="Text 22"/>
          <p:cNvSpPr/>
          <p:nvPr/>
        </p:nvSpPr>
        <p:spPr>
          <a:xfrm>
            <a:off x="684238" y="515034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--set model.dtype=float32</a:t>
            </a:r>
            <a:endParaRPr lang="en-US" sz="1200" dirty="0"/>
          </a:p>
        </p:txBody>
      </p:sp>
      <p:sp>
        <p:nvSpPr>
          <p:cNvPr id="26" name="Shape 23"/>
          <p:cNvSpPr/>
          <p:nvPr/>
        </p:nvSpPr>
        <p:spPr>
          <a:xfrm>
            <a:off x="812782" y="5554166"/>
            <a:ext cx="5841098" cy="697057"/>
          </a:xfrm>
          <a:prstGeom prst="roundRect">
            <a:avLst>
              <a:gd name="adj" fmla="val 18219"/>
            </a:avLst>
          </a:prstGeom>
          <a:solidFill>
            <a:srgbClr val="0F2233"/>
          </a:solidFill>
          <a:ln/>
        </p:spPr>
      </p:sp>
      <p:sp>
        <p:nvSpPr>
          <p:cNvPr id="27" name="Text 24"/>
          <p:cNvSpPr/>
          <p:nvPr/>
        </p:nvSpPr>
        <p:spPr>
          <a:xfrm>
            <a:off x="825998" y="565571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‫1,681 שניות‬</a:t>
            </a:r>
            <a:endParaRPr lang="en-US" sz="1800" dirty="0"/>
          </a:p>
        </p:txBody>
      </p:sp>
      <p:sp>
        <p:nvSpPr>
          <p:cNvPr id="28" name="Text 25"/>
          <p:cNvSpPr/>
          <p:nvPr/>
        </p:nvSpPr>
        <p:spPr>
          <a:xfrm>
            <a:off x="825998" y="594389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‫101 קטעים, turbo. נמדד‬</a:t>
            </a:r>
            <a:endParaRPr lang="en-US" sz="1200" dirty="0"/>
          </a:p>
        </p:txBody>
      </p:sp>
      <p:sp>
        <p:nvSpPr>
          <p:cNvPr id="29" name="Shape 26"/>
          <p:cNvSpPr/>
          <p:nvPr/>
        </p:nvSpPr>
        <p:spPr>
          <a:xfrm>
            <a:off x="6787230" y="5560516"/>
            <a:ext cx="4585638" cy="684357"/>
          </a:xfrm>
          <a:prstGeom prst="roundRect">
            <a:avLst>
              <a:gd name="adj" fmla="val 17630"/>
            </a:avLst>
          </a:prstGeom>
          <a:solidFill>
            <a:srgbClr val="E1EEEB"/>
          </a:solidFill>
          <a:ln w="12700">
            <a:solidFill>
              <a:srgbClr val="1F6F6F"/>
            </a:solidFill>
            <a:prstDash val="solid"/>
          </a:ln>
        </p:spPr>
      </p:sp>
      <p:sp>
        <p:nvSpPr>
          <p:cNvPr id="30" name="Text 27"/>
          <p:cNvSpPr/>
          <p:nvPr/>
        </p:nvSpPr>
        <p:spPr>
          <a:xfrm>
            <a:off x="6843617" y="566727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31" name="Text 28"/>
          <p:cNvSpPr/>
          <p:nvPr/>
        </p:nvSpPr>
        <p:spPr>
          <a:xfrm>
            <a:off x="6843617" y="590351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6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‫ריצה (run)‬</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‫כל הצינור בפקודה אחת‬</a:t>
            </a:r>
            <a:endParaRPr lang="en-US" sz="1500" dirty="0"/>
          </a:p>
        </p:txBody>
      </p:sp>
      <p:sp>
        <p:nvSpPr>
          <p:cNvPr id="5" name="Shape 3"/>
          <p:cNvSpPr/>
          <p:nvPr/>
        </p:nvSpPr>
        <p:spPr>
          <a:xfrm>
            <a:off x="812782" y="178102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‫פסק דין ורשומה ב-registry‬</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2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‫ה-config‬</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‫prepare, evaluate, search, finalists, select_and_register‬</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‫אפשר להמשיך אחרי הפסקה. Ctrl+C פעם אחת עוצר בבטחה‬</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‫run לא בונה דוח. את זה עושה report‬</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כל השלבים‬</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run --config configs\work_like.yaml</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‫38 דקות‬</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‫עם tiny. נמדד‬</a:t>
            </a:r>
            <a:endParaRPr lang="en-US" sz="1200" dirty="0"/>
          </a:p>
        </p:txBody>
      </p:sp>
      <p:sp>
        <p:nvSpPr>
          <p:cNvPr id="27" name="Shape 24"/>
          <p:cNvSpPr/>
          <p:nvPr/>
        </p:nvSpPr>
        <p:spPr>
          <a:xfrm>
            <a:off x="6787230" y="5057577"/>
            <a:ext cx="4585638" cy="684357"/>
          </a:xfrm>
          <a:prstGeom prst="roundRect">
            <a:avLst>
              <a:gd name="adj" fmla="val 17630"/>
            </a:avLst>
          </a:prstGeom>
          <a:solidFill>
            <a:srgbClr val="F6E3D8"/>
          </a:solidFill>
          <a:ln w="12700">
            <a:solidFill>
              <a:srgbClr val="B8481A"/>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2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עם tiny. עם turbo לא הורץ.‬</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7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‫דוח (report)‬</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‫לבנות דף HTML מהקבצים השמורים‬</a:t>
            </a:r>
            <a:endParaRPr lang="en-US" sz="1500" dirty="0"/>
          </a:p>
        </p:txBody>
      </p:sp>
      <p:sp>
        <p:nvSpPr>
          <p:cNvPr id="5" name="Shape 3"/>
          <p:cNvSpPr/>
          <p:nvPr/>
        </p:nvSpPr>
        <p:spPr>
          <a:xfrm>
            <a:off x="812782" y="178102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‫report.html‬</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2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‫מספר ניסוי‬</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‫לא מחשב כלום מחדש‬</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‫פותחים קודם את פסק הדין והאבחונים‬</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‫רשימת ההאזנה לקטעים גרועים היא חלק מהדוח‬</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ReportBuilder‬</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report --experiment exp_0002</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‫116 KB‬</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‫גודל הדוח. נמדד‬</a:t>
            </a:r>
            <a:endParaRPr lang="en-US" sz="1200" dirty="0"/>
          </a:p>
        </p:txBody>
      </p:sp>
      <p:sp>
        <p:nvSpPr>
          <p:cNvPr id="27" name="Shape 24"/>
          <p:cNvSpPr/>
          <p:nvPr/>
        </p:nvSpPr>
        <p:spPr>
          <a:xfrm>
            <a:off x="6787230" y="5057577"/>
            <a:ext cx="4585638" cy="684357"/>
          </a:xfrm>
          <a:prstGeom prst="roundRect">
            <a:avLst>
              <a:gd name="adj" fmla="val 17630"/>
            </a:avLst>
          </a:prstGeom>
          <a:solidFill>
            <a:srgbClr val="E1EEEB"/>
          </a:solidFill>
          <a:ln w="12700">
            <a:solidFill>
              <a:srgbClr val="1F6F6F"/>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2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באמת.‬</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8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‫ייצוא (export)‬</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‫לייצא מודל רשום ולבדוק אותו‬</a:t>
            </a:r>
            <a:endParaRPr lang="en-US" sz="1500" dirty="0"/>
          </a:p>
        </p:txBody>
      </p:sp>
      <p:sp>
        <p:nvSpPr>
          <p:cNvPr id="5" name="Shape 3"/>
          <p:cNvSpPr/>
          <p:nvPr/>
        </p:nvSpPr>
        <p:spPr>
          <a:xfrm>
            <a:off x="812782" y="178102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‫exports.json‬</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2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‫רשומה ב-registry‬</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‫בוחרים פורמט ב-export.formats‬</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‫הבדיקה משווה מול המקור‬</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‫קוד יציאה 5 פירושו שהבדיקה נכשלה‬</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ModelExporter‬</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python -m stt export model_0001 --config configs\work_like.yaml</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‫קוד 5‬</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‫הבדיקה נכשלה‬</a:t>
            </a:r>
            <a:endParaRPr lang="en-US" sz="1200" dirty="0"/>
          </a:p>
        </p:txBody>
      </p:sp>
      <p:sp>
        <p:nvSpPr>
          <p:cNvPr id="27" name="Shape 24"/>
          <p:cNvSpPr/>
          <p:nvPr/>
        </p:nvSpPr>
        <p:spPr>
          <a:xfrm>
            <a:off x="6787230" y="5057577"/>
            <a:ext cx="4585638" cy="684357"/>
          </a:xfrm>
          <a:prstGeom prst="roundRect">
            <a:avLst>
              <a:gd name="adj" fmla="val 17630"/>
            </a:avLst>
          </a:prstGeom>
          <a:solidFill>
            <a:srgbClr val="F6E3D8"/>
          </a:solidFill>
          <a:ln w="12700">
            <a:solidFill>
              <a:srgbClr val="B8481A"/>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2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‫הורץ בפורמט אחד.‬</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95789" y="558750"/>
            <a:ext cx="10883429" cy="2388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F6F"/>
                </a:solidFill>
                <a:latin typeface="Arial" pitchFamily="34" charset="0"/>
                <a:ea typeface="Arial" pitchFamily="34" charset="-122"/>
                <a:cs typeface="Arial" pitchFamily="34" charset="-120"/>
              </a:rPr>
              <a:t>‫מדריך שימוש · שלב 9 מתוך 9‬</a:t>
            </a:r>
            <a:endParaRPr lang="en-US" sz="1200" dirty="0"/>
          </a:p>
        </p:txBody>
      </p:sp>
      <p:sp>
        <p:nvSpPr>
          <p:cNvPr id="3" name="Text 1"/>
          <p:cNvSpPr/>
          <p:nvPr>
            <p:ph type="title"/>
          </p:nvPr>
        </p:nvSpPr>
        <p:spPr>
          <a:xfrm>
            <a:off x="495789" y="873720"/>
            <a:ext cx="10883429" cy="472426"/>
          </a:xfrm>
          <a:prstGeom prst="rect">
            <a:avLst/>
          </a:prstGeom>
          <a:noFill/>
          <a:ln/>
        </p:spPr>
        <p:txBody>
          <a:bodyPr wrap="square" lIns="0" tIns="0" rIns="0" bIns="0" rtlCol="0" anchor="t">
            <a:normAutofit/>
          </a:bodyPr>
          <a:lstStyle/>
          <a:p>
            <a:pPr algn="r" indent="0" marL="0">
              <a:lnSpc>
                <a:spcPts val="3520"/>
              </a:lnSpc>
              <a:buNone/>
            </a:pPr>
            <a:r>
              <a:rPr lang="en-US" sz="3200" b="1" i="0" dirty="0">
                <a:solidFill>
                  <a:srgbClr val="0F2233"/>
                </a:solidFill>
                <a:latin typeface="Arial" pitchFamily="34" charset="0"/>
                <a:ea typeface="Arial" pitchFamily="34" charset="-122"/>
                <a:cs typeface="Arial" pitchFamily="34" charset="-120"/>
              </a:rPr>
              <a:t>‫פתרון תקלות‬</a:t>
            </a:r>
            <a:endParaRPr lang="en-US" sz="3200" dirty="0"/>
          </a:p>
        </p:txBody>
      </p:sp>
      <p:sp>
        <p:nvSpPr>
          <p:cNvPr id="4" name="Text 2"/>
          <p:cNvSpPr/>
          <p:nvPr/>
        </p:nvSpPr>
        <p:spPr>
          <a:xfrm>
            <a:off x="495789" y="1422350"/>
            <a:ext cx="10883429" cy="282557"/>
          </a:xfrm>
          <a:prstGeom prst="rect">
            <a:avLst/>
          </a:prstGeom>
          <a:noFill/>
          <a:ln/>
        </p:spPr>
        <p:txBody>
          <a:bodyPr wrap="square" lIns="0" tIns="0" rIns="0" bIns="0" rtlCol="0" anchor="t">
            <a:normAutofit/>
          </a:bodyPr>
          <a:lstStyle/>
          <a:p>
            <a:pPr algn="r" indent="0" marL="0">
              <a:lnSpc>
                <a:spcPts val="2025"/>
              </a:lnSpc>
              <a:buNone/>
            </a:pPr>
            <a:r>
              <a:rPr lang="en-US" sz="1500" b="1" dirty="0">
                <a:solidFill>
                  <a:srgbClr val="1F6F6F"/>
                </a:solidFill>
                <a:latin typeface="Arial" pitchFamily="34" charset="0"/>
                <a:ea typeface="Arial" pitchFamily="34" charset="-122"/>
                <a:cs typeface="Arial" pitchFamily="34" charset="-120"/>
              </a:rPr>
              <a:t>‫למצוא את הסיבה מהר‬</a:t>
            </a:r>
            <a:endParaRPr lang="en-US" sz="1500" dirty="0"/>
          </a:p>
        </p:txBody>
      </p:sp>
      <p:sp>
        <p:nvSpPr>
          <p:cNvPr id="5" name="Shape 3"/>
          <p:cNvSpPr/>
          <p:nvPr/>
        </p:nvSpPr>
        <p:spPr>
          <a:xfrm>
            <a:off x="812782" y="1781026"/>
            <a:ext cx="5080090" cy="615788"/>
          </a:xfrm>
          <a:prstGeom prst="roundRect">
            <a:avLst>
              <a:gd name="adj" fmla="val 20624"/>
            </a:avLst>
          </a:prstGeom>
          <a:solidFill>
            <a:srgbClr val="E1EEEB"/>
          </a:solidFill>
          <a:ln/>
        </p:spPr>
      </p:sp>
      <p:sp>
        <p:nvSpPr>
          <p:cNvPr id="6" name="Text 4"/>
          <p:cNvSpPr/>
          <p:nvPr/>
        </p:nvSpPr>
        <p:spPr>
          <a:xfrm>
            <a:off x="821866"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‫יוצא‬</a:t>
            </a:r>
            <a:endParaRPr lang="en-US" sz="1200" dirty="0"/>
          </a:p>
        </p:txBody>
      </p:sp>
      <p:sp>
        <p:nvSpPr>
          <p:cNvPr id="7" name="Text 5"/>
          <p:cNvSpPr/>
          <p:nvPr/>
        </p:nvSpPr>
        <p:spPr>
          <a:xfrm>
            <a:off x="821866"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‫התיקון‬</a:t>
            </a:r>
            <a:endParaRPr lang="en-US" sz="1300" dirty="0"/>
          </a:p>
        </p:txBody>
      </p:sp>
      <p:pic>
        <p:nvPicPr>
          <p:cNvPr id="8" name="Image 0" descr="arrow-left">    </p:cNvPr>
          <p:cNvPicPr>
            <a:picLocks noChangeAspect="1"/>
          </p:cNvPicPr>
          <p:nvPr/>
        </p:nvPicPr>
        <p:blipFill>
          <a:blip r:embed="rId1"/>
          <a:srcRect l="-11" r="-11" t="0" b="0"/>
          <a:stretch/>
        </p:blipFill>
        <p:spPr>
          <a:xfrm>
            <a:off x="5969000" y="2006352"/>
            <a:ext cx="254000" cy="165064"/>
          </a:xfrm>
          <a:prstGeom prst="rect">
            <a:avLst/>
          </a:prstGeom>
        </p:spPr>
      </p:pic>
      <p:sp>
        <p:nvSpPr>
          <p:cNvPr id="9" name="Shape 6"/>
          <p:cNvSpPr/>
          <p:nvPr/>
        </p:nvSpPr>
        <p:spPr>
          <a:xfrm>
            <a:off x="6299128" y="1781026"/>
            <a:ext cx="5080090" cy="615788"/>
          </a:xfrm>
          <a:prstGeom prst="roundRect">
            <a:avLst>
              <a:gd name="adj" fmla="val 20624"/>
            </a:avLst>
          </a:prstGeom>
          <a:solidFill>
            <a:srgbClr val="E9E5D8"/>
          </a:solidFill>
          <a:ln/>
        </p:spPr>
      </p:sp>
      <p:sp>
        <p:nvSpPr>
          <p:cNvPr id="10" name="Text 7"/>
          <p:cNvSpPr/>
          <p:nvPr/>
        </p:nvSpPr>
        <p:spPr>
          <a:xfrm>
            <a:off x="6308212" y="1869877"/>
            <a:ext cx="4918660"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5C6670"/>
                </a:solidFill>
                <a:latin typeface="Arial" pitchFamily="34" charset="0"/>
                <a:ea typeface="Arial" pitchFamily="34" charset="-122"/>
                <a:cs typeface="Arial" pitchFamily="34" charset="-120"/>
              </a:rPr>
              <a:t>‫נכנס‬</a:t>
            </a:r>
            <a:endParaRPr lang="en-US" sz="1200" dirty="0"/>
          </a:p>
        </p:txBody>
      </p:sp>
      <p:sp>
        <p:nvSpPr>
          <p:cNvPr id="11" name="Text 8"/>
          <p:cNvSpPr/>
          <p:nvPr/>
        </p:nvSpPr>
        <p:spPr>
          <a:xfrm>
            <a:off x="6308212" y="2093416"/>
            <a:ext cx="4918660" cy="239983"/>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F2233"/>
                </a:solidFill>
                <a:latin typeface="Arial" pitchFamily="34" charset="0"/>
                <a:ea typeface="Arial" pitchFamily="34" charset="-122"/>
                <a:cs typeface="Arial" pitchFamily="34" charset="-120"/>
              </a:rPr>
              <a:t>‫קוד היציאה והיומן‬</a:t>
            </a:r>
            <a:endParaRPr lang="en-US" sz="1300" dirty="0"/>
          </a:p>
        </p:txBody>
      </p:sp>
      <p:sp>
        <p:nvSpPr>
          <p:cNvPr id="12" name="Shape 9"/>
          <p:cNvSpPr/>
          <p:nvPr/>
        </p:nvSpPr>
        <p:spPr>
          <a:xfrm>
            <a:off x="815957" y="2501553"/>
            <a:ext cx="10560086" cy="1239386"/>
          </a:xfrm>
          <a:prstGeom prst="roundRect">
            <a:avLst>
              <a:gd name="adj" fmla="val 9991"/>
            </a:avLst>
          </a:prstGeom>
          <a:solidFill>
            <a:srgbClr val="FFFDF8"/>
          </a:solidFill>
          <a:ln w="6350">
            <a:solidFill>
              <a:srgbClr val="E2DDD0"/>
            </a:solidFill>
            <a:prstDash val="solid"/>
          </a:ln>
        </p:spPr>
      </p:sp>
      <p:sp>
        <p:nvSpPr>
          <p:cNvPr id="13" name="Text 10"/>
          <p:cNvSpPr/>
          <p:nvPr/>
        </p:nvSpPr>
        <p:spPr>
          <a:xfrm>
            <a:off x="690357" y="2593032"/>
            <a:ext cx="10505306"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1F6F6F"/>
                </a:solidFill>
                <a:latin typeface="Arial" pitchFamily="34" charset="0"/>
                <a:ea typeface="Arial" pitchFamily="34" charset="-122"/>
                <a:cs typeface="Arial" pitchFamily="34" charset="-120"/>
              </a:rPr>
              <a:t>‫מה קורה בפנים‬</a:t>
            </a:r>
            <a:endParaRPr lang="en-US" sz="1200" dirty="0"/>
          </a:p>
        </p:txBody>
      </p:sp>
      <p:sp>
        <p:nvSpPr>
          <p:cNvPr id="14" name="Shape 11"/>
          <p:cNvSpPr/>
          <p:nvPr/>
        </p:nvSpPr>
        <p:spPr>
          <a:xfrm>
            <a:off x="11176613" y="2829272"/>
            <a:ext cx="0" cy="248047"/>
          </a:xfrm>
          <a:prstGeom prst="line">
            <a:avLst/>
          </a:prstGeom>
          <a:noFill/>
          <a:ln w="38100">
            <a:solidFill>
              <a:srgbClr val="1F6F6F"/>
            </a:solidFill>
            <a:prstDash val="solid"/>
          </a:ln>
        </p:spPr>
      </p:sp>
      <p:sp>
        <p:nvSpPr>
          <p:cNvPr id="15" name="Text 12"/>
          <p:cNvSpPr/>
          <p:nvPr/>
        </p:nvSpPr>
        <p:spPr>
          <a:xfrm>
            <a:off x="694444" y="2841972"/>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‫קודי יציאה: 0 תקין, 2 הגדרות, 3 נתונים, 4 אימון או מדידה, 5 ייצוא או סכומי ביקורת, 130 הופסק, 1 תקלה לא צפויה‬</a:t>
            </a:r>
            <a:endParaRPr lang="en-US" sz="1300" dirty="0"/>
          </a:p>
        </p:txBody>
      </p:sp>
      <p:sp>
        <p:nvSpPr>
          <p:cNvPr id="16" name="Shape 13"/>
          <p:cNvSpPr/>
          <p:nvPr/>
        </p:nvSpPr>
        <p:spPr>
          <a:xfrm>
            <a:off x="11176613" y="3115370"/>
            <a:ext cx="0" cy="248047"/>
          </a:xfrm>
          <a:prstGeom prst="line">
            <a:avLst/>
          </a:prstGeom>
          <a:noFill/>
          <a:ln w="38100">
            <a:solidFill>
              <a:srgbClr val="1F6F6F"/>
            </a:solidFill>
            <a:prstDash val="solid"/>
          </a:ln>
        </p:spPr>
      </p:sp>
      <p:sp>
        <p:nvSpPr>
          <p:cNvPr id="17" name="Text 14"/>
          <p:cNvSpPr/>
          <p:nvPr/>
        </p:nvSpPr>
        <p:spPr>
          <a:xfrm>
            <a:off x="694444" y="3128070"/>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‫היומן ב-logs\run.log, והסטטוס ב-status.json‬</a:t>
            </a:r>
            <a:endParaRPr lang="en-US" sz="1300" dirty="0"/>
          </a:p>
        </p:txBody>
      </p:sp>
      <p:sp>
        <p:nvSpPr>
          <p:cNvPr id="18" name="Shape 15"/>
          <p:cNvSpPr/>
          <p:nvPr/>
        </p:nvSpPr>
        <p:spPr>
          <a:xfrm>
            <a:off x="11176613" y="3401467"/>
            <a:ext cx="0" cy="248047"/>
          </a:xfrm>
          <a:prstGeom prst="line">
            <a:avLst/>
          </a:prstGeom>
          <a:noFill/>
          <a:ln w="38100">
            <a:solidFill>
              <a:srgbClr val="1F6F6F"/>
            </a:solidFill>
            <a:prstDash val="solid"/>
          </a:ln>
        </p:spPr>
      </p:sp>
      <p:sp>
        <p:nvSpPr>
          <p:cNvPr id="19" name="Text 16"/>
          <p:cNvSpPr/>
          <p:nvPr/>
        </p:nvSpPr>
        <p:spPr>
          <a:xfrm>
            <a:off x="694444" y="3414167"/>
            <a:ext cx="10364983" cy="248047"/>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0F2233"/>
                </a:solidFill>
                <a:latin typeface="Arial" pitchFamily="34" charset="0"/>
                <a:ea typeface="Arial" pitchFamily="34" charset="-122"/>
                <a:cs typeface="Arial" pitchFamily="34" charset="-120"/>
              </a:rPr>
              <a:t>‫תיקון O122 (שינוי שם תיקייה ב-Windows) נבדק בסימולציה בלבד‬</a:t>
            </a:r>
            <a:endParaRPr lang="en-US" sz="1300" dirty="0"/>
          </a:p>
        </p:txBody>
      </p:sp>
      <p:sp>
        <p:nvSpPr>
          <p:cNvPr id="20" name="Text 17"/>
          <p:cNvSpPr/>
          <p:nvPr/>
        </p:nvSpPr>
        <p:spPr>
          <a:xfrm>
            <a:off x="812782" y="3845719"/>
            <a:ext cx="10566436" cy="375047"/>
          </a:xfrm>
          <a:prstGeom prst="roundRect">
            <a:avLst>
              <a:gd name="adj" fmla="val 33862"/>
            </a:avLst>
          </a:prstGeom>
          <a:solidFill>
            <a:srgbClr val="1F6F6F"/>
          </a:solidFill>
          <a:ln/>
        </p:spPr>
        <p:txBody>
          <a:bodyPr wrap="square" lIns="0" tIns="39003" rIns="140603" bIns="13603" rtlCol="0" anchor="t">
            <a:normAutofit/>
          </a:bodyPr>
          <a:lstStyle/>
          <a:p>
            <a:pPr algn="r" indent="0" marL="0">
              <a:lnSpc>
                <a:spcPts val="1755"/>
              </a:lnSpc>
              <a:buNone/>
            </a:pPr>
            <a:r>
              <a:rPr lang="en-US" sz="1300" b="1" dirty="0">
                <a:solidFill>
                  <a:srgbClr val="FFFDF8"/>
                </a:solidFill>
                <a:latin typeface="Arial" pitchFamily="34" charset="0"/>
                <a:ea typeface="Arial" pitchFamily="34" charset="-122"/>
                <a:cs typeface="Arial" pitchFamily="34" charset="-120"/>
              </a:rPr>
              <a:t>‫מתחבר: logs\run.log ו-status.json‬</a:t>
            </a:r>
            <a:endParaRPr lang="en-US" sz="1300" dirty="0"/>
          </a:p>
        </p:txBody>
      </p:sp>
      <p:sp>
        <p:nvSpPr>
          <p:cNvPr id="21" name="Shape 18"/>
          <p:cNvSpPr/>
          <p:nvPr/>
        </p:nvSpPr>
        <p:spPr>
          <a:xfrm>
            <a:off x="812782" y="4322316"/>
            <a:ext cx="10566436" cy="627333"/>
          </a:xfrm>
          <a:prstGeom prst="roundRect">
            <a:avLst>
              <a:gd name="adj" fmla="val 20244"/>
            </a:avLst>
          </a:prstGeom>
          <a:solidFill>
            <a:srgbClr val="0F2233"/>
          </a:solidFill>
          <a:ln/>
        </p:spPr>
      </p:sp>
      <p:sp>
        <p:nvSpPr>
          <p:cNvPr id="22" name="Text 19"/>
          <p:cNvSpPr/>
          <p:nvPr/>
        </p:nvSpPr>
        <p:spPr>
          <a:xfrm>
            <a:off x="684238" y="4411166"/>
            <a:ext cx="10517198"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6FD0C4"/>
                </a:solidFill>
                <a:latin typeface="Arial" pitchFamily="34" charset="0"/>
                <a:ea typeface="Arial" pitchFamily="34" charset="-122"/>
                <a:cs typeface="Arial" pitchFamily="34" charset="-120"/>
              </a:rPr>
              <a:t>‫פקודה‬</a:t>
            </a:r>
            <a:endParaRPr lang="en-US" sz="1200" dirty="0"/>
          </a:p>
        </p:txBody>
      </p:sp>
      <p:sp>
        <p:nvSpPr>
          <p:cNvPr id="23" name="Text 20"/>
          <p:cNvSpPr/>
          <p:nvPr/>
        </p:nvSpPr>
        <p:spPr>
          <a:xfrm>
            <a:off x="684238" y="4647406"/>
            <a:ext cx="10517198"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Courier New" pitchFamily="49" charset="0"/>
                <a:ea typeface="Courier New" pitchFamily="49" charset="-122"/>
                <a:cs typeface="Courier New" pitchFamily="49" charset="-120"/>
              </a:rPr>
              <a:t>Get-Content &lt;experiment&gt;\logs\run.log -Tail 40</a:t>
            </a:r>
            <a:endParaRPr lang="en-US" sz="1200" dirty="0"/>
          </a:p>
        </p:txBody>
      </p:sp>
      <p:sp>
        <p:nvSpPr>
          <p:cNvPr id="24" name="Shape 21"/>
          <p:cNvSpPr/>
          <p:nvPr/>
        </p:nvSpPr>
        <p:spPr>
          <a:xfrm>
            <a:off x="812782" y="5051227"/>
            <a:ext cx="5841098" cy="697057"/>
          </a:xfrm>
          <a:prstGeom prst="roundRect">
            <a:avLst>
              <a:gd name="adj" fmla="val 18219"/>
            </a:avLst>
          </a:prstGeom>
          <a:solidFill>
            <a:srgbClr val="0F2233"/>
          </a:solidFill>
          <a:ln/>
        </p:spPr>
      </p:sp>
      <p:sp>
        <p:nvSpPr>
          <p:cNvPr id="25" name="Text 22"/>
          <p:cNvSpPr/>
          <p:nvPr/>
        </p:nvSpPr>
        <p:spPr>
          <a:xfrm>
            <a:off x="825998" y="5152777"/>
            <a:ext cx="5650100" cy="288239"/>
          </a:xfrm>
          <a:prstGeom prst="rect">
            <a:avLst/>
          </a:prstGeom>
          <a:noFill/>
          <a:ln/>
        </p:spPr>
        <p:txBody>
          <a:bodyPr wrap="square" lIns="0" tIns="0" rIns="0" bIns="0" rtlCol="0" anchor="t">
            <a:normAutofit/>
          </a:bodyPr>
          <a:lstStyle/>
          <a:p>
            <a:pPr algn="r" indent="0" marL="0">
              <a:lnSpc>
                <a:spcPts val="2070"/>
              </a:lnSpc>
              <a:buNone/>
            </a:pPr>
            <a:r>
              <a:rPr lang="en-US" sz="1800" b="1" dirty="0">
                <a:solidFill>
                  <a:srgbClr val="6FD0C4"/>
                </a:solidFill>
                <a:latin typeface="Arial" pitchFamily="34" charset="0"/>
                <a:ea typeface="Arial" pitchFamily="34" charset="-122"/>
                <a:cs typeface="Arial" pitchFamily="34" charset="-120"/>
              </a:rPr>
              <a:t>‫7 קודי יציאה‬</a:t>
            </a:r>
            <a:endParaRPr lang="en-US" sz="1800" dirty="0"/>
          </a:p>
        </p:txBody>
      </p:sp>
      <p:sp>
        <p:nvSpPr>
          <p:cNvPr id="26" name="Text 23"/>
          <p:cNvSpPr/>
          <p:nvPr/>
        </p:nvSpPr>
        <p:spPr>
          <a:xfrm>
            <a:off x="825998" y="5440958"/>
            <a:ext cx="5650100"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C5D3DB"/>
                </a:solidFill>
                <a:latin typeface="Arial" pitchFamily="34" charset="0"/>
                <a:ea typeface="Arial" pitchFamily="34" charset="-122"/>
                <a:cs typeface="Arial" pitchFamily="34" charset="-120"/>
              </a:rPr>
              <a:t>‫מ-0 עד 130‬</a:t>
            </a:r>
            <a:endParaRPr lang="en-US" sz="1200" dirty="0"/>
          </a:p>
        </p:txBody>
      </p:sp>
      <p:sp>
        <p:nvSpPr>
          <p:cNvPr id="27" name="Shape 24"/>
          <p:cNvSpPr/>
          <p:nvPr/>
        </p:nvSpPr>
        <p:spPr>
          <a:xfrm>
            <a:off x="6787230" y="5057577"/>
            <a:ext cx="4585638" cy="684357"/>
          </a:xfrm>
          <a:prstGeom prst="roundRect">
            <a:avLst>
              <a:gd name="adj" fmla="val 17630"/>
            </a:avLst>
          </a:prstGeom>
          <a:solidFill>
            <a:srgbClr val="F6E3D8"/>
          </a:solidFill>
          <a:ln w="12700">
            <a:solidFill>
              <a:srgbClr val="B8481A"/>
            </a:solidFill>
            <a:prstDash val="solid"/>
          </a:ln>
        </p:spPr>
      </p:sp>
      <p:sp>
        <p:nvSpPr>
          <p:cNvPr id="28" name="Text 25"/>
          <p:cNvSpPr/>
          <p:nvPr/>
        </p:nvSpPr>
        <p:spPr>
          <a:xfrm>
            <a:off x="6843617" y="5164336"/>
            <a:ext cx="4346274" cy="223567"/>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81A"/>
                </a:solidFill>
                <a:latin typeface="Arial" pitchFamily="34" charset="0"/>
                <a:ea typeface="Arial" pitchFamily="34" charset="-122"/>
                <a:cs typeface="Arial" pitchFamily="34" charset="-120"/>
              </a:rPr>
              <a:t>‫סטטוס‬</a:t>
            </a:r>
            <a:endParaRPr lang="en-US" sz="1200" dirty="0"/>
          </a:p>
        </p:txBody>
      </p:sp>
      <p:sp>
        <p:nvSpPr>
          <p:cNvPr id="29" name="Text 26"/>
          <p:cNvSpPr/>
          <p:nvPr/>
        </p:nvSpPr>
        <p:spPr>
          <a:xfrm>
            <a:off x="6843617" y="5400526"/>
            <a:ext cx="4346274" cy="231144"/>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0F2233"/>
                </a:solidFill>
                <a:latin typeface="Arial" pitchFamily="34" charset="0"/>
                <a:ea typeface="Arial" pitchFamily="34" charset="-122"/>
                <a:cs typeface="Arial" pitchFamily="34" charset="-120"/>
              </a:rPr>
              <a:t>‫הטבלאות קיימות. רוב התיקונים נבדקו רק בבדיקות יחידה.‬</a:t>
            </a:r>
            <a:endParaRPr lang="en-US" sz="1200" dirty="0"/>
          </a:p>
        </p:txBody>
      </p:sp>
    </p:spTree>
  </p:cSld>
  <p:clrMapOvr>
    <a:masterClrMapping/>
  </p:clrMapOvr>
</p:sld>
</file>

<file path=ppt/theme/theme1.xml><?xml version="1.0" encoding="utf-8"?>
<a:theme xmlns:a="http://schemas.openxmlformats.org/drawingml/2006/main" name="מסעו של נתון בתהליך Fine Tune">
  <a:themeElements>
    <a:clrScheme name="מסעו של נתון בתהליך Fine Tune">
      <a:dk1>
        <a:srgbClr val="0F2233"/>
      </a:dk1>
      <a:lt1>
        <a:srgbClr val="F6F4EE"/>
      </a:lt1>
      <a:dk2>
        <a:srgbClr val="495762"/>
      </a:dk2>
      <a:lt2>
        <a:srgbClr val="DFDFDB"/>
      </a:lt2>
      <a:accent1>
        <a:srgbClr val="1F6F6F"/>
      </a:accent1>
      <a:accent2>
        <a:srgbClr val="6FD0C4"/>
      </a:accent2>
      <a:accent3>
        <a:srgbClr val="B8481A"/>
      </a:accent3>
      <a:accent4>
        <a:srgbClr val="F2A36B"/>
      </a:accent4>
      <a:accent5>
        <a:srgbClr val="46525C"/>
      </a:accent5>
      <a:accent6>
        <a:srgbClr val="C5D3DB"/>
      </a:accent6>
      <a:hlink>
        <a:srgbClr val="0563C1"/>
      </a:hlink>
      <a:folHlink>
        <a:srgbClr val="954F72"/>
      </a:folHlink>
    </a:clrScheme>
    <a:fontScheme name="מסעו של נתון בתהליך Fine Tu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מסעו של נתון בתהליך Fine Tune</dc:title>
  <dc:subject/>
  <dc:creator/>
  <cp:lastModifiedBy/>
  <cp:revision>1</cp:revision>
  <dcterms:created xsi:type="dcterms:W3CDTF">2026-10-24T23:14:22Z</dcterms:created>
  <dcterms:modified xsi:type="dcterms:W3CDTF">2026-10-24T23:14:22Z</dcterms:modified>
</cp:coreProperties>
</file>